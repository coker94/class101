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3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56" r:id="rId12"/>
    <p:sldId id="276" r:id="rId13"/>
    <p:sldId id="275" r:id="rId14"/>
    <p:sldId id="277" r:id="rId15"/>
    <p:sldId id="284" r:id="rId16"/>
    <p:sldId id="285" r:id="rId17"/>
    <p:sldId id="286" r:id="rId18"/>
    <p:sldId id="279" r:id="rId19"/>
    <p:sldId id="287" r:id="rId20"/>
    <p:sldId id="288" r:id="rId21"/>
    <p:sldId id="289" r:id="rId22"/>
    <p:sldId id="290" r:id="rId23"/>
    <p:sldId id="291" r:id="rId24"/>
    <p:sldId id="278" r:id="rId25"/>
    <p:sldId id="280" r:id="rId26"/>
    <p:sldId id="281" r:id="rId27"/>
    <p:sldId id="292" r:id="rId28"/>
    <p:sldId id="294" r:id="rId29"/>
    <p:sldId id="295" r:id="rId30"/>
    <p:sldId id="296" r:id="rId31"/>
    <p:sldId id="257" r:id="rId32"/>
    <p:sldId id="297" r:id="rId33"/>
    <p:sldId id="316" r:id="rId34"/>
    <p:sldId id="317" r:id="rId35"/>
    <p:sldId id="318" r:id="rId36"/>
    <p:sldId id="319" r:id="rId37"/>
    <p:sldId id="320" r:id="rId38"/>
    <p:sldId id="298" r:id="rId39"/>
    <p:sldId id="321" r:id="rId40"/>
    <p:sldId id="325" r:id="rId41"/>
    <p:sldId id="327" r:id="rId42"/>
    <p:sldId id="326" r:id="rId43"/>
    <p:sldId id="328" r:id="rId44"/>
    <p:sldId id="299" r:id="rId45"/>
    <p:sldId id="323" r:id="rId46"/>
    <p:sldId id="329" r:id="rId47"/>
    <p:sldId id="330" r:id="rId48"/>
    <p:sldId id="331" r:id="rId49"/>
    <p:sldId id="332" r:id="rId50"/>
    <p:sldId id="300" r:id="rId51"/>
    <p:sldId id="324" r:id="rId52"/>
    <p:sldId id="333" r:id="rId53"/>
    <p:sldId id="258" r:id="rId54"/>
    <p:sldId id="301" r:id="rId55"/>
    <p:sldId id="334" r:id="rId56"/>
    <p:sldId id="335" r:id="rId57"/>
    <p:sldId id="336" r:id="rId58"/>
    <p:sldId id="302" r:id="rId59"/>
    <p:sldId id="303" r:id="rId60"/>
    <p:sldId id="339" r:id="rId61"/>
    <p:sldId id="304" r:id="rId62"/>
    <p:sldId id="305" r:id="rId63"/>
    <p:sldId id="340" r:id="rId64"/>
    <p:sldId id="341" r:id="rId65"/>
    <p:sldId id="342" r:id="rId66"/>
    <p:sldId id="343" r:id="rId67"/>
    <p:sldId id="344" r:id="rId68"/>
    <p:sldId id="345" r:id="rId69"/>
    <p:sldId id="346" r:id="rId70"/>
    <p:sldId id="306" r:id="rId71"/>
    <p:sldId id="347" r:id="rId72"/>
    <p:sldId id="348" r:id="rId73"/>
    <p:sldId id="349" r:id="rId74"/>
    <p:sldId id="350" r:id="rId75"/>
    <p:sldId id="351" r:id="rId76"/>
    <p:sldId id="352" r:id="rId77"/>
    <p:sldId id="353" r:id="rId78"/>
    <p:sldId id="354" r:id="rId79"/>
    <p:sldId id="355" r:id="rId80"/>
    <p:sldId id="356" r:id="rId81"/>
    <p:sldId id="357" r:id="rId82"/>
    <p:sldId id="259" r:id="rId83"/>
    <p:sldId id="307" r:id="rId84"/>
    <p:sldId id="308" r:id="rId85"/>
    <p:sldId id="359" r:id="rId86"/>
    <p:sldId id="360" r:id="rId87"/>
    <p:sldId id="362" r:id="rId88"/>
    <p:sldId id="361" r:id="rId89"/>
    <p:sldId id="363" r:id="rId90"/>
    <p:sldId id="260" r:id="rId91"/>
    <p:sldId id="309" r:id="rId92"/>
    <p:sldId id="368" r:id="rId93"/>
    <p:sldId id="369" r:id="rId94"/>
    <p:sldId id="370" r:id="rId95"/>
    <p:sldId id="376" r:id="rId96"/>
    <p:sldId id="371" r:id="rId97"/>
    <p:sldId id="372" r:id="rId98"/>
    <p:sldId id="373" r:id="rId99"/>
    <p:sldId id="374" r:id="rId100"/>
    <p:sldId id="375" r:id="rId101"/>
    <p:sldId id="377" r:id="rId102"/>
    <p:sldId id="310" r:id="rId103"/>
    <p:sldId id="379" r:id="rId104"/>
    <p:sldId id="380" r:id="rId105"/>
    <p:sldId id="378" r:id="rId106"/>
    <p:sldId id="381" r:id="rId107"/>
    <p:sldId id="261" r:id="rId108"/>
    <p:sldId id="311" r:id="rId109"/>
    <p:sldId id="382" r:id="rId110"/>
    <p:sldId id="383" r:id="rId111"/>
    <p:sldId id="384" r:id="rId112"/>
    <p:sldId id="385" r:id="rId113"/>
    <p:sldId id="389" r:id="rId114"/>
    <p:sldId id="386" r:id="rId115"/>
    <p:sldId id="388" r:id="rId116"/>
    <p:sldId id="387" r:id="rId117"/>
    <p:sldId id="312" r:id="rId118"/>
    <p:sldId id="393" r:id="rId119"/>
    <p:sldId id="394" r:id="rId120"/>
    <p:sldId id="395" r:id="rId121"/>
    <p:sldId id="313" r:id="rId122"/>
    <p:sldId id="396" r:id="rId123"/>
    <p:sldId id="397" r:id="rId124"/>
    <p:sldId id="398" r:id="rId125"/>
    <p:sldId id="399" r:id="rId126"/>
    <p:sldId id="400" r:id="rId127"/>
    <p:sldId id="401" r:id="rId128"/>
    <p:sldId id="402" r:id="rId129"/>
    <p:sldId id="403" r:id="rId130"/>
    <p:sldId id="314" r:id="rId131"/>
    <p:sldId id="404" r:id="rId132"/>
    <p:sldId id="406" r:id="rId133"/>
    <p:sldId id="405" r:id="rId134"/>
    <p:sldId id="407" r:id="rId135"/>
    <p:sldId id="408" r:id="rId136"/>
    <p:sldId id="411" r:id="rId137"/>
    <p:sldId id="410" r:id="rId138"/>
    <p:sldId id="412" r:id="rId139"/>
    <p:sldId id="416" r:id="rId140"/>
    <p:sldId id="418" r:id="rId141"/>
    <p:sldId id="419" r:id="rId142"/>
    <p:sldId id="417" r:id="rId143"/>
    <p:sldId id="413" r:id="rId144"/>
    <p:sldId id="409" r:id="rId145"/>
    <p:sldId id="414" r:id="rId146"/>
    <p:sldId id="415" r:id="rId147"/>
    <p:sldId id="315" r:id="rId148"/>
    <p:sldId id="420" r:id="rId149"/>
    <p:sldId id="421" r:id="rId150"/>
    <p:sldId id="422" r:id="rId151"/>
    <p:sldId id="423" r:id="rId152"/>
    <p:sldId id="425" r:id="rId153"/>
    <p:sldId id="426" r:id="rId154"/>
    <p:sldId id="427" r:id="rId155"/>
    <p:sldId id="428" r:id="rId156"/>
    <p:sldId id="429" r:id="rId157"/>
    <p:sldId id="430" r:id="rId158"/>
    <p:sldId id="431" r:id="rId159"/>
    <p:sldId id="432" r:id="rId160"/>
    <p:sldId id="433" r:id="rId161"/>
    <p:sldId id="434" r:id="rId162"/>
    <p:sldId id="262" r:id="rId163"/>
    <p:sldId id="435" r:id="rId164"/>
    <p:sldId id="436" r:id="rId165"/>
    <p:sldId id="437" r:id="rId166"/>
    <p:sldId id="438" r:id="rId167"/>
    <p:sldId id="439" r:id="rId168"/>
    <p:sldId id="440" r:id="rId169"/>
    <p:sldId id="264" r:id="rId170"/>
    <p:sldId id="365" r:id="rId171"/>
    <p:sldId id="366" r:id="rId172"/>
    <p:sldId id="390" r:id="rId173"/>
    <p:sldId id="392" r:id="rId174"/>
    <p:sldId id="367" r:id="rId175"/>
    <p:sldId id="391" r:id="rId17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/>
    <p:restoredTop sz="93302"/>
  </p:normalViewPr>
  <p:slideViewPr>
    <p:cSldViewPr snapToGrid="0" snapToObjects="1">
      <p:cViewPr varScale="1">
        <p:scale>
          <a:sx n="103" d="100"/>
          <a:sy n="103" d="100"/>
        </p:scale>
        <p:origin x="960" y="17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presProps" Target="presProps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A994F-A5FC-634B-8430-1F3584803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7E42C4-79A3-FC4A-8317-41760605C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B2AC8-15F6-0B44-92A0-0D871EDB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B36415-D8D2-214C-BAB5-FC61277C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DF02F5-BA82-9944-AEEE-5301E58D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625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A769B-26A5-6B4B-89FC-F96196C8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C303C-2814-9B4B-BECC-EC1672B61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544E8B-76D9-D54B-A9F6-4CC163F4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BB783-E87E-6D4C-9A5E-8E98142B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8C9F19-203E-EC4F-9476-D55528D1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6041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78E45-1B08-BF40-9527-8E20110A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6872AE-EC34-6148-85FC-4299EAEFC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2C9687-E8E5-C341-98F4-98B20FF8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E2EAA-DCD9-A447-8FDC-ED5E13EC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28D2DD-51E8-AD4F-BBE1-CAE647AA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754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91D26-AA26-2740-AB27-0EC13116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279DC-BAE8-2B46-A534-A23017462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2E3BCC-A050-F84C-991D-68A5D1DAE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50E09-CCB7-BA4D-8EC5-E538780A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EB1CAD-A99F-C848-80A8-36B4ACBC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C3CF8F-9351-8D45-8716-0A8B79DA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343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D7FF9-D306-5C46-9133-1085ACBA2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060918-FC69-EF4C-A1EC-4A15F3283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BF8154-05EC-B64A-A180-17206584D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948F98-FAAE-AD41-9966-BE99A3BD1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784A68-3578-A24A-AA89-C26FCF46F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D156F1-8405-664C-BDBF-043381BC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793E05-FDBE-B240-B4EF-9C167C80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5C9AE6-1DEA-7447-8313-157413A5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16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30B0E-76C6-BD44-BB20-8FC832FC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DB46DE-145D-EF46-BD57-1F05B779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D5F343-24F9-4343-99E4-D71B76ADF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C313DB-AD04-4A42-B42A-C7FF28589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66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C96E46-5497-9549-B07C-DEFF0736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ED4CA4-B437-384E-B321-4ECB4E42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46C56E-BCCE-8440-BE2E-24D6A0B8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070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5ABA2-F2E5-9E41-9FBD-1F217C76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88032F-A04B-C541-B78A-1BFD3D6E3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992AF2-82DE-EA4D-B1E4-BBED3886E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D46A99-6BDA-E549-9CA1-21F37CD6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95692B-47B4-5642-B843-2C3CD077D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78993-03DB-C946-97BF-BD105CA6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9252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6A0A0-9C80-724C-840B-7969D7D6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04403D-2E22-8D4A-8CB6-FA535F829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520C1-0944-0241-A7B2-C4EA81056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CCCC7F-CF5C-4D42-83F9-8FFC65DFA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E48958-EDDC-A64D-9610-F47C8F8D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D66A18-E6BD-C543-B709-6017D47F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463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404C3-6DFF-C64E-8EE9-666F0C3F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1B2094-34C2-8949-A6FA-EF51F6BAA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9F87C9-34A6-404A-BA73-0498925F3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3B51A4-0BCB-EC4B-AEB0-1DF5C5DE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A8E55D-8208-2D4F-9128-AC370BEF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5755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FE8EC4-07C5-3241-AB30-3E34108D7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838B11-B24B-1544-8FB9-F5CE5D99D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C290FF-8BA5-5F4B-9228-E13F3DA7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0DF992-F0EF-8847-A65A-8D37ECFC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61D51-CA91-834C-BD41-055FE2A9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134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6AA5F4-F2CC-5D45-9948-DA4FD291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E6A564-60A5-C244-9CC4-3CAF63EE5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6E3DE-8FD9-0846-87EF-598C41C95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1CB1C-EF64-544F-8652-2B76F031E850}" type="datetimeFigureOut">
              <a:rPr kumimoji="1" lang="ko-KR" altLang="en-US" smtClean="0"/>
              <a:t>2025. 7. 7.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B5892-BC2C-5C41-93A3-C3789970E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01BA06-C17D-7D46-B081-E6273C036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4392-9A48-F343-88AB-5E19A69F86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030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NumPy_logo_2020.svg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NumPy_logo_2020.svg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NumPy_logo_2020.svg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NumPy_logo_2020.svg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NumPy_logo_2020.svg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logowik.com/pandas-logo-vector-svg-png-free-download-22087.html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logowik.com/pandas-logo-vector-svg-png-free-download-22087.html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logowik.com/pandas-logo-vector-svg-png-free-download-22087.html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logowik.com/pandas-logo-vector-svg-png-free-download-22087.html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s://seeklogo.com/vector-logo/441844/seaborn" TargetMode="Externa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seeklogo.com/vector-logo/441844/seaborn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seeklogo.com/vector-logo/441844/seaborn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data-scientist_3749629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www.flaticon.com/free-icon/data-analysis_4691497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data-analysis_4691497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confused_1698609" TargetMode="Externa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laticon.com/free-icon/database_7021225" TargetMode="External"/><Relationship Id="rId4" Type="http://schemas.openxmlformats.org/officeDocument/2006/relationships/image" Target="../media/image68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hyperlink" Target="https://cloudpng.com/chatgpt-logo-png" TargetMode="External"/><Relationship Id="rId7" Type="http://schemas.openxmlformats.org/officeDocument/2006/relationships/image" Target="../media/image7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hyperlink" Target="https://en.m.wikipedia.org/wiki/File:Google_Gemini_logo.svg" TargetMode="External"/><Relationship Id="rId9" Type="http://schemas.openxmlformats.org/officeDocument/2006/relationships/hyperlink" Target="https://en.m.wikipedia.org/wiki/File:Claude_AI_logo.svg" TargetMode="Externa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m.wikipedia.org/wiki/File:Scikit_learn_logo_small.svg" TargetMode="Externa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upervised_learning" TargetMode="Externa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1.3/tutorial/machine_learning_map/" TargetMode="External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m.wikipedia.org/wiki/File:Scikit_learn_logo_small.svg" TargetMode="Externa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diversity_4807598" TargetMode="Externa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diversity_4807598" TargetMode="Externa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clustering_9850906" TargetMode="Externa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clustering_9850906" TargetMode="Externa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clustering_9850906" TargetMode="Externa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hyperlink" Target="https://www.flaticon.com/free-icon/classification_10276510" TargetMode="Externa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classification_10276510" TargetMode="Externa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classification_10276510" TargetMode="Externa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data-science/10-decision-trees-are-better-than-1-719406680564" TargetMode="Externa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hyperlink" Target="https://h2o.ai/wiki/confusion-matrix/" TargetMode="External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hyperlink" Target="https://www.flaticon.com/free-icon/regression_7440405" TargetMode="Externa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223699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223699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%E2%80%A6351865104" TargetMode="Externa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%E2%80%A6351865104" TargetMode="Externa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blastchar/telco-customer-churn" TargetMode="Externa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www.flaticon.com/free-icons/data-engineer" TargetMode="Externa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www.flaticon.com/free-icons/data-engineer" TargetMode="External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free-icon/data-scientist_3749629" TargetMode="Externa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5DF775-3069-0648-A3B3-548B43E06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1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0431" y="0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0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06530B-94AD-1447-8024-89D76DF63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8" y="723774"/>
            <a:ext cx="5105654" cy="5105654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141EAA1C-65CF-8543-8362-565AEB3297D4}"/>
              </a:ext>
            </a:extLst>
          </p:cNvPr>
          <p:cNvSpPr txBox="1">
            <a:spLocks/>
          </p:cNvSpPr>
          <p:nvPr/>
        </p:nvSpPr>
        <p:spPr>
          <a:xfrm>
            <a:off x="377952" y="2082801"/>
            <a:ext cx="620572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코커와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함께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데이터 분석이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쉬워집니다</a:t>
            </a:r>
          </a:p>
        </p:txBody>
      </p:sp>
    </p:spTree>
    <p:extLst>
      <p:ext uri="{BB962C8B-B14F-4D97-AF65-F5344CB8AC3E}">
        <p14:creationId xmlns:p14="http://schemas.microsoft.com/office/powerpoint/2010/main" val="321687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60C7D-5732-5944-B68D-91944E72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57861"/>
            <a:ext cx="3075432" cy="1325563"/>
          </a:xfrm>
        </p:spPr>
        <p:txBody>
          <a:bodyPr>
            <a:normAutofit/>
          </a:bodyPr>
          <a:lstStyle/>
          <a:p>
            <a:r>
              <a:rPr kumimoji="1" lang="ko-KR" altLang="en-US" sz="5400" b="1" dirty="0">
                <a:latin typeface="+mj-ea"/>
              </a:rPr>
              <a:t>서영진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D3B6B0D-65A9-6D48-8DC3-88811EDCE6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839714" y="1215199"/>
            <a:ext cx="3791710" cy="505561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387E16-384A-C248-986B-F2161A453F99}"/>
              </a:ext>
            </a:extLst>
          </p:cNvPr>
          <p:cNvSpPr txBox="1"/>
          <p:nvPr/>
        </p:nvSpPr>
        <p:spPr>
          <a:xfrm>
            <a:off x="658813" y="1589714"/>
            <a:ext cx="5511317" cy="1839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[</a:t>
            </a:r>
            <a:r>
              <a:rPr kumimoji="1" lang="ko-KR" altLang="en-US" b="1" dirty="0"/>
              <a:t>학력</a:t>
            </a:r>
            <a:r>
              <a:rPr kumimoji="1" lang="en-US" altLang="ko-KR" b="1" dirty="0"/>
              <a:t>]</a:t>
            </a:r>
          </a:p>
          <a:p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ko-KR" altLang="en-US" dirty="0"/>
              <a:t>웨스턴 </a:t>
            </a:r>
            <a:r>
              <a:rPr kumimoji="1" lang="ko-KR" altLang="en-US" dirty="0" err="1"/>
              <a:t>일리노이</a:t>
            </a:r>
            <a:r>
              <a:rPr kumimoji="1" lang="ko-KR" altLang="en-US" dirty="0"/>
              <a:t> 대학교 </a:t>
            </a:r>
            <a:r>
              <a:rPr kumimoji="1" lang="en-US" altLang="ko-KR" dirty="0"/>
              <a:t>Western Illinois University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(2014- 2018) </a:t>
            </a:r>
          </a:p>
          <a:p>
            <a:pPr>
              <a:lnSpc>
                <a:spcPct val="150000"/>
              </a:lnSpc>
            </a:pPr>
            <a:r>
              <a:rPr kumimoji="1" lang="ko-KR" altLang="en-US" dirty="0"/>
              <a:t>전공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신재생에너지과  </a:t>
            </a:r>
            <a:endParaRPr kumimoji="1"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3BB92-5D61-AE4D-95B2-B27FD9FE5CD0}"/>
              </a:ext>
            </a:extLst>
          </p:cNvPr>
          <p:cNvSpPr txBox="1"/>
          <p:nvPr/>
        </p:nvSpPr>
        <p:spPr>
          <a:xfrm>
            <a:off x="658812" y="3743005"/>
            <a:ext cx="41215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[</a:t>
            </a:r>
            <a:r>
              <a:rPr kumimoji="1" lang="ko-KR" altLang="en-US" b="1" dirty="0"/>
              <a:t>경력</a:t>
            </a:r>
            <a:r>
              <a:rPr kumimoji="1" lang="en-US" altLang="ko-KR" b="1" dirty="0"/>
              <a:t>]</a:t>
            </a:r>
          </a:p>
          <a:p>
            <a:endParaRPr kumimoji="1" lang="en-US" altLang="ko-KR" dirty="0"/>
          </a:p>
          <a:p>
            <a:pPr marL="285750" indent="-285750">
              <a:buFont typeface="시스템 서체 일반체"/>
              <a:buChar char="👉"/>
            </a:pPr>
            <a:r>
              <a:rPr kumimoji="1" lang="ko-KR" altLang="en-US" dirty="0" err="1"/>
              <a:t>코커</a:t>
            </a:r>
            <a:r>
              <a:rPr kumimoji="1" lang="en-US" altLang="ko-KR" dirty="0"/>
              <a:t>_Coker</a:t>
            </a:r>
            <a:r>
              <a:rPr kumimoji="1" lang="ko-KR" altLang="en-US" dirty="0"/>
              <a:t> </a:t>
            </a:r>
            <a:r>
              <a:rPr kumimoji="1" lang="en-US" altLang="ko-KR" dirty="0"/>
              <a:t>(AI&amp;</a:t>
            </a:r>
            <a:r>
              <a:rPr kumimoji="1" lang="ko-KR" altLang="en-US" dirty="0"/>
              <a:t>데이터 교육 채널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85750" indent="-285750">
              <a:buFont typeface="시스템 서체 일반체"/>
              <a:buChar char="👉"/>
            </a:pPr>
            <a:endParaRPr kumimoji="1" lang="en-US" altLang="ko-KR" dirty="0"/>
          </a:p>
          <a:p>
            <a:pPr marL="285750" indent="-285750">
              <a:buFont typeface="시스템 서체 일반체"/>
              <a:buChar char="👉"/>
            </a:pPr>
            <a:r>
              <a:rPr kumimoji="1" lang="en-US" altLang="ko-KR" dirty="0" err="1"/>
              <a:t>WeGO</a:t>
            </a:r>
            <a:r>
              <a:rPr kumimoji="1" lang="en-US" altLang="ko-KR" dirty="0"/>
              <a:t> </a:t>
            </a:r>
            <a:r>
              <a:rPr kumimoji="1" lang="ko-KR" altLang="en-US" dirty="0"/>
              <a:t>세계스마트시티기구 </a:t>
            </a:r>
            <a:endParaRPr kumimoji="1" lang="en-US" altLang="ko-KR" dirty="0"/>
          </a:p>
          <a:p>
            <a:pPr marL="285750" indent="-285750">
              <a:buFont typeface="시스템 서체 일반체"/>
              <a:buChar char="👉"/>
            </a:pPr>
            <a:endParaRPr kumimoji="1" lang="en-US" altLang="ko-KR" dirty="0"/>
          </a:p>
          <a:p>
            <a:pPr marL="285750" indent="-285750">
              <a:buFont typeface="시스템 서체 일반체"/>
              <a:buChar char="👉"/>
            </a:pPr>
            <a:r>
              <a:rPr kumimoji="1" lang="en-US" altLang="ko-KR" dirty="0"/>
              <a:t>Illinois Institute for Rural Affairs</a:t>
            </a:r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7861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B5916-A33B-9B44-96D2-1F90508EE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76857"/>
            <a:ext cx="1135380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시스템 서체 일반체"/>
              <a:buChar char="🧑🏻‍💻"/>
            </a:pPr>
            <a:r>
              <a:rPr kumimoji="1" lang="ko-KR" altLang="en-US" sz="2400" dirty="0"/>
              <a:t> </a:t>
            </a:r>
            <a:r>
              <a:rPr kumimoji="1" lang="en-US" altLang="ko-KR" sz="2400" dirty="0"/>
              <a:t>(</a:t>
            </a:r>
            <a:r>
              <a:rPr kumimoji="1" lang="ko-KR" altLang="en-US" sz="2400" dirty="0"/>
              <a:t>실무자가 알려주는</a:t>
            </a:r>
            <a:r>
              <a:rPr kumimoji="1" lang="en-US" altLang="ko-KR" sz="2400" dirty="0"/>
              <a:t>)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태블로</a:t>
            </a:r>
            <a:r>
              <a:rPr kumimoji="1" lang="ko-KR" altLang="en-US" sz="2400" dirty="0"/>
              <a:t> 완전 정보</a:t>
            </a:r>
            <a:r>
              <a:rPr kumimoji="1" lang="en-US" altLang="ko-KR" sz="2400" dirty="0"/>
              <a:t>!</a:t>
            </a:r>
            <a:r>
              <a:rPr kumimoji="1" lang="ko-KR" altLang="en-US" sz="2400" dirty="0"/>
              <a:t> 데이터 시각화 </a:t>
            </a:r>
            <a:r>
              <a:rPr kumimoji="1" lang="ko-KR" altLang="en-US" sz="2400" dirty="0" err="1"/>
              <a:t>꿀팁</a:t>
            </a:r>
            <a:r>
              <a:rPr kumimoji="1" lang="ko-KR" altLang="en-US" sz="2400" dirty="0"/>
              <a:t> 공개</a:t>
            </a:r>
            <a:r>
              <a:rPr kumimoji="1" lang="en-US" altLang="ko-KR" sz="2400" dirty="0"/>
              <a:t>!</a:t>
            </a:r>
            <a:r>
              <a:rPr kumimoji="1" lang="ko-KR" altLang="en-US" sz="2400" dirty="0"/>
              <a:t> </a:t>
            </a:r>
            <a:r>
              <a:rPr kumimoji="1" lang="en-US" altLang="ko-KR" sz="2400" b="1" dirty="0"/>
              <a:t>(</a:t>
            </a:r>
            <a:r>
              <a:rPr kumimoji="1" lang="ko-KR" altLang="en-US" sz="2400" b="1" dirty="0" err="1"/>
              <a:t>코커</a:t>
            </a:r>
            <a:r>
              <a:rPr kumimoji="1" lang="en-US" altLang="ko-KR" sz="2400" b="1" dirty="0"/>
              <a:t>_Coker)</a:t>
            </a:r>
          </a:p>
          <a:p>
            <a:pPr>
              <a:lnSpc>
                <a:spcPct val="150000"/>
              </a:lnSpc>
              <a:buFont typeface="시스템 서체 일반체"/>
              <a:buChar char="🧑🏻‍💻"/>
            </a:pPr>
            <a:r>
              <a:rPr kumimoji="1" lang="ko-KR" altLang="en-US" sz="2400" dirty="0"/>
              <a:t> 빅데이터 작업 탐색과 데이터 분석 체험 </a:t>
            </a:r>
            <a:r>
              <a:rPr kumimoji="1" lang="en-US" altLang="ko-KR" sz="2400" b="1" dirty="0"/>
              <a:t>(</a:t>
            </a:r>
            <a:r>
              <a:rPr kumimoji="1" lang="ko-KR" altLang="en-US" sz="2400" b="1" dirty="0" err="1"/>
              <a:t>드림캐쳐</a:t>
            </a:r>
            <a:r>
              <a:rPr kumimoji="1" lang="ko-KR" altLang="en-US" sz="2400" b="1" dirty="0"/>
              <a:t> </a:t>
            </a:r>
            <a:r>
              <a:rPr kumimoji="1" lang="ko-KR" altLang="en-US" sz="2400" b="1" dirty="0" err="1"/>
              <a:t>에듀투어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  <a:p>
            <a:pPr>
              <a:lnSpc>
                <a:spcPct val="150000"/>
              </a:lnSpc>
              <a:buFont typeface="시스템 서체 일반체"/>
              <a:buChar char="🧑🏻‍💻"/>
            </a:pPr>
            <a:r>
              <a:rPr kumimoji="1" lang="ko-KR" altLang="en-US" sz="2400" dirty="0"/>
              <a:t> </a:t>
            </a:r>
            <a:r>
              <a:rPr kumimoji="1" lang="en-US" altLang="ko-KR" sz="2400" dirty="0" err="1"/>
              <a:t>PySpark</a:t>
            </a:r>
            <a:r>
              <a:rPr kumimoji="1" lang="ko-KR" altLang="en-US" sz="2400" dirty="0" err="1"/>
              <a:t>를</a:t>
            </a:r>
            <a:r>
              <a:rPr kumimoji="1" lang="ko-KR" altLang="en-US" sz="2400" dirty="0"/>
              <a:t> 활용한 빅데이터 처리 실습 </a:t>
            </a:r>
            <a:r>
              <a:rPr kumimoji="1" lang="en-US" altLang="ko-KR" sz="2400" b="1" dirty="0"/>
              <a:t>(</a:t>
            </a:r>
            <a:r>
              <a:rPr kumimoji="1" lang="ko-KR" altLang="en-US" sz="2400" b="1" dirty="0" err="1"/>
              <a:t>코커</a:t>
            </a:r>
            <a:r>
              <a:rPr kumimoji="1" lang="en-US" altLang="ko-KR" sz="2400" b="1" dirty="0"/>
              <a:t>_Coker)</a:t>
            </a:r>
          </a:p>
          <a:p>
            <a:pPr>
              <a:lnSpc>
                <a:spcPct val="150000"/>
              </a:lnSpc>
              <a:buFont typeface="시스템 서체 일반체"/>
              <a:buChar char="🧑🏻‍💻"/>
            </a:pP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파이썬으로</a:t>
            </a:r>
            <a:r>
              <a:rPr kumimoji="1" lang="ko-KR" altLang="en-US" sz="2400" dirty="0"/>
              <a:t> 기초부터 시작하는 데이터분석 </a:t>
            </a:r>
            <a:r>
              <a:rPr kumimoji="1" lang="en-US" altLang="ko-KR" sz="2400" b="1" dirty="0"/>
              <a:t>(</a:t>
            </a:r>
            <a:r>
              <a:rPr kumimoji="1" lang="ko-KR" altLang="en-US" sz="2400" b="1" dirty="0" err="1"/>
              <a:t>코커</a:t>
            </a:r>
            <a:r>
              <a:rPr kumimoji="1" lang="en-US" altLang="ko-KR" sz="2400" b="1" dirty="0"/>
              <a:t>_Coker)</a:t>
            </a:r>
            <a:r>
              <a:rPr kumimoji="1" lang="ko-KR" altLang="en-US" sz="2400" b="1" dirty="0"/>
              <a:t> 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30754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강의 경력 </a:t>
            </a:r>
          </a:p>
        </p:txBody>
      </p:sp>
    </p:spTree>
    <p:extLst>
      <p:ext uri="{BB962C8B-B14F-4D97-AF65-F5344CB8AC3E}">
        <p14:creationId xmlns:p14="http://schemas.microsoft.com/office/powerpoint/2010/main" val="164504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26BF56-4A84-254C-B44F-814215D0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257" y="666495"/>
            <a:ext cx="9095486" cy="533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6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5DDBF2C-C505-744D-BE04-1DEDE6D4D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16" y="614934"/>
            <a:ext cx="4966272" cy="2793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30EA93C-26CF-8547-B398-CA47932B6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488" y="614934"/>
            <a:ext cx="5002784" cy="28140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74FDAE7-6EA4-764E-B50F-F6ABC62B3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16" y="3429000"/>
            <a:ext cx="4966272" cy="27935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ABBFACC-BF16-DE4C-B6B1-97FB4298A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488" y="3429000"/>
            <a:ext cx="4966272" cy="279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39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58665C2-3B4A-BD49-A780-26875BC8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16" y="614934"/>
            <a:ext cx="5002784" cy="281406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C10CF8-A390-AA4F-9ACC-448A76E48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14934"/>
            <a:ext cx="5002784" cy="28140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22222A-0BC1-214A-9AFB-9DFC8E9FA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216" y="3429000"/>
            <a:ext cx="5002784" cy="28140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043EE7-C153-334B-B340-C22F2D395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002784" cy="281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9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B5916-A33B-9B44-96D2-1F90508EE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76857"/>
            <a:ext cx="1135380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ko-KR" sz="2400" dirty="0"/>
              <a:t>1.</a:t>
            </a:r>
            <a:r>
              <a:rPr kumimoji="1" lang="ko-KR" altLang="en-US" sz="2400" dirty="0"/>
              <a:t> 데이터 분석과 개발 환경 준비 </a:t>
            </a:r>
            <a:endParaRPr kumimoji="1"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ko-KR" sz="2400" dirty="0"/>
              <a:t>2.</a:t>
            </a:r>
            <a:r>
              <a:rPr kumimoji="1" lang="ko-KR" altLang="en-US" sz="2400" dirty="0"/>
              <a:t> </a:t>
            </a:r>
            <a:r>
              <a:rPr kumimoji="1" lang="en-US" altLang="ko-KR" sz="2400" dirty="0" err="1"/>
              <a:t>Numpy</a:t>
            </a:r>
            <a:r>
              <a:rPr kumimoji="1" lang="ko-KR" altLang="en-US" sz="2400" dirty="0"/>
              <a:t> 활용법 </a:t>
            </a:r>
            <a:r>
              <a:rPr kumimoji="1" lang="en-US" altLang="ko-KR" sz="2400" b="1" dirty="0"/>
              <a:t>(</a:t>
            </a:r>
            <a:r>
              <a:rPr kumimoji="1" lang="ko-KR" altLang="en-US" sz="2400" b="1" dirty="0"/>
              <a:t>실습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ko-KR" sz="2400" dirty="0"/>
              <a:t>3.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Pandas</a:t>
            </a:r>
            <a:r>
              <a:rPr kumimoji="1" lang="ko-KR" altLang="en-US" sz="2400" dirty="0"/>
              <a:t> 활용법 </a:t>
            </a:r>
            <a:r>
              <a:rPr kumimoji="1" lang="en-US" altLang="ko-KR" sz="2400" b="1" dirty="0"/>
              <a:t>(</a:t>
            </a:r>
            <a:r>
              <a:rPr kumimoji="1" lang="ko-KR" altLang="en-US" sz="2400" b="1" dirty="0"/>
              <a:t>실습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ko-KR" sz="2400" dirty="0"/>
              <a:t>4.</a:t>
            </a:r>
            <a:r>
              <a:rPr kumimoji="1" lang="ko-KR" altLang="en-US" sz="2400" dirty="0"/>
              <a:t> 데이터 시각화 </a:t>
            </a:r>
            <a:r>
              <a:rPr kumimoji="1" lang="en-US" altLang="ko-KR" sz="2400" b="1" dirty="0"/>
              <a:t>(</a:t>
            </a:r>
            <a:r>
              <a:rPr kumimoji="1" lang="ko-KR" altLang="en-US" sz="2400" b="1" dirty="0"/>
              <a:t>실습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35631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커리큘럼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415279-F39A-3343-A1A5-946AE4B5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224" y="1629728"/>
            <a:ext cx="2913888" cy="291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6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35631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커리큘럼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EC326B1-557D-2A42-A23A-E8F3E03FDAB3}"/>
              </a:ext>
            </a:extLst>
          </p:cNvPr>
          <p:cNvSpPr txBox="1">
            <a:spLocks/>
          </p:cNvSpPr>
          <p:nvPr/>
        </p:nvSpPr>
        <p:spPr>
          <a:xfrm>
            <a:off x="533400" y="163664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kumimoji="1" lang="en-US" altLang="ko-KR" sz="2400" dirty="0"/>
              <a:t>5.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데이터셋</a:t>
            </a:r>
            <a:r>
              <a:rPr kumimoji="1" lang="ko-KR" altLang="en-US" sz="2400" dirty="0"/>
              <a:t> 수집하기 </a:t>
            </a:r>
            <a:r>
              <a:rPr kumimoji="1" lang="en-US" altLang="ko-KR" sz="2400" b="1" dirty="0"/>
              <a:t>(AI </a:t>
            </a:r>
            <a:r>
              <a:rPr kumimoji="1" lang="ko-KR" altLang="en-US" sz="2400" b="1" dirty="0"/>
              <a:t>포함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ko-KR" sz="2400" dirty="0"/>
              <a:t>6.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머신러닝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(Machine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Learning)</a:t>
            </a:r>
            <a:r>
              <a:rPr kumimoji="1" lang="ko-KR" altLang="en-US" sz="2400" dirty="0"/>
              <a:t> 기초 </a:t>
            </a:r>
            <a:r>
              <a:rPr kumimoji="1" lang="en-US" altLang="ko-KR" sz="2400" b="1" dirty="0"/>
              <a:t>(</a:t>
            </a:r>
            <a:r>
              <a:rPr kumimoji="1" lang="ko-KR" altLang="en-US" sz="2400" b="1" dirty="0"/>
              <a:t>실습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ko-KR" sz="2400" dirty="0"/>
              <a:t>7.</a:t>
            </a:r>
            <a:r>
              <a:rPr kumimoji="1" lang="ko-KR" altLang="en-US" sz="2400" dirty="0"/>
              <a:t> 데이터 분석 프로젝트 만들기 </a:t>
            </a:r>
            <a:r>
              <a:rPr kumimoji="1" lang="en-US" altLang="ko-KR" sz="2400" b="1" dirty="0"/>
              <a:t>(AI </a:t>
            </a:r>
            <a:r>
              <a:rPr kumimoji="1" lang="ko-KR" altLang="en-US" sz="2400" b="1" dirty="0"/>
              <a:t>활용 포함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ko-KR" sz="2400" dirty="0"/>
              <a:t>8.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코커</a:t>
            </a:r>
            <a:r>
              <a:rPr kumimoji="1" lang="ko-KR" altLang="en-US" sz="2400" dirty="0"/>
              <a:t> 강의</a:t>
            </a:r>
            <a:r>
              <a:rPr kumimoji="1" lang="en-US" altLang="ko-KR" sz="2400" dirty="0"/>
              <a:t>,</a:t>
            </a:r>
            <a:r>
              <a:rPr kumimoji="1" lang="ko-KR" altLang="en-US" sz="2400" dirty="0"/>
              <a:t> 여기까지 와줘서 고마워요</a:t>
            </a:r>
            <a:r>
              <a:rPr kumimoji="1" lang="en-US" altLang="ko-KR" sz="2400" dirty="0"/>
              <a:t>!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 </a:t>
            </a:r>
            <a:r>
              <a:rPr kumimoji="1" lang="en-US" altLang="ko-KR" sz="2400" b="1" dirty="0"/>
              <a:t>(Ending) </a:t>
            </a:r>
            <a:endParaRPr kumimoji="1" lang="ko-KR" altLang="en-US" sz="2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9B9498-7EEE-F046-AA8F-8EB6E7964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60" y="1636649"/>
            <a:ext cx="2913888" cy="291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8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706530B-94AD-1447-8024-89D76DF63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8" y="723774"/>
            <a:ext cx="5105654" cy="5105654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141EAA1C-65CF-8543-8362-565AEB3297D4}"/>
              </a:ext>
            </a:extLst>
          </p:cNvPr>
          <p:cNvSpPr txBox="1">
            <a:spLocks/>
          </p:cNvSpPr>
          <p:nvPr/>
        </p:nvSpPr>
        <p:spPr>
          <a:xfrm>
            <a:off x="377952" y="1400048"/>
            <a:ext cx="6205726" cy="34157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‘</a:t>
            </a:r>
            <a:r>
              <a:rPr kumimoji="1" lang="ko-KR" altLang="en-US" sz="4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코커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’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채널과 함께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분석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배우러 갈까요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kumimoji="1" lang="ko-KR" altLang="en-US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050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896" y="-111125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CE3AE4-71F5-F844-8D08-F8D0DF866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068" y="1314133"/>
            <a:ext cx="3854398" cy="422973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77952" y="2082801"/>
            <a:ext cx="620572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분석과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개발 환경 준비</a:t>
            </a:r>
          </a:p>
        </p:txBody>
      </p:sp>
    </p:spTree>
    <p:extLst>
      <p:ext uri="{BB962C8B-B14F-4D97-AF65-F5344CB8AC3E}">
        <p14:creationId xmlns:p14="http://schemas.microsoft.com/office/powerpoint/2010/main" val="1424252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29184" y="1838961"/>
            <a:ext cx="11326368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분석이란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개념과 사례 알아보기</a:t>
            </a:r>
          </a:p>
        </p:txBody>
      </p:sp>
    </p:spTree>
    <p:extLst>
      <p:ext uri="{BB962C8B-B14F-4D97-AF65-F5344CB8AC3E}">
        <p14:creationId xmlns:p14="http://schemas.microsoft.com/office/powerpoint/2010/main" val="332836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4E0235-1D6B-7A48-BFC3-CE6099777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734" y="719328"/>
            <a:ext cx="7581208" cy="521208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FF0FAEFE-D6A1-EC46-9618-635D888B66FA}"/>
              </a:ext>
            </a:extLst>
          </p:cNvPr>
          <p:cNvSpPr txBox="1">
            <a:spLocks/>
          </p:cNvSpPr>
          <p:nvPr/>
        </p:nvSpPr>
        <p:spPr>
          <a:xfrm>
            <a:off x="391254" y="1912113"/>
            <a:ext cx="384048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빅데이터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Big Data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188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51DF9C-3A63-B64D-8467-DA344AD2A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33" y="1664546"/>
            <a:ext cx="2689038" cy="26890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74C633-6146-0543-A778-A22753894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311" y="1413220"/>
            <a:ext cx="3219377" cy="294036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9E8711-D112-BF48-BB61-3C75EDC30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972" y="1322619"/>
            <a:ext cx="2926588" cy="33728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F1032D-5F5B-C144-A0D6-7E55F22B330E}"/>
              </a:ext>
            </a:extLst>
          </p:cNvPr>
          <p:cNvSpPr txBox="1"/>
          <p:nvPr/>
        </p:nvSpPr>
        <p:spPr>
          <a:xfrm>
            <a:off x="1170432" y="469551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 err="1"/>
              <a:t>소셜미디어</a:t>
            </a:r>
            <a:endParaRPr kumimoji="1" lang="ko-KR" alt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439ECB-A7CA-A245-8380-07C6F5DB2A95}"/>
              </a:ext>
            </a:extLst>
          </p:cNvPr>
          <p:cNvSpPr txBox="1"/>
          <p:nvPr/>
        </p:nvSpPr>
        <p:spPr>
          <a:xfrm>
            <a:off x="5362465" y="469551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/>
              <a:t>의료정보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A3EECB-AAE5-7C4D-8949-5F7DA14B0122}"/>
              </a:ext>
            </a:extLst>
          </p:cNvPr>
          <p:cNvSpPr txBox="1"/>
          <p:nvPr/>
        </p:nvSpPr>
        <p:spPr>
          <a:xfrm>
            <a:off x="9322148" y="469551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/>
              <a:t>금융</a:t>
            </a:r>
          </a:p>
        </p:txBody>
      </p:sp>
    </p:spTree>
    <p:extLst>
      <p:ext uri="{BB962C8B-B14F-4D97-AF65-F5344CB8AC3E}">
        <p14:creationId xmlns:p14="http://schemas.microsoft.com/office/powerpoint/2010/main" val="1028925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8F1032D-5F5B-C144-A0D6-7E55F22B330E}"/>
              </a:ext>
            </a:extLst>
          </p:cNvPr>
          <p:cNvSpPr txBox="1"/>
          <p:nvPr/>
        </p:nvSpPr>
        <p:spPr>
          <a:xfrm>
            <a:off x="1950011" y="469551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/>
              <a:t>게임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439ECB-A7CA-A245-8380-07C6F5DB2A95}"/>
              </a:ext>
            </a:extLst>
          </p:cNvPr>
          <p:cNvSpPr txBox="1"/>
          <p:nvPr/>
        </p:nvSpPr>
        <p:spPr>
          <a:xfrm>
            <a:off x="5690005" y="469551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 err="1"/>
              <a:t>넷플릭스</a:t>
            </a:r>
            <a:endParaRPr kumimoji="1"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A3EECB-AAE5-7C4D-8949-5F7DA14B0122}"/>
              </a:ext>
            </a:extLst>
          </p:cNvPr>
          <p:cNvSpPr txBox="1"/>
          <p:nvPr/>
        </p:nvSpPr>
        <p:spPr>
          <a:xfrm>
            <a:off x="9526452" y="469551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000" b="1" dirty="0"/>
              <a:t>쇼핑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C8185D-4E2D-F64B-A72E-5F1B55D77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41" y="1994916"/>
            <a:ext cx="4353810" cy="19918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BFA93F-81A3-7E4D-B50B-FD285C7F7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51" y="2596896"/>
            <a:ext cx="3556297" cy="11843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6408974-C2F8-E146-A6C2-E859334E2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1" y="2754980"/>
            <a:ext cx="3316223" cy="102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80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64891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빅데이터 </a:t>
            </a:r>
            <a:r>
              <a:rPr kumimoji="1" lang="en-US" altLang="ko-KR" sz="5400" b="1" dirty="0">
                <a:latin typeface="+mj-ea"/>
              </a:rPr>
              <a:t>3V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EC326B1-557D-2A42-A23A-E8F3E03FDAB3}"/>
              </a:ext>
            </a:extLst>
          </p:cNvPr>
          <p:cNvSpPr txBox="1">
            <a:spLocks/>
          </p:cNvSpPr>
          <p:nvPr/>
        </p:nvSpPr>
        <p:spPr>
          <a:xfrm>
            <a:off x="533400" y="163664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시스템 서체 일반체"/>
              <a:buChar char="👉"/>
            </a:pPr>
            <a:r>
              <a:rPr kumimoji="1" lang="en-US" altLang="ko-KR" sz="2400" b="1" dirty="0"/>
              <a:t>Volume (</a:t>
            </a:r>
            <a:r>
              <a:rPr kumimoji="1" lang="ko-KR" altLang="en-US" sz="2400" b="1" dirty="0"/>
              <a:t>크기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  <a:p>
            <a:pPr>
              <a:lnSpc>
                <a:spcPct val="150000"/>
              </a:lnSpc>
              <a:buFont typeface="시스템 서체 일반체"/>
              <a:buChar char="👉"/>
            </a:pPr>
            <a:r>
              <a:rPr kumimoji="1" lang="en-US" altLang="ko-KR" sz="2400" b="1" dirty="0"/>
              <a:t>Velocity (</a:t>
            </a:r>
            <a:r>
              <a:rPr kumimoji="1" lang="ko-KR" altLang="en-US" sz="2400" b="1" dirty="0"/>
              <a:t>속도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  <a:p>
            <a:pPr>
              <a:lnSpc>
                <a:spcPct val="150000"/>
              </a:lnSpc>
              <a:buFont typeface="시스템 서체 일반체"/>
              <a:buChar char="👉"/>
            </a:pPr>
            <a:r>
              <a:rPr kumimoji="1" lang="en-US" altLang="ko-KR" sz="2400" b="1" dirty="0"/>
              <a:t>Variety (</a:t>
            </a:r>
            <a:r>
              <a:rPr kumimoji="1" lang="ko-KR" altLang="en-US" sz="2400" b="1" dirty="0"/>
              <a:t>다양성</a:t>
            </a:r>
            <a:r>
              <a:rPr kumimoji="1" lang="en-US" altLang="ko-KR" sz="2400" b="1" dirty="0"/>
              <a:t>)</a:t>
            </a:r>
            <a:r>
              <a:rPr kumimoji="1" lang="ko-KR" altLang="en-US" sz="2400" b="1" dirty="0"/>
              <a:t> </a:t>
            </a:r>
            <a:endParaRPr kumimoji="1" lang="en-US" altLang="ko-KR" sz="24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BB967FC-AB7F-B240-83B7-53A3C5620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722" y="1636649"/>
            <a:ext cx="5288132" cy="401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68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CAF4DB-D24B-3E43-A325-3CD72071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64" y="2115346"/>
            <a:ext cx="3984551" cy="1856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4041CB-3B20-BA4F-B1ED-E4E282047C12}"/>
              </a:ext>
            </a:extLst>
          </p:cNvPr>
          <p:cNvSpPr txBox="1"/>
          <p:nvPr/>
        </p:nvSpPr>
        <p:spPr>
          <a:xfrm>
            <a:off x="-949861" y="4268714"/>
            <a:ext cx="701040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b="1" dirty="0"/>
              <a:t>정형 데이터 </a:t>
            </a:r>
            <a:endParaRPr kumimoji="1" lang="en-US" altLang="ko-KR" b="1" dirty="0"/>
          </a:p>
          <a:p>
            <a:pPr algn="ctr">
              <a:lnSpc>
                <a:spcPct val="150000"/>
              </a:lnSpc>
            </a:pPr>
            <a:r>
              <a:rPr kumimoji="1" lang="ko-KR" altLang="en-US" dirty="0"/>
              <a:t>엑셀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SQL</a:t>
            </a:r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ED23A7-75B2-0D44-AFB2-9B31FE00C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295" y="1912630"/>
            <a:ext cx="2552231" cy="21579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39D174-75FB-4F4B-A510-51E02B4649F2}"/>
              </a:ext>
            </a:extLst>
          </p:cNvPr>
          <p:cNvSpPr txBox="1"/>
          <p:nvPr/>
        </p:nvSpPr>
        <p:spPr>
          <a:xfrm>
            <a:off x="3055210" y="4288211"/>
            <a:ext cx="701040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b="1" dirty="0" err="1"/>
              <a:t>반정형</a:t>
            </a:r>
            <a:r>
              <a:rPr kumimoji="1" lang="ko-KR" altLang="en-US" b="1" dirty="0"/>
              <a:t> 데이터 </a:t>
            </a:r>
            <a:endParaRPr kumimoji="1" lang="en-US" altLang="ko-KR" b="1" dirty="0"/>
          </a:p>
          <a:p>
            <a:pPr algn="ctr">
              <a:lnSpc>
                <a:spcPct val="150000"/>
              </a:lnSpc>
            </a:pPr>
            <a:r>
              <a:rPr kumimoji="1" lang="en-US" altLang="ko-KR" dirty="0"/>
              <a:t>JSON</a:t>
            </a:r>
            <a:r>
              <a:rPr kumimoji="1" lang="ko-KR" altLang="en-US" dirty="0"/>
              <a:t> 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XML,</a:t>
            </a:r>
            <a:r>
              <a:rPr kumimoji="1" lang="ko-KR" altLang="en-US" dirty="0"/>
              <a:t> 이메일</a:t>
            </a:r>
            <a:endParaRPr kumimoji="1"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E550CE5-34CF-1042-BD75-B6853DF83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74" y="1529100"/>
            <a:ext cx="2260647" cy="201574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2C268A9-E75F-3B4C-9709-43654AB2E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74" y="2142778"/>
            <a:ext cx="2296227" cy="20157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00730D-CCE3-984C-919D-DB8AC89E2326}"/>
              </a:ext>
            </a:extLst>
          </p:cNvPr>
          <p:cNvSpPr txBox="1"/>
          <p:nvPr/>
        </p:nvSpPr>
        <p:spPr>
          <a:xfrm>
            <a:off x="6426297" y="4288211"/>
            <a:ext cx="701040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b="1" dirty="0"/>
              <a:t>비정형 데이터 </a:t>
            </a:r>
            <a:endParaRPr kumimoji="1" lang="en-US" altLang="ko-KR" b="1" dirty="0"/>
          </a:p>
          <a:p>
            <a:pPr algn="ctr">
              <a:lnSpc>
                <a:spcPct val="150000"/>
              </a:lnSpc>
            </a:pPr>
            <a:r>
              <a:rPr kumimoji="1" lang="ko-KR" altLang="en-US" dirty="0"/>
              <a:t>이미지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비디오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01530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F0FAEFE-D6A1-EC46-9618-635D888B66FA}"/>
              </a:ext>
            </a:extLst>
          </p:cNvPr>
          <p:cNvSpPr txBox="1">
            <a:spLocks/>
          </p:cNvSpPr>
          <p:nvPr/>
        </p:nvSpPr>
        <p:spPr>
          <a:xfrm>
            <a:off x="452214" y="1556512"/>
            <a:ext cx="5034186" cy="3744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분석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Data Analysis</a:t>
            </a:r>
          </a:p>
          <a:p>
            <a:pPr>
              <a:lnSpc>
                <a:spcPct val="150000"/>
              </a:lnSpc>
            </a:pP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1BD752-6FB8-8C4E-8E27-43F7D4C98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80591"/>
            <a:ext cx="4011168" cy="401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6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64891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데이터 분석이란</a:t>
            </a:r>
            <a:r>
              <a:rPr kumimoji="1" lang="en-US" altLang="ko-KR" sz="5400" b="1" dirty="0">
                <a:latin typeface="+mj-ea"/>
              </a:rPr>
              <a:t>?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EC326B1-557D-2A42-A23A-E8F3E03FDAB3}"/>
              </a:ext>
            </a:extLst>
          </p:cNvPr>
          <p:cNvSpPr txBox="1">
            <a:spLocks/>
          </p:cNvSpPr>
          <p:nvPr/>
        </p:nvSpPr>
        <p:spPr>
          <a:xfrm>
            <a:off x="533400" y="163664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b="1" dirty="0"/>
              <a:t>수집한 데이터를 정리하고 이해하여 의미 있는 정보를 도출하는 과정</a:t>
            </a:r>
            <a:r>
              <a:rPr lang="ko-KR" altLang="en-US" sz="2000" dirty="0"/>
              <a:t>입니다</a:t>
            </a:r>
            <a:r>
              <a:rPr lang="en-US" altLang="ko-KR" sz="2000" dirty="0"/>
              <a:t>. </a:t>
            </a:r>
            <a:r>
              <a:rPr lang="ko-KR" altLang="en-US" sz="2000" dirty="0"/>
              <a:t>쉽게 말해</a:t>
            </a:r>
            <a:r>
              <a:rPr lang="en-US" altLang="ko-KR" sz="2000" dirty="0"/>
              <a:t>, </a:t>
            </a:r>
            <a:r>
              <a:rPr lang="ko-KR" altLang="en-US" sz="2000" b="1" dirty="0"/>
              <a:t>숫자와 자료 속에 숨겨진 패턴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인사이트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문제 해결의 실마리를 찾아내는 작업</a:t>
            </a:r>
            <a:r>
              <a:rPr lang="ko-KR" altLang="en-US" sz="2000" dirty="0"/>
              <a:t>입니다</a:t>
            </a:r>
            <a:r>
              <a:rPr lang="en-US" altLang="ko-KR" sz="2000" dirty="0"/>
              <a:t>.</a:t>
            </a:r>
            <a:endParaRPr kumimoji="1" lang="en-US" altLang="ko-KR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5E98B5-8EE1-CD46-8795-E72B6855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0" y="2746756"/>
            <a:ext cx="31750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17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89519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데이터</a:t>
            </a:r>
            <a:r>
              <a:rPr kumimoji="1" lang="en-US" altLang="ko-KR" sz="5400" b="1" dirty="0">
                <a:latin typeface="+mj-ea"/>
              </a:rPr>
              <a:t> </a:t>
            </a:r>
            <a:r>
              <a:rPr kumimoji="1" lang="ko-KR" altLang="en-US" sz="5400" b="1" dirty="0">
                <a:latin typeface="+mj-ea"/>
              </a:rPr>
              <a:t>분석의 주요 단계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DDDD8-70CB-D94B-9C9E-1B34F7C6DA3B}"/>
              </a:ext>
            </a:extLst>
          </p:cNvPr>
          <p:cNvSpPr txBox="1"/>
          <p:nvPr/>
        </p:nvSpPr>
        <p:spPr>
          <a:xfrm>
            <a:off x="658368" y="1764922"/>
            <a:ext cx="9802368" cy="332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b="1" dirty="0"/>
              <a:t>👉 문제 정의</a:t>
            </a:r>
            <a:r>
              <a:rPr lang="en-US" altLang="ko-KR" dirty="0"/>
              <a:t>: </a:t>
            </a:r>
            <a:r>
              <a:rPr lang="ko-KR" altLang="en-US" dirty="0"/>
              <a:t>무엇을 분석할지 명확히 정함</a:t>
            </a:r>
            <a:br>
              <a:rPr lang="ko-KR" altLang="en-US" dirty="0"/>
            </a:br>
            <a:r>
              <a:rPr lang="ko-KR" altLang="en-US" dirty="0"/>
              <a:t>→ 예</a:t>
            </a:r>
            <a:r>
              <a:rPr lang="en-US" altLang="ko-KR" dirty="0"/>
              <a:t>: "</a:t>
            </a:r>
            <a:r>
              <a:rPr lang="ko-KR" altLang="en-US" dirty="0"/>
              <a:t>우리 가게의 매출이 왜 줄었을까</a:t>
            </a:r>
            <a:r>
              <a:rPr lang="en-US" altLang="ko-KR" dirty="0"/>
              <a:t>?"</a:t>
            </a:r>
          </a:p>
          <a:p>
            <a:pPr>
              <a:lnSpc>
                <a:spcPct val="200000"/>
              </a:lnSpc>
            </a:pPr>
            <a:r>
              <a:rPr lang="ko-KR" altLang="en-US" b="1" dirty="0"/>
              <a:t>👉 데이터 수집</a:t>
            </a:r>
            <a:r>
              <a:rPr lang="en-US" altLang="ko-KR" dirty="0"/>
              <a:t>: </a:t>
            </a:r>
            <a:r>
              <a:rPr lang="ko-KR" altLang="en-US" dirty="0"/>
              <a:t>필요한 데이터를 모음</a:t>
            </a:r>
            <a:br>
              <a:rPr lang="ko-KR" altLang="en-US" dirty="0"/>
            </a:br>
            <a:r>
              <a:rPr lang="ko-KR" altLang="en-US" dirty="0"/>
              <a:t>→ 예</a:t>
            </a:r>
            <a:r>
              <a:rPr lang="en-US" altLang="ko-KR" dirty="0"/>
              <a:t>: </a:t>
            </a:r>
            <a:r>
              <a:rPr lang="ko-KR" altLang="en-US" dirty="0"/>
              <a:t>매출 기록</a:t>
            </a:r>
            <a:r>
              <a:rPr lang="en-US" altLang="ko-KR" dirty="0"/>
              <a:t>, </a:t>
            </a:r>
            <a:r>
              <a:rPr lang="ko-KR" altLang="en-US" dirty="0"/>
              <a:t>고객 방문 수</a:t>
            </a:r>
            <a:r>
              <a:rPr lang="en-US" altLang="ko-KR" dirty="0"/>
              <a:t>, </a:t>
            </a:r>
            <a:r>
              <a:rPr lang="ko-KR" altLang="en-US" dirty="0"/>
              <a:t>마케팅 캠페인 기록 등</a:t>
            </a:r>
          </a:p>
          <a:p>
            <a:pPr>
              <a:lnSpc>
                <a:spcPct val="200000"/>
              </a:lnSpc>
            </a:pPr>
            <a:r>
              <a:rPr lang="ko-KR" altLang="en-US" b="1" dirty="0"/>
              <a:t>👉 데이터 전처리</a:t>
            </a:r>
            <a:r>
              <a:rPr lang="en-US" altLang="ko-KR" dirty="0"/>
              <a:t>: </a:t>
            </a:r>
            <a:r>
              <a:rPr lang="ko-KR" altLang="en-US" dirty="0"/>
              <a:t>데이터의 오류를 수정하고 분석하기 쉽게 정리</a:t>
            </a:r>
            <a:br>
              <a:rPr lang="ko-KR" altLang="en-US" dirty="0"/>
            </a:br>
            <a:r>
              <a:rPr lang="ko-KR" altLang="en-US" dirty="0"/>
              <a:t>→ 예</a:t>
            </a:r>
            <a:r>
              <a:rPr lang="en-US" altLang="ko-KR" dirty="0"/>
              <a:t>: </a:t>
            </a:r>
            <a:r>
              <a:rPr lang="ko-KR" altLang="en-US" dirty="0"/>
              <a:t>빠진 값 채우기</a:t>
            </a:r>
            <a:r>
              <a:rPr lang="en-US" altLang="ko-KR" dirty="0"/>
              <a:t>, </a:t>
            </a:r>
            <a:r>
              <a:rPr lang="ko-KR" altLang="en-US" dirty="0"/>
              <a:t>이상치 제거</a:t>
            </a:r>
            <a:r>
              <a:rPr lang="en-US" altLang="ko-KR" dirty="0"/>
              <a:t>, </a:t>
            </a:r>
            <a:r>
              <a:rPr lang="ko-KR" altLang="en-US" dirty="0"/>
              <a:t>형식 통일</a:t>
            </a:r>
          </a:p>
        </p:txBody>
      </p:sp>
    </p:spTree>
    <p:extLst>
      <p:ext uri="{BB962C8B-B14F-4D97-AF65-F5344CB8AC3E}">
        <p14:creationId xmlns:p14="http://schemas.microsoft.com/office/powerpoint/2010/main" val="1077641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89519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데이터</a:t>
            </a:r>
            <a:r>
              <a:rPr kumimoji="1" lang="en-US" altLang="ko-KR" sz="5400" b="1" dirty="0">
                <a:latin typeface="+mj-ea"/>
              </a:rPr>
              <a:t> </a:t>
            </a:r>
            <a:r>
              <a:rPr kumimoji="1" lang="ko-KR" altLang="en-US" sz="5400" b="1" dirty="0">
                <a:latin typeface="+mj-ea"/>
              </a:rPr>
              <a:t>분석의 주요 단계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DDDD8-70CB-D94B-9C9E-1B34F7C6DA3B}"/>
              </a:ext>
            </a:extLst>
          </p:cNvPr>
          <p:cNvSpPr txBox="1"/>
          <p:nvPr/>
        </p:nvSpPr>
        <p:spPr>
          <a:xfrm>
            <a:off x="682752" y="1764922"/>
            <a:ext cx="9802368" cy="332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b="1" dirty="0"/>
              <a:t>👉 탐색적 데이터 분석</a:t>
            </a:r>
            <a:r>
              <a:rPr lang="en-US" altLang="ko-KR" b="1" dirty="0"/>
              <a:t>(</a:t>
            </a:r>
            <a:r>
              <a:rPr lang="en" altLang="ko-KR" b="1" dirty="0"/>
              <a:t>EDA)</a:t>
            </a:r>
            <a:r>
              <a:rPr lang="en" altLang="ko-KR" dirty="0"/>
              <a:t>: </a:t>
            </a:r>
            <a:r>
              <a:rPr lang="ko-KR" altLang="en-US" dirty="0"/>
              <a:t>데이터를 시각화하거나 통계적으로 살펴봄</a:t>
            </a:r>
            <a:br>
              <a:rPr lang="ko-KR" altLang="en-US" dirty="0"/>
            </a:br>
            <a:r>
              <a:rPr lang="ko-KR" altLang="en-US" dirty="0"/>
              <a:t>→ 예</a:t>
            </a:r>
            <a:r>
              <a:rPr lang="en-US" altLang="ko-KR" dirty="0"/>
              <a:t>: </a:t>
            </a:r>
            <a:r>
              <a:rPr lang="ko-KR" altLang="en-US" dirty="0"/>
              <a:t>히스토그램</a:t>
            </a:r>
            <a:r>
              <a:rPr lang="en-US" altLang="ko-KR" dirty="0"/>
              <a:t>, </a:t>
            </a:r>
            <a:r>
              <a:rPr lang="ko-KR" altLang="en-US" dirty="0"/>
              <a:t>상관계수</a:t>
            </a:r>
            <a:r>
              <a:rPr lang="en-US" altLang="ko-KR" dirty="0"/>
              <a:t>, </a:t>
            </a:r>
            <a:r>
              <a:rPr lang="ko-KR" altLang="en-US" dirty="0"/>
              <a:t>평균 등</a:t>
            </a:r>
          </a:p>
          <a:p>
            <a:pPr>
              <a:lnSpc>
                <a:spcPct val="200000"/>
              </a:lnSpc>
            </a:pPr>
            <a:r>
              <a:rPr lang="ko-KR" altLang="en-US" b="1" dirty="0"/>
              <a:t>👉 모델링 및 </a:t>
            </a:r>
            <a:r>
              <a:rPr lang="ko-KR" altLang="en-US" b="1" dirty="0" err="1"/>
              <a:t>인사이트</a:t>
            </a:r>
            <a:r>
              <a:rPr lang="ko-KR" altLang="en-US" b="1" dirty="0"/>
              <a:t> 도출</a:t>
            </a:r>
            <a:r>
              <a:rPr lang="en-US" altLang="ko-KR" dirty="0"/>
              <a:t>: </a:t>
            </a:r>
            <a:r>
              <a:rPr lang="ko-KR" altLang="en-US" dirty="0"/>
              <a:t>데이터로부터 예측 모델을 만들거나 의미 있는 결론 도출</a:t>
            </a:r>
            <a:br>
              <a:rPr lang="ko-KR" altLang="en-US" dirty="0"/>
            </a:br>
            <a:r>
              <a:rPr lang="ko-KR" altLang="en-US" dirty="0"/>
              <a:t>→ 예</a:t>
            </a:r>
            <a:r>
              <a:rPr lang="en-US" altLang="ko-KR" dirty="0"/>
              <a:t>: </a:t>
            </a:r>
            <a:r>
              <a:rPr lang="ko-KR" altLang="en-US" dirty="0"/>
              <a:t>고객 이탈 예측 모델</a:t>
            </a:r>
            <a:r>
              <a:rPr lang="en-US" altLang="ko-KR" dirty="0"/>
              <a:t>, </a:t>
            </a:r>
            <a:r>
              <a:rPr lang="ko-KR" altLang="en-US" dirty="0"/>
              <a:t>매출에 영향을 주는 요인 분석</a:t>
            </a:r>
          </a:p>
          <a:p>
            <a:pPr>
              <a:lnSpc>
                <a:spcPct val="200000"/>
              </a:lnSpc>
            </a:pPr>
            <a:r>
              <a:rPr lang="ko-KR" altLang="en-US" b="1" dirty="0"/>
              <a:t>👉 결과 시각화 및 보고</a:t>
            </a:r>
            <a:r>
              <a:rPr lang="en-US" altLang="ko-KR" dirty="0"/>
              <a:t>: </a:t>
            </a:r>
            <a:r>
              <a:rPr lang="ko-KR" altLang="en-US" dirty="0"/>
              <a:t>분석 내용을 이해하기 쉽게 공유</a:t>
            </a:r>
            <a:br>
              <a:rPr lang="ko-KR" altLang="en-US" dirty="0"/>
            </a:br>
            <a:r>
              <a:rPr lang="ko-KR" altLang="en-US" dirty="0"/>
              <a:t>→ 예</a:t>
            </a:r>
            <a:r>
              <a:rPr lang="en-US" altLang="ko-KR" dirty="0"/>
              <a:t>: 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대시보드</a:t>
            </a:r>
            <a:r>
              <a:rPr lang="en-US" altLang="ko-KR" dirty="0"/>
              <a:t>, </a:t>
            </a:r>
            <a:r>
              <a:rPr lang="ko-KR" altLang="en-US" dirty="0"/>
              <a:t>발표자료 등</a:t>
            </a:r>
          </a:p>
        </p:txBody>
      </p:sp>
    </p:spTree>
    <p:extLst>
      <p:ext uri="{BB962C8B-B14F-4D97-AF65-F5344CB8AC3E}">
        <p14:creationId xmlns:p14="http://schemas.microsoft.com/office/powerpoint/2010/main" val="2807728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데이터 분석이 쓰이는 분야 예시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780288" y="1852136"/>
            <a:ext cx="6096000" cy="277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/>
              <a:t>비즈니스</a:t>
            </a:r>
            <a:r>
              <a:rPr lang="en-US" altLang="ko-KR" dirty="0"/>
              <a:t>: </a:t>
            </a:r>
            <a:r>
              <a:rPr lang="ko-KR" altLang="en-US" dirty="0"/>
              <a:t>매출 분석</a:t>
            </a:r>
            <a:r>
              <a:rPr lang="en-US" altLang="ko-KR" dirty="0"/>
              <a:t>, </a:t>
            </a:r>
            <a:r>
              <a:rPr lang="ko-KR" altLang="en-US" dirty="0"/>
              <a:t>고객 행동 분석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/>
              <a:t>의료</a:t>
            </a:r>
            <a:r>
              <a:rPr lang="en-US" altLang="ko-KR" dirty="0"/>
              <a:t>: </a:t>
            </a:r>
            <a:r>
              <a:rPr lang="ko-KR" altLang="en-US" dirty="0"/>
              <a:t>질병 예측</a:t>
            </a:r>
            <a:r>
              <a:rPr lang="en-US" altLang="ko-KR" dirty="0"/>
              <a:t>, </a:t>
            </a:r>
            <a:r>
              <a:rPr lang="ko-KR" altLang="en-US" dirty="0"/>
              <a:t>환자 데이터 분석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/>
              <a:t>스포츠</a:t>
            </a:r>
            <a:r>
              <a:rPr lang="en-US" altLang="ko-KR" dirty="0"/>
              <a:t>: </a:t>
            </a:r>
            <a:r>
              <a:rPr lang="ko-KR" altLang="en-US" dirty="0"/>
              <a:t>경기력 분석</a:t>
            </a:r>
            <a:r>
              <a:rPr lang="en-US" altLang="ko-KR" dirty="0"/>
              <a:t>, </a:t>
            </a:r>
            <a:r>
              <a:rPr lang="ko-KR" altLang="en-US" dirty="0"/>
              <a:t>전략 수립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/>
              <a:t>교육</a:t>
            </a:r>
            <a:r>
              <a:rPr lang="en-US" altLang="ko-KR" dirty="0"/>
              <a:t>: </a:t>
            </a:r>
            <a:r>
              <a:rPr lang="ko-KR" altLang="en-US" dirty="0"/>
              <a:t>학생 성적 분석</a:t>
            </a:r>
            <a:r>
              <a:rPr lang="en-US" altLang="ko-KR" dirty="0"/>
              <a:t>, </a:t>
            </a:r>
            <a:r>
              <a:rPr lang="ko-KR" altLang="en-US" dirty="0"/>
              <a:t>학습 경향 파악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/>
              <a:t>공공정책</a:t>
            </a:r>
            <a:r>
              <a:rPr lang="en-US" altLang="ko-KR" dirty="0"/>
              <a:t>: </a:t>
            </a:r>
            <a:r>
              <a:rPr lang="ko-KR" altLang="en-US" dirty="0"/>
              <a:t>교통량 분석</a:t>
            </a:r>
            <a:r>
              <a:rPr lang="en-US" altLang="ko-KR" dirty="0"/>
              <a:t>, </a:t>
            </a:r>
            <a:r>
              <a:rPr lang="ko-KR" altLang="en-US" dirty="0" err="1"/>
              <a:t>범죄율</a:t>
            </a:r>
            <a:r>
              <a:rPr lang="ko-KR" altLang="en-US" dirty="0"/>
              <a:t> 예측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A06B3D-CF69-124E-9002-E985679E8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636" y="1612900"/>
            <a:ext cx="31750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418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도구 예시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4FBC6-2B1D-B94F-B47F-87C493F300DA}"/>
              </a:ext>
            </a:extLst>
          </p:cNvPr>
          <p:cNvSpPr txBox="1"/>
          <p:nvPr/>
        </p:nvSpPr>
        <p:spPr>
          <a:xfrm>
            <a:off x="643636" y="1929676"/>
            <a:ext cx="6096000" cy="222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b="1" dirty="0"/>
              <a:t>Excel</a:t>
            </a:r>
            <a:r>
              <a:rPr lang="en" altLang="ko-KR" dirty="0"/>
              <a:t>: </a:t>
            </a:r>
            <a:r>
              <a:rPr lang="ko-KR" altLang="en-US" dirty="0"/>
              <a:t>기초 통계</a:t>
            </a:r>
            <a:r>
              <a:rPr lang="en-US" altLang="ko-KR" dirty="0"/>
              <a:t>, </a:t>
            </a:r>
            <a:r>
              <a:rPr lang="ko-KR" altLang="en-US" dirty="0" err="1"/>
              <a:t>피벗테이블</a:t>
            </a:r>
            <a:endParaRPr lang="ko-KR" altLang="en-US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b="1" dirty="0"/>
              <a:t>Python / R</a:t>
            </a:r>
            <a:r>
              <a:rPr lang="en" altLang="ko-KR" dirty="0"/>
              <a:t>: </a:t>
            </a:r>
            <a:r>
              <a:rPr lang="ko-KR" altLang="en-US" dirty="0"/>
              <a:t>고급 분석</a:t>
            </a:r>
            <a:r>
              <a:rPr lang="en-US" altLang="ko-KR" dirty="0"/>
              <a:t>, </a:t>
            </a:r>
            <a:r>
              <a:rPr lang="ko-KR" altLang="en-US" dirty="0" err="1"/>
              <a:t>머신러닝</a:t>
            </a:r>
            <a:endParaRPr lang="ko-KR" altLang="en-US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b="1" dirty="0"/>
              <a:t>SQL</a:t>
            </a:r>
            <a:r>
              <a:rPr lang="en" altLang="ko-KR" dirty="0"/>
              <a:t>: </a:t>
            </a:r>
            <a:r>
              <a:rPr lang="ko-KR" altLang="en-US" dirty="0"/>
              <a:t>데이터 추출 및 관리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b="1" dirty="0"/>
              <a:t>Tableau / Power BI</a:t>
            </a:r>
            <a:r>
              <a:rPr lang="en" altLang="ko-KR" dirty="0"/>
              <a:t>: </a:t>
            </a:r>
            <a:r>
              <a:rPr lang="ko-KR" altLang="en-US" dirty="0"/>
              <a:t>시각화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D4155E-9B36-904F-AF00-73339AEDC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39756"/>
            <a:ext cx="2160524" cy="23709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AFC593A-656C-8D44-ACF3-01190C15A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707" y="1794760"/>
            <a:ext cx="4126413" cy="874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8F5549-A97A-5F41-81E8-6A1817B1D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468" y="2809963"/>
            <a:ext cx="2187956" cy="218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59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파이썬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&amp;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아나콘다 설치 가이드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359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64891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파이썬</a:t>
            </a:r>
            <a:r>
              <a:rPr kumimoji="1" lang="ko-KR" altLang="en-US" sz="5400" b="1" dirty="0">
                <a:latin typeface="+mj-ea"/>
              </a:rPr>
              <a:t> </a:t>
            </a:r>
            <a:r>
              <a:rPr kumimoji="1" lang="en-US" altLang="ko-KR" sz="5400" b="1" dirty="0">
                <a:latin typeface="+mj-ea"/>
              </a:rPr>
              <a:t>Python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EC326B1-557D-2A42-A23A-E8F3E03FDAB3}"/>
              </a:ext>
            </a:extLst>
          </p:cNvPr>
          <p:cNvSpPr txBox="1">
            <a:spLocks/>
          </p:cNvSpPr>
          <p:nvPr/>
        </p:nvSpPr>
        <p:spPr>
          <a:xfrm>
            <a:off x="533400" y="163664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 err="1"/>
              <a:t>파이썬</a:t>
            </a:r>
            <a:r>
              <a:rPr lang="en-US" altLang="ko-KR" sz="1800" dirty="0"/>
              <a:t>(</a:t>
            </a:r>
            <a:r>
              <a:rPr lang="en" altLang="ko-KR" sz="1800" dirty="0"/>
              <a:t>Python)</a:t>
            </a:r>
            <a:r>
              <a:rPr lang="ko-KR" altLang="en-US" sz="1800" dirty="0"/>
              <a:t>은 사람들이 </a:t>
            </a:r>
            <a:r>
              <a:rPr lang="ko-KR" altLang="en-US" sz="1800" b="1" dirty="0"/>
              <a:t>쉽고 빠르게 프로그래밍</a:t>
            </a:r>
            <a:r>
              <a:rPr lang="ko-KR" altLang="en-US" sz="1800" dirty="0"/>
              <a:t>할 수 있도록 만든 </a:t>
            </a:r>
            <a:r>
              <a:rPr lang="ko-KR" altLang="en-US" sz="1800" b="1" dirty="0"/>
              <a:t>고급 프로그래밍 언어</a:t>
            </a:r>
            <a:r>
              <a:rPr lang="ko-KR" altLang="en-US" sz="1800" dirty="0"/>
              <a:t>입니다</a:t>
            </a:r>
            <a:r>
              <a:rPr lang="en-US" altLang="ko-KR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en-US" altLang="ko-KR" sz="1800" b="1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/>
              <a:t>문법이 간단하고 읽기 쉬움 </a:t>
            </a:r>
            <a:r>
              <a:rPr kumimoji="1" lang="en-US" altLang="ko-KR" sz="1600" dirty="0"/>
              <a:t>(</a:t>
            </a:r>
            <a:r>
              <a:rPr kumimoji="1" lang="ko-KR" altLang="en-US" sz="1600" dirty="0"/>
              <a:t>예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print (“Hello Python”</a:t>
            </a:r>
            <a:r>
              <a:rPr kumimoji="1" lang="en-US" altLang="ko-KR" sz="1600" dirty="0">
                <a:sym typeface="Wingdings" pitchFamily="2" charset="2"/>
              </a:rPr>
              <a:t>)) </a:t>
            </a:r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>
                <a:sym typeface="Wingdings" pitchFamily="2" charset="2"/>
              </a:rPr>
              <a:t>다양한 분야에서 사용 가능 </a:t>
            </a:r>
            <a:r>
              <a:rPr kumimoji="1" lang="en-US" altLang="ko-KR" sz="1600" dirty="0">
                <a:sym typeface="Wingdings" pitchFamily="2" charset="2"/>
              </a:rPr>
              <a:t>(</a:t>
            </a:r>
            <a:r>
              <a:rPr kumimoji="1" lang="ko-KR" altLang="en-US" sz="1600" dirty="0" err="1">
                <a:sym typeface="Wingdings" pitchFamily="2" charset="2"/>
              </a:rPr>
              <a:t>웹개발</a:t>
            </a:r>
            <a:r>
              <a:rPr kumimoji="1" lang="en-US" altLang="ko-KR" sz="1600" dirty="0">
                <a:sym typeface="Wingdings" pitchFamily="2" charset="2"/>
              </a:rPr>
              <a:t>,</a:t>
            </a:r>
            <a:r>
              <a:rPr kumimoji="1" lang="ko-KR" altLang="en-US" sz="1600" dirty="0">
                <a:sym typeface="Wingdings" pitchFamily="2" charset="2"/>
              </a:rPr>
              <a:t> 데이터분석</a:t>
            </a:r>
            <a:r>
              <a:rPr kumimoji="1" lang="en-US" altLang="ko-KR" sz="1600" dirty="0">
                <a:sym typeface="Wingdings" pitchFamily="2" charset="2"/>
              </a:rPr>
              <a:t>,</a:t>
            </a:r>
            <a:r>
              <a:rPr kumimoji="1" lang="ko-KR" altLang="en-US" sz="1600" dirty="0">
                <a:sym typeface="Wingdings" pitchFamily="2" charset="2"/>
              </a:rPr>
              <a:t> 인공지능</a:t>
            </a:r>
            <a:r>
              <a:rPr kumimoji="1" lang="en-US" altLang="ko-KR" sz="1600" dirty="0">
                <a:sym typeface="Wingdings" pitchFamily="2" charset="2"/>
              </a:rPr>
              <a:t>,</a:t>
            </a:r>
            <a:r>
              <a:rPr kumimoji="1" lang="ko-KR" altLang="en-US" sz="1600" dirty="0">
                <a:sym typeface="Wingdings" pitchFamily="2" charset="2"/>
              </a:rPr>
              <a:t> 게임 제작</a:t>
            </a:r>
            <a:r>
              <a:rPr kumimoji="1" lang="en-US" altLang="ko-KR" sz="1600" dirty="0">
                <a:sym typeface="Wingdings" pitchFamily="2" charset="2"/>
              </a:rPr>
              <a:t>)</a:t>
            </a:r>
            <a:r>
              <a:rPr kumimoji="1" lang="ko-KR" altLang="en-US" sz="1600" dirty="0">
                <a:sym typeface="Wingdings" pitchFamily="2" charset="2"/>
              </a:rPr>
              <a:t> </a:t>
            </a:r>
            <a:endParaRPr kumimoji="1" lang="en-US" altLang="ko-KR" sz="1600" dirty="0">
              <a:sym typeface="Wingdings" pitchFamily="2" charset="2"/>
            </a:endParaRPr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>
                <a:sym typeface="Wingdings" pitchFamily="2" charset="2"/>
              </a:rPr>
              <a:t>풍부한 라이브러리 </a:t>
            </a:r>
            <a:endParaRPr kumimoji="1" lang="en-US" altLang="ko-KR" sz="1600" dirty="0">
              <a:sym typeface="Wingdings" pitchFamily="2" charset="2"/>
            </a:endParaRPr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>
                <a:sym typeface="Wingdings" pitchFamily="2" charset="2"/>
              </a:rPr>
              <a:t>인터프리터 언어 </a:t>
            </a:r>
            <a:endParaRPr kumimoji="1"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EB3BD81-C5D5-6341-9DD1-8CFE67866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824" y="2722764"/>
            <a:ext cx="2160524" cy="237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13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64891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아나콘다 </a:t>
            </a:r>
            <a:r>
              <a:rPr kumimoji="1" lang="en-US" altLang="ko-KR" sz="5400" b="1" dirty="0">
                <a:latin typeface="+mj-ea"/>
              </a:rPr>
              <a:t>Anaconda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88F86A2-DB8A-FE49-A78B-83C5AB8918E0}"/>
              </a:ext>
            </a:extLst>
          </p:cNvPr>
          <p:cNvSpPr txBox="1">
            <a:spLocks/>
          </p:cNvSpPr>
          <p:nvPr/>
        </p:nvSpPr>
        <p:spPr>
          <a:xfrm>
            <a:off x="533400" y="1636649"/>
            <a:ext cx="115732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아나콘다 </a:t>
            </a:r>
            <a:r>
              <a:rPr lang="en-US" altLang="ko-KR" sz="1800" dirty="0"/>
              <a:t>(Anaconda)</a:t>
            </a:r>
            <a:r>
              <a:rPr lang="ko-KR" altLang="en-US" sz="1800" dirty="0"/>
              <a:t>는 데이터 과학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ko-KR" altLang="en-US" sz="1800" dirty="0" err="1"/>
              <a:t>머신러닝</a:t>
            </a:r>
            <a:r>
              <a:rPr lang="en-US" altLang="ko-KR" sz="1800" dirty="0"/>
              <a:t>,</a:t>
            </a:r>
            <a:r>
              <a:rPr lang="ko-KR" altLang="en-US" sz="1800" dirty="0"/>
              <a:t> 인공지능을 등을 하기 위한 필수 도구 모음입니다</a:t>
            </a:r>
            <a:r>
              <a:rPr lang="en-US" altLang="ko-KR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en-US" altLang="ko-KR" sz="1800" b="1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 err="1"/>
              <a:t>파이썬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기본 프로그래밍 언어 </a:t>
            </a:r>
            <a:endParaRPr kumimoji="1" lang="en-US" altLang="ko-KR" sz="16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/>
              <a:t>주피터 노트북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코드 </a:t>
            </a:r>
            <a:r>
              <a:rPr kumimoji="1" lang="en-US" altLang="ko-KR" sz="1600" dirty="0"/>
              <a:t>+</a:t>
            </a:r>
            <a:r>
              <a:rPr kumimoji="1" lang="ko-KR" altLang="en-US" sz="1600" dirty="0"/>
              <a:t> 설명 </a:t>
            </a:r>
            <a:r>
              <a:rPr kumimoji="1" lang="en-US" altLang="ko-KR" sz="1600" dirty="0"/>
              <a:t>+</a:t>
            </a:r>
            <a:r>
              <a:rPr kumimoji="1" lang="ko-KR" altLang="en-US" sz="1600" dirty="0"/>
              <a:t> 그래프를 한 화면에서</a:t>
            </a:r>
            <a:r>
              <a:rPr kumimoji="1" lang="en-US" altLang="ko-KR" sz="1600" dirty="0"/>
              <a:t>!</a:t>
            </a:r>
            <a:r>
              <a:rPr kumimoji="1" lang="ko-KR" altLang="en-US" sz="1600" dirty="0"/>
              <a:t> </a:t>
            </a:r>
            <a:endParaRPr kumimoji="1" lang="en-US" altLang="ko-KR" sz="16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 err="1"/>
              <a:t>스파이더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</a:t>
            </a:r>
            <a:r>
              <a:rPr kumimoji="1" lang="ko-KR" altLang="en-US" sz="1600" dirty="0" err="1"/>
              <a:t>파이썬</a:t>
            </a:r>
            <a:r>
              <a:rPr kumimoji="1" lang="ko-KR" altLang="en-US" sz="1600" dirty="0"/>
              <a:t> 전용 개발 환경 </a:t>
            </a:r>
            <a:r>
              <a:rPr kumimoji="1" lang="en-US" altLang="ko-KR" sz="1600" dirty="0"/>
              <a:t>(IDE) </a:t>
            </a:r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en-US" altLang="ko-KR" sz="1600" dirty="0" err="1"/>
              <a:t>Conda</a:t>
            </a:r>
            <a:r>
              <a:rPr kumimoji="1" lang="en-US" altLang="ko-KR" sz="1600" dirty="0"/>
              <a:t> : </a:t>
            </a:r>
            <a:r>
              <a:rPr kumimoji="1" lang="ko-KR" altLang="en-US" sz="1600" dirty="0"/>
              <a:t>가상 환경 및 패키지 관리 도구 </a:t>
            </a:r>
            <a:endParaRPr kumimoji="1" lang="en-US" altLang="ko-KR" sz="16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/>
              <a:t>수많은 라이브러리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 </a:t>
            </a:r>
            <a:r>
              <a:rPr kumimoji="1" lang="en-US" altLang="ko-KR" sz="1600" dirty="0" err="1"/>
              <a:t>numpy</a:t>
            </a:r>
            <a:r>
              <a:rPr kumimoji="1" lang="ko-KR" altLang="en-US" sz="1600" dirty="0"/>
              <a:t> </a:t>
            </a:r>
            <a:r>
              <a:rPr kumimoji="1" lang="en-US" altLang="ko-KR" sz="1600" dirty="0"/>
              <a:t>, pandas, matplotlib, scikit-learn </a:t>
            </a:r>
          </a:p>
        </p:txBody>
      </p:sp>
    </p:spTree>
    <p:extLst>
      <p:ext uri="{BB962C8B-B14F-4D97-AF65-F5344CB8AC3E}">
        <p14:creationId xmlns:p14="http://schemas.microsoft.com/office/powerpoint/2010/main" val="2036442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주피터랩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활용법  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5333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64891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주피터랩</a:t>
            </a:r>
            <a:r>
              <a:rPr kumimoji="1" lang="ko-KR" altLang="en-US" sz="5400" b="1" dirty="0">
                <a:latin typeface="+mj-ea"/>
              </a:rPr>
              <a:t> </a:t>
            </a:r>
            <a:r>
              <a:rPr kumimoji="1" lang="en-US" altLang="ko-KR" sz="5400" b="1" dirty="0" err="1">
                <a:latin typeface="+mj-ea"/>
              </a:rPr>
              <a:t>JupyterLab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EC326B1-557D-2A42-A23A-E8F3E03FDAB3}"/>
              </a:ext>
            </a:extLst>
          </p:cNvPr>
          <p:cNvSpPr txBox="1">
            <a:spLocks/>
          </p:cNvSpPr>
          <p:nvPr/>
        </p:nvSpPr>
        <p:spPr>
          <a:xfrm>
            <a:off x="533400" y="1636649"/>
            <a:ext cx="113538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kumimoji="1" lang="ko-KR" altLang="en-US" sz="1800" dirty="0"/>
              <a:t>코드도 짜고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결과도 바로 보고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문서도 함께 정리할 수 있는 편리한 도구입니다</a:t>
            </a:r>
            <a:r>
              <a:rPr kumimoji="1" lang="en-US" altLang="ko-KR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kumimoji="1" lang="en-US" altLang="ko-KR" sz="12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/>
              <a:t>다중 탭 </a:t>
            </a:r>
            <a:r>
              <a:rPr kumimoji="1" lang="en-US" altLang="ko-KR" sz="1600" dirty="0"/>
              <a:t>&amp;</a:t>
            </a:r>
            <a:r>
              <a:rPr kumimoji="1" lang="ko-KR" altLang="en-US" sz="1600" dirty="0"/>
              <a:t> 창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</a:t>
            </a:r>
            <a:r>
              <a:rPr lang="ko-KR" altLang="en-US" sz="1600" dirty="0"/>
              <a:t>여러 노트북</a:t>
            </a:r>
            <a:r>
              <a:rPr lang="en-US" altLang="ko-KR" sz="1600" dirty="0"/>
              <a:t>, </a:t>
            </a:r>
            <a:r>
              <a:rPr lang="ko-KR" altLang="en-US" sz="1600" dirty="0"/>
              <a:t>텍스트 파일</a:t>
            </a:r>
            <a:r>
              <a:rPr lang="en-US" altLang="ko-KR" sz="1600" dirty="0"/>
              <a:t>, </a:t>
            </a:r>
            <a:r>
              <a:rPr lang="ko-KR" altLang="en-US" sz="1600" dirty="0"/>
              <a:t>터미널 등을 동시에 열 수 있음</a:t>
            </a:r>
            <a:endParaRPr lang="en-US" altLang="ko-KR" sz="16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/>
              <a:t>코드 실행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 </a:t>
            </a:r>
            <a:r>
              <a:rPr lang="en" altLang="ko-KR" sz="1600" dirty="0"/>
              <a:t>Python, R, Julia </a:t>
            </a:r>
            <a:r>
              <a:rPr lang="ko-KR" altLang="en-US" sz="1600" dirty="0"/>
              <a:t>등 다양한 언어의 코드를 셀 단위로 실행 가능</a:t>
            </a:r>
            <a:endParaRPr lang="en-US" altLang="ko-KR" sz="16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/>
              <a:t>시각화 지원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</a:t>
            </a:r>
            <a:r>
              <a:rPr lang="ko-KR" altLang="en-US" sz="1600" dirty="0"/>
              <a:t>그래프나 표 같은 결과를 바로 시각적으로 확인 가능</a:t>
            </a:r>
            <a:endParaRPr lang="en-US" altLang="ko-KR" sz="16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kumimoji="1" lang="ko-KR" altLang="en-US" sz="1600" dirty="0"/>
              <a:t>파일 브라우저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</a:t>
            </a:r>
            <a:r>
              <a:rPr lang="ko-KR" altLang="en-US" sz="1600" dirty="0"/>
              <a:t>디렉토리와 파일을 왼쪽에서 쉽게 탐색 가능</a:t>
            </a:r>
            <a:endParaRPr lang="en-US" altLang="ko-KR" sz="16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sz="1600" dirty="0"/>
              <a:t>Markdown </a:t>
            </a:r>
            <a:r>
              <a:rPr lang="ko-KR" altLang="en-US" sz="1600" dirty="0"/>
              <a:t>지원 </a:t>
            </a:r>
            <a:r>
              <a:rPr lang="en-US" altLang="ko-KR" sz="1600" dirty="0"/>
              <a:t>:</a:t>
            </a:r>
            <a:r>
              <a:rPr lang="ko-KR" altLang="en-US" sz="1600" dirty="0"/>
              <a:t> 문서 작성처럼 설명을 예쁘게 정리 가능</a:t>
            </a:r>
            <a:endParaRPr lang="en-US" altLang="ko-KR" sz="1600" dirty="0"/>
          </a:p>
          <a:p>
            <a:pPr lvl="1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1600" dirty="0"/>
              <a:t>터미널 통합 </a:t>
            </a:r>
            <a:r>
              <a:rPr lang="en-US" altLang="ko-KR" sz="1600" dirty="0"/>
              <a:t>:</a:t>
            </a:r>
            <a:r>
              <a:rPr lang="ko-KR" altLang="en-US" sz="1600" dirty="0"/>
              <a:t> 터미널도 같이 열어서 명령어 입력 가능</a:t>
            </a:r>
            <a:endParaRPr kumimoji="1" lang="en-US" altLang="ko-KR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8D00A02-AB0B-3740-B430-D26C0E4E7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829" y="3429000"/>
            <a:ext cx="3828372" cy="191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0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854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Jupyter</a:t>
            </a:r>
            <a:r>
              <a:rPr kumimoji="1" lang="en-US" altLang="ko-KR" sz="5400" b="1" dirty="0">
                <a:latin typeface="+mj-ea"/>
              </a:rPr>
              <a:t> Notebook</a:t>
            </a:r>
            <a:r>
              <a:rPr kumimoji="1" lang="ko-KR" altLang="en-US" sz="5400" b="1" dirty="0">
                <a:latin typeface="+mj-ea"/>
              </a:rPr>
              <a:t>과의 차이점 </a:t>
            </a: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1D1E47BE-7041-4648-82AA-9D8486B00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066125"/>
              </p:ext>
            </p:extLst>
          </p:nvPr>
        </p:nvGraphicFramePr>
        <p:xfrm>
          <a:off x="1091184" y="1999488"/>
          <a:ext cx="10009632" cy="376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4672">
                  <a:extLst>
                    <a:ext uri="{9D8B030D-6E8A-4147-A177-3AD203B41FA5}">
                      <a16:colId xmlns:a16="http://schemas.microsoft.com/office/drawing/2014/main" val="3948815834"/>
                    </a:ext>
                  </a:extLst>
                </a:gridCol>
                <a:gridCol w="3332480">
                  <a:extLst>
                    <a:ext uri="{9D8B030D-6E8A-4147-A177-3AD203B41FA5}">
                      <a16:colId xmlns:a16="http://schemas.microsoft.com/office/drawing/2014/main" val="1786670200"/>
                    </a:ext>
                  </a:extLst>
                </a:gridCol>
                <a:gridCol w="3332480">
                  <a:extLst>
                    <a:ext uri="{9D8B030D-6E8A-4147-A177-3AD203B41FA5}">
                      <a16:colId xmlns:a16="http://schemas.microsoft.com/office/drawing/2014/main" val="3325415721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구분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Jupyter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Notebook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JupyterLab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415614"/>
                  </a:ext>
                </a:extLst>
              </a:tr>
              <a:tr h="999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인터페이스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탭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드래그 가능한 다중 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568445"/>
                  </a:ext>
                </a:extLst>
              </a:tr>
              <a:tr h="999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 확장성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제한적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플러그인으로 다양한 기능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확장 가능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5397"/>
                  </a:ext>
                </a:extLst>
              </a:tr>
              <a:tr h="999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사용자 경험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기본적인 </a:t>
                      </a:r>
                      <a:r>
                        <a:rPr lang="ko-KR" altLang="en-US"/>
                        <a:t>노트북 기능 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통합 개발 환경에 가까움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826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536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6166B81-D238-9548-952A-0660D2416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13" y="1328928"/>
            <a:ext cx="6278559" cy="361492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597A2E2-60C5-A641-9DA8-A33FE33D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867" y="1328928"/>
            <a:ext cx="4599973" cy="3614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A49960-0DB5-C745-838C-EA755B859CFD}"/>
              </a:ext>
            </a:extLst>
          </p:cNvPr>
          <p:cNvSpPr txBox="1"/>
          <p:nvPr/>
        </p:nvSpPr>
        <p:spPr>
          <a:xfrm>
            <a:off x="2631458" y="5036887"/>
            <a:ext cx="1458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 err="1"/>
              <a:t>Jupyterlab</a:t>
            </a:r>
            <a:endParaRPr kumimoji="1" lang="ko-KR" alt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04367-6AAA-0E4D-9866-C390D98160A3}"/>
              </a:ext>
            </a:extLst>
          </p:cNvPr>
          <p:cNvSpPr txBox="1"/>
          <p:nvPr/>
        </p:nvSpPr>
        <p:spPr>
          <a:xfrm>
            <a:off x="8405514" y="5128962"/>
            <a:ext cx="231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 err="1"/>
              <a:t>JupyterNotebook</a:t>
            </a:r>
            <a:endParaRPr kumimoji="1"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41559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088" y="-111125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DBAC86-4675-BF4A-83E7-4CCFBE0A1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62608"/>
            <a:ext cx="5839967" cy="2627985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55A26629-3E26-0D46-85C6-ACC2B7DD0DFF}"/>
              </a:ext>
            </a:extLst>
          </p:cNvPr>
          <p:cNvSpPr txBox="1">
            <a:spLocks/>
          </p:cNvSpPr>
          <p:nvPr/>
        </p:nvSpPr>
        <p:spPr>
          <a:xfrm>
            <a:off x="377952" y="2082801"/>
            <a:ext cx="620572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Numpy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활용법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실습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E202D-146C-E240-8387-D09DE8164DE4}"/>
              </a:ext>
            </a:extLst>
          </p:cNvPr>
          <p:cNvSpPr txBox="1"/>
          <p:nvPr/>
        </p:nvSpPr>
        <p:spPr>
          <a:xfrm>
            <a:off x="5073461" y="4470401"/>
            <a:ext cx="78850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이미지 출처: </a:t>
            </a:r>
            <a:r>
              <a:rPr lang="ko-KR" altLang="en-US" sz="1200" dirty="0" err="1"/>
              <a:t>Wikimedia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Commons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NumPy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Logo</a:t>
            </a:r>
            <a:r>
              <a:rPr lang="ko-KR" altLang="en-US" sz="1200" dirty="0"/>
              <a:t> (2020), CC BY 2.0  </a:t>
            </a:r>
          </a:p>
          <a:p>
            <a:pPr algn="ctr"/>
            <a:r>
              <a:rPr lang="ko-KR" altLang="en-US" sz="1200" dirty="0">
                <a:hlinkClick r:id="rId3"/>
              </a:rPr>
              <a:t>https://commons.wikimedia.org/wiki/File:NumPy_logo_2020.svg</a:t>
            </a:r>
            <a:endParaRPr lang="en-US" altLang="ko-KR" sz="1200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565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Numpy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소개 및 설치 방법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8865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Numpy</a:t>
            </a:r>
            <a:r>
              <a:rPr kumimoji="1" lang="ko-KR" altLang="en-US" sz="5400" b="1" dirty="0">
                <a:latin typeface="+mj-ea"/>
              </a:rPr>
              <a:t>란</a:t>
            </a:r>
            <a:r>
              <a:rPr kumimoji="1" lang="en-US" altLang="ko-KR" sz="5400" b="1" dirty="0">
                <a:latin typeface="+mj-ea"/>
              </a:rPr>
              <a:t>?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791176"/>
            <a:ext cx="10838688" cy="112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b="1" dirty="0" err="1"/>
              <a:t>Numpy</a:t>
            </a:r>
            <a:r>
              <a:rPr lang="en-US" altLang="ko-KR" dirty="0"/>
              <a:t>(</a:t>
            </a:r>
            <a:r>
              <a:rPr lang="ko-KR" altLang="en-US" dirty="0" err="1"/>
              <a:t>넘파이</a:t>
            </a:r>
            <a:r>
              <a:rPr lang="en-US" altLang="ko-KR" dirty="0"/>
              <a:t>) – </a:t>
            </a:r>
            <a:r>
              <a:rPr lang="en-US" altLang="ko-KR" b="1" dirty="0"/>
              <a:t>Numerical Python</a:t>
            </a:r>
            <a:r>
              <a:rPr lang="ko-KR" altLang="en-US" b="1" dirty="0"/>
              <a:t> </a:t>
            </a:r>
            <a:r>
              <a:rPr lang="ko-KR" altLang="en-US" dirty="0" err="1"/>
              <a:t>줄임말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0" i="0" dirty="0">
                <a:effectLst/>
                <a:latin typeface="fkGroteskNeue"/>
              </a:rPr>
              <a:t>대규모 다차원 배열과 행렬을 쉽고 효율적으로 다룰 수 있도록 지원하는 대표적인 라이브러리입니다</a:t>
            </a:r>
            <a:r>
              <a:rPr lang="en-US" altLang="ko-KR" b="0" i="0" dirty="0">
                <a:effectLst/>
                <a:latin typeface="fkGroteskNeue"/>
              </a:rPr>
              <a:t>. 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1244BF-2403-E647-87A9-EF0E0E2F3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142" y="3370251"/>
            <a:ext cx="6561716" cy="29527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311229-4A4E-0A48-B778-A13EF96DB5D0}"/>
              </a:ext>
            </a:extLst>
          </p:cNvPr>
          <p:cNvSpPr txBox="1"/>
          <p:nvPr/>
        </p:nvSpPr>
        <p:spPr>
          <a:xfrm>
            <a:off x="2633081" y="5965990"/>
            <a:ext cx="72795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effectLst/>
                <a:latin typeface="Helvetica Neue" panose="02000503000000020004" pitchFamily="2" charset="0"/>
              </a:rPr>
              <a:t>이미지 출처</a:t>
            </a:r>
            <a:r>
              <a:rPr lang="en-US" altLang="ko-KR" sz="1200" dirty="0">
                <a:effectLst/>
                <a:latin typeface="Helvetica Neue" panose="02000503000000020004" pitchFamily="2" charset="0"/>
              </a:rPr>
              <a:t>: </a:t>
            </a:r>
            <a:r>
              <a:rPr lang="en" altLang="ko-KR" sz="1200" dirty="0">
                <a:effectLst/>
                <a:latin typeface="Helvetica Neue" panose="02000503000000020004" pitchFamily="2" charset="0"/>
              </a:rPr>
              <a:t>Wikimedia Commons, NumPy Logo (2020), CC BY 2.0  </a:t>
            </a:r>
          </a:p>
          <a:p>
            <a:pPr algn="ctr"/>
            <a:r>
              <a:rPr lang="en" altLang="ko-KR" sz="1200" dirty="0">
                <a:effectLst/>
                <a:latin typeface="Helvetica Neue" panose="02000503000000020004" pitchFamily="2" charset="0"/>
                <a:hlinkClick r:id="rId3"/>
              </a:rPr>
              <a:t>https://commons.wikimedia.org/wiki/File:NumPy_logo_2020.svg</a:t>
            </a:r>
            <a:endParaRPr lang="en" altLang="ko-KR" sz="1200" dirty="0">
              <a:effectLst/>
              <a:latin typeface="Helvetica Neue" panose="02000503000000020004" pitchFamily="2" charset="0"/>
            </a:endParaRPr>
          </a:p>
          <a:p>
            <a:br>
              <a:rPr lang="en" altLang="ko-KR" dirty="0">
                <a:effectLst/>
                <a:latin typeface="Helvetica Neue" panose="02000503000000020004" pitchFamily="2" charset="0"/>
              </a:rPr>
            </a:br>
            <a:endParaRPr lang="en" altLang="ko-KR" dirty="0">
              <a:effectLst/>
              <a:latin typeface="Helvetica Neue" panose="02000503000000020004" pitchFamily="2" charset="0"/>
            </a:endParaRPr>
          </a:p>
          <a:p>
            <a:br>
              <a:rPr lang="en" altLang="ko-KR" dirty="0">
                <a:effectLst/>
                <a:latin typeface="Helvetica Neue" panose="02000503000000020004" pitchFamily="2" charset="0"/>
              </a:rPr>
            </a:br>
            <a:endParaRPr lang="en" altLang="ko-KR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1095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Numpy</a:t>
            </a:r>
            <a:r>
              <a:rPr kumimoji="1" lang="ko-KR" altLang="en-US" sz="5400" b="1" dirty="0">
                <a:latin typeface="+mj-ea"/>
              </a:rPr>
              <a:t> 특징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729352"/>
            <a:ext cx="10838688" cy="346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다차원 배열</a:t>
            </a:r>
            <a:r>
              <a:rPr lang="en-US" altLang="ko-KR" b="1" i="0" dirty="0">
                <a:effectLst/>
                <a:latin typeface="fkGroteskNeue"/>
              </a:rPr>
              <a:t>(</a:t>
            </a:r>
            <a:r>
              <a:rPr lang="en" altLang="ko-KR" b="1" i="0" dirty="0" err="1">
                <a:effectLst/>
                <a:latin typeface="fkGroteskNeue"/>
              </a:rPr>
              <a:t>ndarray</a:t>
            </a:r>
            <a:r>
              <a:rPr lang="en" altLang="ko-KR" b="1" i="0" dirty="0">
                <a:effectLst/>
                <a:latin typeface="fkGroteskNeue"/>
              </a:rPr>
              <a:t>) </a:t>
            </a:r>
            <a:r>
              <a:rPr lang="ko-KR" altLang="en-US" b="1" i="0" dirty="0">
                <a:effectLst/>
                <a:latin typeface="fkGroteskNeue"/>
              </a:rPr>
              <a:t>지원</a:t>
            </a:r>
            <a:br>
              <a:rPr lang="ko-KR" altLang="en-US" b="0" i="0" dirty="0">
                <a:effectLst/>
                <a:latin typeface="fkGroteskNeue"/>
              </a:rPr>
            </a:br>
            <a:r>
              <a:rPr lang="en" altLang="ko-KR" b="0" i="0" dirty="0">
                <a:effectLst/>
                <a:latin typeface="fkGroteskNeue"/>
              </a:rPr>
              <a:t>NumPy</a:t>
            </a:r>
            <a:r>
              <a:rPr lang="ko-KR" altLang="en-US" b="0" i="0" dirty="0">
                <a:effectLst/>
                <a:latin typeface="fkGroteskNeue"/>
              </a:rPr>
              <a:t>의 핵심은 다차원 배열 객체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en" altLang="ko-KR" b="0" i="0" dirty="0" err="1">
                <a:effectLst/>
                <a:latin typeface="fkGroteskNeue"/>
              </a:rPr>
              <a:t>ndarray</a:t>
            </a:r>
            <a:r>
              <a:rPr lang="en" altLang="ko-KR" b="0" i="0" dirty="0">
                <a:effectLst/>
                <a:latin typeface="fkGroteskNeue"/>
              </a:rPr>
              <a:t>)</a:t>
            </a:r>
            <a:r>
              <a:rPr lang="ko-KR" altLang="en-US" b="0" i="0" dirty="0">
                <a:effectLst/>
                <a:latin typeface="fkGroteskNeue"/>
              </a:rPr>
              <a:t>입니다</a:t>
            </a:r>
            <a:r>
              <a:rPr lang="en-US" altLang="ko-KR" b="0" i="0" dirty="0">
                <a:effectLst/>
                <a:latin typeface="fkGroteskNeue"/>
              </a:rPr>
              <a:t>. </a:t>
            </a:r>
            <a:r>
              <a:rPr lang="ko-KR" altLang="en-US" b="0" i="0" dirty="0">
                <a:effectLst/>
                <a:latin typeface="fkGroteskNeue"/>
              </a:rPr>
              <a:t>이 배열은 동일한 데이터 타입의 값들로 구성되며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      </a:t>
            </a:r>
            <a:r>
              <a:rPr lang="ko-KR" altLang="en-US" b="0" i="0" dirty="0" err="1">
                <a:effectLst/>
                <a:latin typeface="fkGroteskNeue"/>
              </a:rPr>
              <a:t>파이썬의</a:t>
            </a:r>
            <a:r>
              <a:rPr lang="ko-KR" altLang="en-US" b="0" i="0" dirty="0">
                <a:effectLst/>
                <a:latin typeface="fkGroteskNeue"/>
              </a:rPr>
              <a:t> 리스트보다 훨씬 빠르고 적은 메모리로 대용량 데이터를 처리할 수 있습니다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endParaRPr lang="en-US" altLang="ko-KR" b="0" i="0" dirty="0">
              <a:effectLst/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고성능 수치 연산</a:t>
            </a:r>
            <a:br>
              <a:rPr lang="ko-KR" altLang="en-US" b="0" i="0" dirty="0">
                <a:effectLst/>
                <a:latin typeface="fkGroteskNeue"/>
              </a:rPr>
            </a:br>
            <a:r>
              <a:rPr lang="ko-KR" altLang="en-US" b="0" i="0" dirty="0">
                <a:effectLst/>
                <a:latin typeface="fkGroteskNeue"/>
              </a:rPr>
              <a:t>내부적으로 </a:t>
            </a:r>
            <a:r>
              <a:rPr lang="en" altLang="ko-KR" b="0" i="0" dirty="0">
                <a:effectLst/>
                <a:latin typeface="fkGroteskNeue"/>
              </a:rPr>
              <a:t>C</a:t>
            </a:r>
            <a:r>
              <a:rPr lang="ko-KR" altLang="en-US" b="0" i="0" dirty="0">
                <a:effectLst/>
                <a:latin typeface="fkGroteskNeue"/>
              </a:rPr>
              <a:t>언어로 구현되어 있어 연산 속도가 매우 빠르며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벡터 및 행렬 연산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통계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선형대수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 err="1">
                <a:effectLst/>
                <a:latin typeface="fkGroteskNeue"/>
              </a:rPr>
              <a:t>푸리에</a:t>
            </a:r>
            <a:r>
              <a:rPr lang="ko-KR" altLang="en-US" b="0" i="0" dirty="0">
                <a:effectLst/>
                <a:latin typeface="fkGroteskNeue"/>
              </a:rPr>
              <a:t> 변환 등 다양한 수학적 기능을 제공합니다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>
              <a:lnSpc>
                <a:spcPct val="20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9523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Numpy</a:t>
            </a:r>
            <a:r>
              <a:rPr kumimoji="1" lang="ko-KR" altLang="en-US" sz="5400" b="1" dirty="0">
                <a:latin typeface="+mj-ea"/>
              </a:rPr>
              <a:t> 특징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729352"/>
            <a:ext cx="10838688" cy="3051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1" i="0" dirty="0" err="1">
                <a:effectLst/>
                <a:latin typeface="fkGroteskNeue"/>
              </a:rPr>
              <a:t>브로드캐스팅</a:t>
            </a:r>
            <a:r>
              <a:rPr lang="en-US" altLang="ko-KR" b="1" i="0" dirty="0">
                <a:effectLst/>
                <a:latin typeface="fkGroteskNeue"/>
              </a:rPr>
              <a:t>(</a:t>
            </a:r>
            <a:r>
              <a:rPr lang="en" altLang="ko-KR" b="1" i="0" dirty="0">
                <a:effectLst/>
                <a:latin typeface="fkGroteskNeue"/>
              </a:rPr>
              <a:t>Broadcasting)</a:t>
            </a:r>
            <a:br>
              <a:rPr lang="en" altLang="ko-KR" b="0" i="0" dirty="0">
                <a:effectLst/>
                <a:latin typeface="fkGroteskNeue"/>
              </a:rPr>
            </a:br>
            <a:r>
              <a:rPr lang="ko-KR" altLang="en-US" b="0" i="0" dirty="0">
                <a:effectLst/>
                <a:latin typeface="fkGroteskNeue"/>
              </a:rPr>
              <a:t>서로 크기가 다른 배열 간에도 연산이 가능하도록 하는 </a:t>
            </a:r>
            <a:r>
              <a:rPr lang="ko-KR" altLang="en-US" b="0" i="0" dirty="0" err="1">
                <a:effectLst/>
                <a:latin typeface="fkGroteskNeue"/>
              </a:rPr>
              <a:t>브로드캐스팅</a:t>
            </a:r>
            <a:r>
              <a:rPr lang="ko-KR" altLang="en-US" b="0" i="0" dirty="0">
                <a:effectLst/>
                <a:latin typeface="fkGroteskNeue"/>
              </a:rPr>
              <a:t> 기능을 지원합니다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endParaRPr lang="en-US" altLang="ko-KR" b="0" i="0" dirty="0">
              <a:effectLst/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다양한 활용 분야</a:t>
            </a:r>
            <a:br>
              <a:rPr lang="ko-KR" altLang="en-US" b="0" i="0" dirty="0">
                <a:effectLst/>
                <a:latin typeface="fkGroteskNeue"/>
              </a:rPr>
            </a:br>
            <a:r>
              <a:rPr lang="ko-KR" altLang="en-US" b="0" i="0" dirty="0">
                <a:effectLst/>
                <a:latin typeface="fkGroteskNeue"/>
              </a:rPr>
              <a:t>데이터 과학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 err="1">
                <a:effectLst/>
                <a:latin typeface="fkGroteskNeue"/>
              </a:rPr>
              <a:t>머신러닝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인공지능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통계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이미지 처리 등 </a:t>
            </a:r>
            <a:r>
              <a:rPr lang="ko-KR" altLang="en-US" b="0" i="0" dirty="0" err="1">
                <a:effectLst/>
                <a:latin typeface="fkGroteskNeue"/>
              </a:rPr>
              <a:t>파이썬</a:t>
            </a:r>
            <a:r>
              <a:rPr lang="ko-KR" altLang="en-US" b="0" i="0" dirty="0">
                <a:effectLst/>
                <a:latin typeface="fkGroteskNeue"/>
              </a:rPr>
              <a:t> 기반의 거의 모든 과학적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수치적 작업에서 필수적으로 사용됩니다</a:t>
            </a:r>
            <a:r>
              <a:rPr lang="en-US" altLang="ko-KR" b="0" i="0" dirty="0">
                <a:effectLst/>
                <a:latin typeface="fkGroteskNeue"/>
              </a:rPr>
              <a:t>. </a:t>
            </a:r>
            <a:r>
              <a:rPr lang="en" altLang="ko-KR" b="0" i="0" dirty="0">
                <a:effectLst/>
                <a:latin typeface="fkGroteskNeue"/>
              </a:rPr>
              <a:t>Pandas, TensorFlow, </a:t>
            </a:r>
            <a:r>
              <a:rPr lang="en" altLang="ko-KR" b="0" i="0" dirty="0" err="1">
                <a:effectLst/>
                <a:latin typeface="fkGroteskNeue"/>
              </a:rPr>
              <a:t>PyTorch</a:t>
            </a:r>
            <a:r>
              <a:rPr lang="en" altLang="ko-KR" b="0" i="0" dirty="0">
                <a:effectLst/>
                <a:latin typeface="fkGroteskNeue"/>
              </a:rPr>
              <a:t> </a:t>
            </a:r>
            <a:r>
              <a:rPr lang="ko-KR" altLang="en-US" b="0" i="0" dirty="0">
                <a:effectLst/>
                <a:latin typeface="fkGroteskNeue"/>
              </a:rPr>
              <a:t>등 주요 라이브러리의 기반으로도 활용됩니다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5888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DBC6F69-44CF-CA42-A6C6-9E6426A8E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95250"/>
            <a:ext cx="93472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608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Numpy</a:t>
            </a:r>
            <a:r>
              <a:rPr kumimoji="1" lang="ko-KR" altLang="en-US" sz="5400" b="1" dirty="0">
                <a:latin typeface="+mj-ea"/>
              </a:rPr>
              <a:t> 필요성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97B68FD3-2DD9-254A-8AD4-73AC68C2F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238685"/>
              </p:ext>
            </p:extLst>
          </p:nvPr>
        </p:nvGraphicFramePr>
        <p:xfrm>
          <a:off x="804671" y="2091944"/>
          <a:ext cx="10863073" cy="3050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919">
                  <a:extLst>
                    <a:ext uri="{9D8B030D-6E8A-4147-A177-3AD203B41FA5}">
                      <a16:colId xmlns:a16="http://schemas.microsoft.com/office/drawing/2014/main" val="3184876797"/>
                    </a:ext>
                  </a:extLst>
                </a:gridCol>
                <a:gridCol w="3829608">
                  <a:extLst>
                    <a:ext uri="{9D8B030D-6E8A-4147-A177-3AD203B41FA5}">
                      <a16:colId xmlns:a16="http://schemas.microsoft.com/office/drawing/2014/main" val="2186185278"/>
                    </a:ext>
                  </a:extLst>
                </a:gridCol>
                <a:gridCol w="4192546">
                  <a:extLst>
                    <a:ext uri="{9D8B030D-6E8A-4147-A177-3AD203B41FA5}">
                      <a16:colId xmlns:a16="http://schemas.microsoft.com/office/drawing/2014/main" val="1957225526"/>
                    </a:ext>
                  </a:extLst>
                </a:gridCol>
              </a:tblGrid>
              <a:tr h="596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항목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 </a:t>
                      </a:r>
                      <a:r>
                        <a:rPr lang="ko-KR" altLang="en-US" dirty="0" err="1"/>
                        <a:t>파이썬</a:t>
                      </a:r>
                      <a:r>
                        <a:rPr lang="ko-KR" altLang="en-US" dirty="0"/>
                        <a:t> 리스트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Numpy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885128"/>
                  </a:ext>
                </a:extLst>
              </a:tr>
              <a:tr h="578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속도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느림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매우 빠름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299896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메모리 효율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비효율적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효율적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680615"/>
                  </a:ext>
                </a:extLst>
              </a:tr>
              <a:tr h="10829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 연산 편의성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복잡한 </a:t>
                      </a:r>
                      <a:r>
                        <a:rPr lang="en-US" altLang="ko-KR" dirty="0"/>
                        <a:t>for</a:t>
                      </a:r>
                      <a:r>
                        <a:rPr lang="ko-KR" altLang="en-US" dirty="0"/>
                        <a:t>문 필요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한 줄로 가능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284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451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다차원 배열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5826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다차원 배열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729352"/>
            <a:ext cx="10838688" cy="1804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dirty="0">
                <a:latin typeface="fkGroteskNeue"/>
              </a:rPr>
              <a:t>Array() : </a:t>
            </a:r>
            <a:r>
              <a:rPr lang="ko-KR" altLang="en-US" dirty="0">
                <a:latin typeface="fkGroteskNeue"/>
              </a:rPr>
              <a:t>리스트</a:t>
            </a:r>
            <a:r>
              <a:rPr lang="en-US" altLang="ko-KR" dirty="0">
                <a:latin typeface="fkGroteskNeue"/>
              </a:rPr>
              <a:t>,</a:t>
            </a:r>
            <a:r>
              <a:rPr lang="ko-KR" altLang="en-US" dirty="0">
                <a:latin typeface="fkGroteskNeue"/>
              </a:rPr>
              <a:t> </a:t>
            </a:r>
            <a:r>
              <a:rPr lang="ko-KR" altLang="en-US" dirty="0" err="1">
                <a:latin typeface="fkGroteskNeue"/>
              </a:rPr>
              <a:t>튜플</a:t>
            </a:r>
            <a:r>
              <a:rPr lang="ko-KR" altLang="en-US" dirty="0">
                <a:latin typeface="fkGroteskNeue"/>
              </a:rPr>
              <a:t> 등으로부터 배열 생성 </a:t>
            </a:r>
            <a:endParaRPr lang="en-US" altLang="ko-KR" dirty="0"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dirty="0">
                <a:latin typeface="fkGroteskNeue"/>
              </a:rPr>
              <a:t>Zeroes(), Ones() : 0 </a:t>
            </a:r>
            <a:r>
              <a:rPr lang="ko-KR" altLang="en-US" dirty="0">
                <a:latin typeface="fkGroteskNeue"/>
              </a:rPr>
              <a:t>또는 </a:t>
            </a:r>
            <a:r>
              <a:rPr lang="en-US" altLang="ko-KR" dirty="0">
                <a:latin typeface="fkGroteskNeue"/>
              </a:rPr>
              <a:t>1</a:t>
            </a:r>
            <a:r>
              <a:rPr lang="ko-KR" altLang="en-US" dirty="0">
                <a:latin typeface="fkGroteskNeue"/>
              </a:rPr>
              <a:t>로 채워진 배열 생성 </a:t>
            </a:r>
            <a:endParaRPr lang="en-US" altLang="ko-KR" dirty="0"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dirty="0" err="1">
                <a:latin typeface="fkGroteskNeue"/>
              </a:rPr>
              <a:t>Arange</a:t>
            </a:r>
            <a:r>
              <a:rPr lang="en-US" altLang="ko-KR" dirty="0">
                <a:latin typeface="fkGroteskNeue"/>
              </a:rPr>
              <a:t>(): </a:t>
            </a:r>
            <a:r>
              <a:rPr lang="ko-KR" altLang="en-US" dirty="0">
                <a:latin typeface="fkGroteskNeue"/>
              </a:rPr>
              <a:t>범위 또는 구간을 지정해 연속적인 값의 배열 생성 </a:t>
            </a:r>
            <a:endParaRPr lang="en-US" altLang="ko-KR" b="0" i="0" dirty="0">
              <a:effectLst/>
              <a:latin typeface="fkGroteskNeue"/>
            </a:endParaRPr>
          </a:p>
          <a:p>
            <a:pPr>
              <a:lnSpc>
                <a:spcPct val="200000"/>
              </a:lnSpc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71721B-1DD9-644F-AD0E-BAF679FD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142" y="3370251"/>
            <a:ext cx="6561716" cy="2952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5B5A82-C6D8-7447-B01C-AEA7524538A8}"/>
              </a:ext>
            </a:extLst>
          </p:cNvPr>
          <p:cNvSpPr txBox="1"/>
          <p:nvPr/>
        </p:nvSpPr>
        <p:spPr>
          <a:xfrm>
            <a:off x="2633081" y="5965990"/>
            <a:ext cx="72795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effectLst/>
                <a:latin typeface="Helvetica Neue" panose="02000503000000020004" pitchFamily="2" charset="0"/>
              </a:rPr>
              <a:t>이미지 출처</a:t>
            </a:r>
            <a:r>
              <a:rPr lang="en-US" altLang="ko-KR" sz="1050" dirty="0">
                <a:effectLst/>
                <a:latin typeface="Helvetica Neue" panose="02000503000000020004" pitchFamily="2" charset="0"/>
              </a:rPr>
              <a:t>: </a:t>
            </a:r>
            <a:r>
              <a:rPr lang="en" altLang="ko-KR" sz="1050" dirty="0">
                <a:effectLst/>
                <a:latin typeface="Helvetica Neue" panose="02000503000000020004" pitchFamily="2" charset="0"/>
              </a:rPr>
              <a:t>Wikimedia Commons, NumPy Logo (2020), CC BY 2.0  </a:t>
            </a:r>
          </a:p>
          <a:p>
            <a:pPr algn="ctr"/>
            <a:r>
              <a:rPr lang="en" altLang="ko-KR" sz="1050" dirty="0">
                <a:effectLst/>
                <a:latin typeface="Helvetica Neue" panose="02000503000000020004" pitchFamily="2" charset="0"/>
                <a:hlinkClick r:id="rId3"/>
              </a:rPr>
              <a:t>https://commons.wikimedia.org/wiki/File:NumPy_logo_2020.svg</a:t>
            </a:r>
            <a:endParaRPr lang="en" altLang="ko-KR" sz="1050" dirty="0">
              <a:effectLst/>
              <a:latin typeface="Helvetica Neue" panose="02000503000000020004" pitchFamily="2" charset="0"/>
            </a:endParaRPr>
          </a:p>
          <a:p>
            <a:br>
              <a:rPr lang="en" altLang="ko-KR" sz="1050" dirty="0">
                <a:effectLst/>
                <a:latin typeface="Helvetica Neue" panose="02000503000000020004" pitchFamily="2" charset="0"/>
              </a:rPr>
            </a:br>
            <a:endParaRPr lang="en" altLang="ko-KR" sz="1050" dirty="0">
              <a:effectLst/>
              <a:latin typeface="Helvetica Neue" panose="02000503000000020004" pitchFamily="2" charset="0"/>
            </a:endParaRPr>
          </a:p>
          <a:p>
            <a:br>
              <a:rPr lang="en" altLang="ko-KR" dirty="0">
                <a:effectLst/>
                <a:latin typeface="Helvetica Neue" panose="02000503000000020004" pitchFamily="2" charset="0"/>
              </a:rPr>
            </a:br>
            <a:endParaRPr lang="en" altLang="ko-KR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836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np.array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ED123A-ACAD-F140-8959-576EC725A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512" y="1334701"/>
            <a:ext cx="8536608" cy="536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811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np.zeros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1E9ABD-EAC1-774C-9D92-772FC93C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322" y="417830"/>
            <a:ext cx="6800574" cy="602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491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np.ones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6B0B93-588B-8940-80CC-1BA84F0A9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548" y="590550"/>
            <a:ext cx="72136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2628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np.arange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5733DB-FDF0-5946-B4F8-1C569B469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0" y="590550"/>
            <a:ext cx="721360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93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배열 속성 확인 및 변환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0419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배열 속성 확인 및 변환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729352"/>
            <a:ext cx="10838688" cy="222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latinLnBrk="1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1800" kern="100" dirty="0">
                <a:effectLst/>
                <a:latin typeface="+mn-ea"/>
                <a:cs typeface="Times New Roman" panose="02020603050405020304" pitchFamily="18" charset="0"/>
              </a:rPr>
              <a:t>Shape: </a:t>
            </a:r>
            <a:r>
              <a:rPr lang="ko-KR" altLang="ko-KR" sz="1800" kern="100" dirty="0">
                <a:effectLst/>
                <a:latin typeface="+mn-ea"/>
                <a:cs typeface="Times New Roman" panose="02020603050405020304" pitchFamily="18" charset="0"/>
              </a:rPr>
              <a:t>배열의 구조</a:t>
            </a:r>
            <a:r>
              <a:rPr lang="en-US" altLang="ko-KR" sz="1800" kern="100" dirty="0">
                <a:effectLst/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ko-KR" sz="1800" kern="100" dirty="0">
                <a:effectLst/>
                <a:latin typeface="+mn-ea"/>
                <a:cs typeface="Times New Roman" panose="02020603050405020304" pitchFamily="18" charset="0"/>
              </a:rPr>
              <a:t>행</a:t>
            </a:r>
            <a:r>
              <a:rPr lang="en-US" altLang="ko-KR" sz="1800" kern="100" dirty="0">
                <a:effectLst/>
                <a:latin typeface="+mn-ea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+mn-ea"/>
                <a:cs typeface="Times New Roman" panose="02020603050405020304" pitchFamily="18" charset="0"/>
              </a:rPr>
              <a:t>열 등</a:t>
            </a:r>
            <a:r>
              <a:rPr lang="en-US" altLang="ko-KR" sz="1800" kern="100" dirty="0">
                <a:effectLst/>
                <a:latin typeface="+mn-ea"/>
                <a:cs typeface="Times New Roman" panose="02020603050405020304" pitchFamily="18" charset="0"/>
              </a:rPr>
              <a:t>) </a:t>
            </a:r>
            <a:r>
              <a:rPr lang="ko-KR" altLang="ko-KR" sz="1800" kern="100" dirty="0">
                <a:effectLst/>
                <a:latin typeface="+mn-ea"/>
                <a:cs typeface="Times New Roman" panose="02020603050405020304" pitchFamily="18" charset="0"/>
              </a:rPr>
              <a:t>확인</a:t>
            </a:r>
          </a:p>
          <a:p>
            <a:pPr marL="342900" lvl="0" indent="-342900" algn="just" latinLnBrk="1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1800" kern="100" dirty="0">
                <a:effectLst/>
                <a:latin typeface="+mn-ea"/>
                <a:cs typeface="Times New Roman" panose="02020603050405020304" pitchFamily="18" charset="0"/>
              </a:rPr>
              <a:t>Reshape: </a:t>
            </a:r>
            <a:r>
              <a:rPr lang="ko-KR" altLang="ko-KR" sz="1800" kern="100" dirty="0">
                <a:effectLst/>
                <a:latin typeface="+mn-ea"/>
                <a:cs typeface="Times New Roman" panose="02020603050405020304" pitchFamily="18" charset="0"/>
              </a:rPr>
              <a:t>배열의 구조 변경 </a:t>
            </a:r>
          </a:p>
          <a:p>
            <a:pPr marL="342900" lvl="0" indent="-342900" algn="just" latinLnBrk="1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1800" kern="100" dirty="0">
                <a:effectLst/>
                <a:latin typeface="+mn-ea"/>
                <a:cs typeface="Times New Roman" panose="02020603050405020304" pitchFamily="18" charset="0"/>
              </a:rPr>
              <a:t>Resize: </a:t>
            </a:r>
            <a:r>
              <a:rPr lang="ko-KR" altLang="ko-KR" sz="1800" kern="100" dirty="0">
                <a:effectLst/>
                <a:latin typeface="+mn-ea"/>
                <a:cs typeface="Times New Roman" panose="02020603050405020304" pitchFamily="18" charset="0"/>
              </a:rPr>
              <a:t>새로운 크기로 배열을 변경 </a:t>
            </a:r>
          </a:p>
          <a:p>
            <a:pPr marL="342900" lvl="0" indent="-342900" algn="just" latinLnBrk="1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1800" kern="100" dirty="0">
                <a:effectLst/>
                <a:latin typeface="+mn-ea"/>
                <a:cs typeface="Times New Roman" panose="02020603050405020304" pitchFamily="18" charset="0"/>
              </a:rPr>
              <a:t>Ravel : </a:t>
            </a:r>
            <a:r>
              <a:rPr lang="ko-KR" altLang="ko-KR" sz="1800" kern="100" dirty="0">
                <a:effectLst/>
                <a:latin typeface="+mn-ea"/>
                <a:cs typeface="Times New Roman" panose="02020603050405020304" pitchFamily="18" charset="0"/>
              </a:rPr>
              <a:t>배열을 </a:t>
            </a:r>
            <a:r>
              <a:rPr lang="en-US" altLang="ko-KR" sz="1800" kern="100" dirty="0"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ko-KR" altLang="ko-KR" sz="1800" kern="100" dirty="0">
                <a:effectLst/>
                <a:latin typeface="+mn-ea"/>
                <a:cs typeface="Times New Roman" panose="02020603050405020304" pitchFamily="18" charset="0"/>
              </a:rPr>
              <a:t>차원을 변경 </a:t>
            </a:r>
          </a:p>
          <a:p>
            <a:pPr>
              <a:lnSpc>
                <a:spcPct val="200000"/>
              </a:lnSpc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71721B-1DD9-644F-AD0E-BAF679FD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142" y="3370251"/>
            <a:ext cx="6561716" cy="2952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EE1CE8-048D-F74A-9EB9-477C773D28E4}"/>
              </a:ext>
            </a:extLst>
          </p:cNvPr>
          <p:cNvSpPr txBox="1"/>
          <p:nvPr/>
        </p:nvSpPr>
        <p:spPr>
          <a:xfrm>
            <a:off x="2633081" y="5965990"/>
            <a:ext cx="72795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effectLst/>
                <a:latin typeface="Helvetica Neue" panose="02000503000000020004" pitchFamily="2" charset="0"/>
              </a:rPr>
              <a:t>이미지 출처</a:t>
            </a:r>
            <a:r>
              <a:rPr lang="en-US" altLang="ko-KR" sz="1200" dirty="0">
                <a:effectLst/>
                <a:latin typeface="Helvetica Neue" panose="02000503000000020004" pitchFamily="2" charset="0"/>
              </a:rPr>
              <a:t>: </a:t>
            </a:r>
            <a:r>
              <a:rPr lang="en" altLang="ko-KR" sz="1200" dirty="0">
                <a:effectLst/>
                <a:latin typeface="Helvetica Neue" panose="02000503000000020004" pitchFamily="2" charset="0"/>
              </a:rPr>
              <a:t>Wikimedia Commons, NumPy Logo (2020), CC BY 2.0  </a:t>
            </a:r>
          </a:p>
          <a:p>
            <a:pPr algn="ctr"/>
            <a:r>
              <a:rPr lang="en" altLang="ko-KR" sz="1200" dirty="0">
                <a:effectLst/>
                <a:latin typeface="Helvetica Neue" panose="02000503000000020004" pitchFamily="2" charset="0"/>
                <a:hlinkClick r:id="rId3"/>
              </a:rPr>
              <a:t>https://commons.wikimedia.org/wiki/File:NumPy_logo_2020.svg</a:t>
            </a:r>
            <a:endParaRPr lang="en" altLang="ko-KR" sz="1200" dirty="0">
              <a:effectLst/>
              <a:latin typeface="Helvetica Neue" panose="02000503000000020004" pitchFamily="2" charset="0"/>
            </a:endParaRPr>
          </a:p>
          <a:p>
            <a:br>
              <a:rPr lang="en" altLang="ko-KR" dirty="0">
                <a:effectLst/>
                <a:latin typeface="Helvetica Neue" panose="02000503000000020004" pitchFamily="2" charset="0"/>
              </a:rPr>
            </a:br>
            <a:endParaRPr lang="en" altLang="ko-KR" dirty="0">
              <a:effectLst/>
              <a:latin typeface="Helvetica Neue" panose="02000503000000020004" pitchFamily="2" charset="0"/>
            </a:endParaRPr>
          </a:p>
          <a:p>
            <a:br>
              <a:rPr lang="en" altLang="ko-KR" dirty="0">
                <a:effectLst/>
                <a:latin typeface="Helvetica Neue" panose="02000503000000020004" pitchFamily="2" charset="0"/>
              </a:rPr>
            </a:br>
            <a:endParaRPr lang="en" altLang="ko-KR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5727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Shape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31D594-4D1F-4440-85A2-1DF5C82F4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213" y="1483424"/>
            <a:ext cx="77470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38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Reshape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9AD7FBE-09F0-8A47-B327-DC69446B5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492" y="1483424"/>
            <a:ext cx="77470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414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Resize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9E67FC-B46C-8D42-975E-479BBD7B0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222" y="1334328"/>
            <a:ext cx="77470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244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Ravel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9DA8DC-8E77-9741-9989-4F3A118F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187" y="1483424"/>
            <a:ext cx="77470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977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통계 함수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6829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통계 함수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729352"/>
            <a:ext cx="10838688" cy="3051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latinLnBrk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Mean: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평균값 </a:t>
            </a:r>
          </a:p>
          <a:p>
            <a:pPr marL="342900" lvl="0" indent="-342900" algn="just" latinLnBrk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Median: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중앙값 </a:t>
            </a:r>
          </a:p>
          <a:p>
            <a:pPr marL="342900" lvl="0" indent="-342900" algn="just" latinLnBrk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Std: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표준편차 </a:t>
            </a:r>
          </a:p>
          <a:p>
            <a:pPr marL="342900" lvl="0" indent="-342900" algn="just" latinLnBrk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Var: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분산 </a:t>
            </a:r>
          </a:p>
          <a:p>
            <a:pPr marL="342900" lvl="0" indent="-342900" algn="just" latinLnBrk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Sum :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합계 </a:t>
            </a:r>
          </a:p>
          <a:p>
            <a:pPr marL="342900" lvl="0" indent="-342900" algn="just" latinLnBrk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Min, Max :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최소값</a:t>
            </a:r>
            <a:r>
              <a:rPr lang="en-US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34" charset="-127"/>
                <a:ea typeface="맑은 고딕" panose="020B0503020000020004" pitchFamily="34" charset="-127"/>
                <a:cs typeface="Times New Roman" panose="02020603050405020304" pitchFamily="18" charset="0"/>
              </a:rPr>
              <a:t>최대값 </a:t>
            </a:r>
          </a:p>
          <a:p>
            <a:pPr>
              <a:lnSpc>
                <a:spcPct val="200000"/>
              </a:lnSpc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71721B-1DD9-644F-AD0E-BAF679FD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533" y="1729352"/>
            <a:ext cx="6561716" cy="2952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DB10EA-72AB-8946-B96E-F7C09976A726}"/>
              </a:ext>
            </a:extLst>
          </p:cNvPr>
          <p:cNvSpPr txBox="1"/>
          <p:nvPr/>
        </p:nvSpPr>
        <p:spPr>
          <a:xfrm>
            <a:off x="5509260" y="4422863"/>
            <a:ext cx="72795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effectLst/>
                <a:latin typeface="Helvetica Neue" panose="02000503000000020004" pitchFamily="2" charset="0"/>
              </a:rPr>
              <a:t>이미지 출처</a:t>
            </a:r>
            <a:r>
              <a:rPr lang="en-US" altLang="ko-KR" sz="1200" dirty="0">
                <a:effectLst/>
                <a:latin typeface="Helvetica Neue" panose="02000503000000020004" pitchFamily="2" charset="0"/>
              </a:rPr>
              <a:t>: </a:t>
            </a:r>
            <a:r>
              <a:rPr lang="en" altLang="ko-KR" sz="1200" dirty="0">
                <a:effectLst/>
                <a:latin typeface="Helvetica Neue" panose="02000503000000020004" pitchFamily="2" charset="0"/>
              </a:rPr>
              <a:t>Wikimedia Commons, NumPy Logo (2020), CC BY 2.0  </a:t>
            </a:r>
          </a:p>
          <a:p>
            <a:pPr algn="ctr"/>
            <a:r>
              <a:rPr lang="en" altLang="ko-KR" sz="1200" dirty="0">
                <a:effectLst/>
                <a:latin typeface="Helvetica Neue" panose="02000503000000020004" pitchFamily="2" charset="0"/>
                <a:hlinkClick r:id="rId3"/>
              </a:rPr>
              <a:t>https://commons.wikimedia.org/wiki/File:NumPy_logo_2020.svg</a:t>
            </a:r>
            <a:endParaRPr lang="en" altLang="ko-KR" sz="1200" dirty="0">
              <a:effectLst/>
              <a:latin typeface="Helvetica Neue" panose="02000503000000020004" pitchFamily="2" charset="0"/>
            </a:endParaRPr>
          </a:p>
          <a:p>
            <a:br>
              <a:rPr lang="en" altLang="ko-KR" dirty="0">
                <a:effectLst/>
                <a:latin typeface="Helvetica Neue" panose="02000503000000020004" pitchFamily="2" charset="0"/>
              </a:rPr>
            </a:br>
            <a:endParaRPr lang="en" altLang="ko-KR" dirty="0">
              <a:effectLst/>
              <a:latin typeface="Helvetica Neue" panose="02000503000000020004" pitchFamily="2" charset="0"/>
            </a:endParaRPr>
          </a:p>
          <a:p>
            <a:br>
              <a:rPr lang="en" altLang="ko-KR" dirty="0">
                <a:effectLst/>
                <a:latin typeface="Helvetica Neue" panose="02000503000000020004" pitchFamily="2" charset="0"/>
              </a:rPr>
            </a:br>
            <a:endParaRPr lang="en" altLang="ko-KR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8100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72F9EC1-6DCF-644E-B77D-E0315DFA1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244" y="0"/>
            <a:ext cx="73815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340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79" y="0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988E8BB-A2EA-BC44-A027-39374E7460E7}"/>
              </a:ext>
            </a:extLst>
          </p:cNvPr>
          <p:cNvSpPr txBox="1">
            <a:spLocks/>
          </p:cNvSpPr>
          <p:nvPr/>
        </p:nvSpPr>
        <p:spPr>
          <a:xfrm>
            <a:off x="0" y="2276475"/>
            <a:ext cx="620572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Pandas 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활용법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실습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B107B5-A165-0F46-9E86-37109B3AD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376" y="1155560"/>
            <a:ext cx="5939415" cy="4198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4403D7-01E9-9F4A-BDDA-2ED8247AE7F9}"/>
              </a:ext>
            </a:extLst>
          </p:cNvPr>
          <p:cNvSpPr txBox="1"/>
          <p:nvPr/>
        </p:nvSpPr>
        <p:spPr>
          <a:xfrm>
            <a:off x="4368181" y="4363993"/>
            <a:ext cx="95200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 err="1"/>
              <a:t>pandas</a:t>
            </a:r>
            <a:r>
              <a:rPr lang="ko-KR" altLang="en-US" sz="1100" dirty="0"/>
              <a:t> 로고 © </a:t>
            </a:r>
            <a:r>
              <a:rPr lang="ko-KR" altLang="en-US" sz="1100" dirty="0" err="1"/>
              <a:t>pandas</a:t>
            </a:r>
            <a:r>
              <a:rPr lang="ko-KR" altLang="en-US" sz="1100" dirty="0"/>
              <a:t> 프로젝트  </a:t>
            </a:r>
          </a:p>
          <a:p>
            <a:pPr algn="ctr"/>
            <a:r>
              <a:rPr lang="ko-KR" altLang="en-US" sz="1100" dirty="0"/>
              <a:t>출처: </a:t>
            </a:r>
            <a:r>
              <a:rPr lang="ko-KR" altLang="en-US" sz="1100" dirty="0">
                <a:hlinkClick r:id="rId3"/>
              </a:rPr>
              <a:t>https://logowik.com/pandas-logo-vector-svg-png-free-download-22087.html</a:t>
            </a:r>
            <a:endParaRPr lang="en-US" altLang="ko-KR" sz="1100" dirty="0"/>
          </a:p>
          <a:p>
            <a:pPr algn="ctr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7816979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Pandas 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소개 및 설치방법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1834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Pandas</a:t>
            </a:r>
            <a:r>
              <a:rPr kumimoji="1" lang="ko-KR" altLang="en-US" sz="5400" b="1" dirty="0">
                <a:latin typeface="+mj-ea"/>
              </a:rPr>
              <a:t>란</a:t>
            </a:r>
            <a:r>
              <a:rPr kumimoji="1" lang="en-US" altLang="ko-KR" sz="5400" b="1" dirty="0">
                <a:latin typeface="+mj-ea"/>
              </a:rPr>
              <a:t>?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398360" y="1789044"/>
            <a:ext cx="10838688" cy="3789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데이터 분석과 조작을 위한 </a:t>
            </a:r>
            <a:r>
              <a:rPr lang="ko-KR" altLang="en-US" sz="2000" dirty="0" err="1">
                <a:latin typeface="fkGroteskNeue"/>
              </a:rPr>
              <a:t>파이썬</a:t>
            </a:r>
            <a:r>
              <a:rPr lang="ko-KR" altLang="en-US" sz="2000" dirty="0">
                <a:latin typeface="fkGroteskNeue"/>
              </a:rPr>
              <a:t> 라이브러리입니다</a:t>
            </a:r>
            <a:r>
              <a:rPr lang="en-US" altLang="ko-KR" sz="2000" dirty="0">
                <a:latin typeface="fkGroteskNeue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CSV,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Excel,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SQL</a:t>
            </a:r>
            <a:r>
              <a:rPr lang="ko-KR" altLang="en-US" sz="2000" dirty="0">
                <a:latin typeface="fkGroteskNeue"/>
              </a:rPr>
              <a:t> 파일 불러오기 </a:t>
            </a:r>
            <a:endParaRPr lang="en-US" altLang="ko-KR" sz="2000" dirty="0"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2000" b="0" i="0" dirty="0">
                <a:effectLst/>
                <a:latin typeface="fkGroteskNeue"/>
              </a:rPr>
              <a:t>데이터 </a:t>
            </a:r>
            <a:r>
              <a:rPr lang="ko-KR" altLang="en-US" sz="2000" b="0" i="0" dirty="0" err="1">
                <a:effectLst/>
                <a:latin typeface="fkGroteskNeue"/>
              </a:rPr>
              <a:t>필터링</a:t>
            </a:r>
            <a:r>
              <a:rPr lang="en-US" altLang="ko-KR" sz="2000" b="0" i="0" dirty="0">
                <a:effectLst/>
                <a:latin typeface="fkGroteskNeue"/>
              </a:rPr>
              <a:t>,</a:t>
            </a:r>
            <a:r>
              <a:rPr lang="ko-KR" altLang="en-US" sz="2000" b="0" i="0" dirty="0">
                <a:effectLst/>
                <a:latin typeface="fkGroteskNeue"/>
              </a:rPr>
              <a:t> 정렬</a:t>
            </a:r>
            <a:r>
              <a:rPr lang="en-US" altLang="ko-KR" sz="2000" b="0" i="0" dirty="0">
                <a:effectLst/>
                <a:latin typeface="fkGroteskNeue"/>
              </a:rPr>
              <a:t>,</a:t>
            </a:r>
            <a:r>
              <a:rPr lang="ko-KR" altLang="en-US" sz="2000" b="0" i="0" dirty="0">
                <a:effectLst/>
                <a:latin typeface="fkGroteskNeue"/>
              </a:rPr>
              <a:t> 그룹화</a:t>
            </a:r>
            <a:endParaRPr lang="en-US" altLang="ko-KR" sz="2000" b="0" i="0" dirty="0">
              <a:effectLst/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2000" dirty="0" err="1">
                <a:latin typeface="fkGroteskNeue"/>
              </a:rPr>
              <a:t>결측치</a:t>
            </a:r>
            <a:r>
              <a:rPr lang="en-US" altLang="ko-KR" sz="2000" dirty="0">
                <a:latin typeface="fkGroteskNeue"/>
              </a:rPr>
              <a:t>(Nan)</a:t>
            </a:r>
            <a:r>
              <a:rPr lang="ko-KR" altLang="en-US" sz="2000" dirty="0">
                <a:latin typeface="fkGroteskNeue"/>
              </a:rPr>
              <a:t> 처리</a:t>
            </a:r>
            <a:endParaRPr lang="en-US" altLang="ko-KR" sz="2000" dirty="0"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2000" b="0" i="0" dirty="0">
                <a:effectLst/>
                <a:latin typeface="fkGroteskNeue"/>
              </a:rPr>
              <a:t>통계 계산</a:t>
            </a:r>
            <a:r>
              <a:rPr lang="en-US" altLang="ko-KR" sz="2000" b="0" i="0" dirty="0">
                <a:effectLst/>
                <a:latin typeface="fkGroteskNeue"/>
              </a:rPr>
              <a:t>(</a:t>
            </a:r>
            <a:r>
              <a:rPr lang="ko-KR" altLang="en-US" sz="2000" b="0" i="0" dirty="0">
                <a:effectLst/>
                <a:latin typeface="fkGroteskNeue"/>
              </a:rPr>
              <a:t>평균</a:t>
            </a:r>
            <a:r>
              <a:rPr lang="en-US" altLang="ko-KR" sz="2000" b="0" i="0" dirty="0">
                <a:effectLst/>
                <a:latin typeface="fkGroteskNeue"/>
              </a:rPr>
              <a:t>,</a:t>
            </a:r>
            <a:r>
              <a:rPr lang="ko-KR" altLang="en-US" sz="2000" b="0" i="0" dirty="0">
                <a:effectLst/>
                <a:latin typeface="fkGroteskNeue"/>
              </a:rPr>
              <a:t> 합계 등</a:t>
            </a:r>
            <a:r>
              <a:rPr lang="en-US" altLang="ko-KR" sz="2000" b="0" i="0" dirty="0">
                <a:effectLst/>
                <a:latin typeface="fkGroteskNeue"/>
              </a:rPr>
              <a:t>)</a:t>
            </a:r>
            <a:r>
              <a:rPr lang="ko-KR" altLang="en-US" sz="2000" b="0" i="0" dirty="0">
                <a:effectLst/>
                <a:latin typeface="fkGroteskNeue"/>
              </a:rPr>
              <a:t> </a:t>
            </a:r>
            <a:endParaRPr lang="en-US" altLang="ko-KR" sz="2000" b="0" i="0" dirty="0">
              <a:effectLst/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2000" dirty="0">
                <a:latin typeface="fkGroteskNeue"/>
              </a:rPr>
              <a:t>시간 데이터 처리 </a:t>
            </a:r>
            <a:endParaRPr lang="en-US" altLang="ko-KR" sz="2000" dirty="0"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2000" b="0" i="0" dirty="0">
                <a:effectLst/>
                <a:latin typeface="fkGroteskNeue"/>
              </a:rPr>
              <a:t>시각화와 연계 </a:t>
            </a:r>
            <a:r>
              <a:rPr lang="en-US" altLang="ko-KR" sz="2000" b="0" i="0" dirty="0">
                <a:effectLst/>
                <a:latin typeface="fkGroteskNeue"/>
              </a:rPr>
              <a:t>(</a:t>
            </a:r>
            <a:r>
              <a:rPr lang="en-US" altLang="ko-KR" sz="2000" dirty="0">
                <a:latin typeface="fkGroteskNeue"/>
              </a:rPr>
              <a:t>Matplotlib,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Seaborn</a:t>
            </a:r>
            <a:r>
              <a:rPr lang="ko-KR" altLang="en-US" sz="2000" dirty="0">
                <a:latin typeface="fkGroteskNeue"/>
              </a:rPr>
              <a:t> 등</a:t>
            </a:r>
            <a:r>
              <a:rPr lang="en-US" altLang="ko-KR" sz="2000" dirty="0">
                <a:latin typeface="fkGroteskNeue"/>
              </a:rPr>
              <a:t>)</a:t>
            </a:r>
            <a:r>
              <a:rPr lang="ko-KR" altLang="en-US" sz="2000" dirty="0">
                <a:latin typeface="fkGroteskNeue"/>
              </a:rPr>
              <a:t> </a:t>
            </a:r>
            <a:endParaRPr lang="en-US" altLang="ko-KR" sz="2000" b="0" i="0" dirty="0">
              <a:effectLst/>
              <a:latin typeface="fkGroteskNeue"/>
            </a:endParaRPr>
          </a:p>
          <a:p>
            <a:pPr>
              <a:lnSpc>
                <a:spcPct val="200000"/>
              </a:lnSpc>
            </a:pP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AB0182C-5FDF-AE4B-9F3E-913BF574D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011" y="1483424"/>
            <a:ext cx="5387693" cy="38083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EEDA91-2B06-6A42-A2D9-4C7530078FAA}"/>
              </a:ext>
            </a:extLst>
          </p:cNvPr>
          <p:cNvSpPr txBox="1"/>
          <p:nvPr/>
        </p:nvSpPr>
        <p:spPr>
          <a:xfrm>
            <a:off x="4646665" y="4350740"/>
            <a:ext cx="95200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 err="1"/>
              <a:t>pandas</a:t>
            </a:r>
            <a:r>
              <a:rPr lang="ko-KR" altLang="en-US" sz="1100" dirty="0"/>
              <a:t> 로고 © </a:t>
            </a:r>
            <a:r>
              <a:rPr lang="ko-KR" altLang="en-US" sz="1100" dirty="0" err="1"/>
              <a:t>pandas</a:t>
            </a:r>
            <a:r>
              <a:rPr lang="ko-KR" altLang="en-US" sz="1100" dirty="0"/>
              <a:t> 프로젝트  </a:t>
            </a:r>
          </a:p>
          <a:p>
            <a:pPr algn="ctr"/>
            <a:r>
              <a:rPr lang="ko-KR" altLang="en-US" sz="1100" dirty="0"/>
              <a:t>출처: </a:t>
            </a:r>
            <a:r>
              <a:rPr lang="ko-KR" altLang="en-US" sz="1100" dirty="0">
                <a:hlinkClick r:id="rId3"/>
              </a:rPr>
              <a:t>https://logowik.com/pandas-logo-vector-svg-png-free-download-22087.html</a:t>
            </a:r>
            <a:endParaRPr lang="en-US" altLang="ko-KR" sz="1100" dirty="0"/>
          </a:p>
          <a:p>
            <a:pPr algn="ctr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281456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6C194C0-9961-D34F-9922-52BAA3C5D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215900"/>
            <a:ext cx="8953500" cy="642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324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Pandas</a:t>
            </a:r>
            <a:r>
              <a:rPr kumimoji="1" lang="ko-KR" altLang="en-US" sz="5400" b="1" dirty="0" err="1">
                <a:latin typeface="+mj-ea"/>
              </a:rPr>
              <a:t>를</a:t>
            </a:r>
            <a:r>
              <a:rPr kumimoji="1" lang="ko-KR" altLang="en-US" sz="5400" b="1" dirty="0">
                <a:latin typeface="+mj-ea"/>
              </a:rPr>
              <a:t> 쓰면 좋은 이유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729352"/>
            <a:ext cx="10838688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dirty="0"/>
              <a:t>대용량 데이터를 빠르게 다룰 수 있음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dirty="0" err="1"/>
              <a:t>머신러닝</a:t>
            </a:r>
            <a:r>
              <a:rPr lang="en-US" altLang="ko-KR" dirty="0"/>
              <a:t>/</a:t>
            </a:r>
            <a:r>
              <a:rPr lang="en" altLang="ko-KR" dirty="0"/>
              <a:t>AI</a:t>
            </a:r>
            <a:r>
              <a:rPr lang="ko-KR" altLang="en-US" dirty="0"/>
              <a:t>에서 기본 데이터 처리 도구로 많이 사용됨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dirty="0"/>
              <a:t>SQL</a:t>
            </a:r>
            <a:r>
              <a:rPr lang="ko-KR" altLang="en-US" dirty="0"/>
              <a:t>이나 엑셀보다 더 유연하고 프로그래밍적으로 조작 가능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4D73A9-9277-2C49-ABCC-B699DFE42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57" y="3161893"/>
            <a:ext cx="5073413" cy="3586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D544B9-E963-E443-9407-6ADD1CCEE73F}"/>
              </a:ext>
            </a:extLst>
          </p:cNvPr>
          <p:cNvSpPr txBox="1"/>
          <p:nvPr/>
        </p:nvSpPr>
        <p:spPr>
          <a:xfrm>
            <a:off x="1757502" y="5755471"/>
            <a:ext cx="95200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 err="1"/>
              <a:t>pandas</a:t>
            </a:r>
            <a:r>
              <a:rPr lang="ko-KR" altLang="en-US" sz="1100" dirty="0"/>
              <a:t> 로고 © </a:t>
            </a:r>
            <a:r>
              <a:rPr lang="ko-KR" altLang="en-US" sz="1100" dirty="0" err="1"/>
              <a:t>pandas</a:t>
            </a:r>
            <a:r>
              <a:rPr lang="ko-KR" altLang="en-US" sz="1100" dirty="0"/>
              <a:t> 프로젝트  </a:t>
            </a:r>
          </a:p>
          <a:p>
            <a:pPr algn="ctr"/>
            <a:r>
              <a:rPr lang="ko-KR" altLang="en-US" sz="1100" dirty="0"/>
              <a:t>출처: </a:t>
            </a:r>
            <a:r>
              <a:rPr lang="ko-KR" altLang="en-US" sz="1100" dirty="0">
                <a:hlinkClick r:id="rId3"/>
              </a:rPr>
              <a:t>https://logowik.com/pandas-logo-vector-svg-png-free-download-22087.html</a:t>
            </a:r>
            <a:endParaRPr lang="en-US" altLang="ko-KR" sz="1100" dirty="0"/>
          </a:p>
          <a:p>
            <a:pPr algn="ctr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6477625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구조 다루기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54218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구조 다루기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925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출력 및 탐색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65915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정제 및 가공 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3812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병합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밑 그룹화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33654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데이터 병합 및 그룹화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533400" y="1483424"/>
            <a:ext cx="10838688" cy="3356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2400" dirty="0">
                <a:latin typeface="fkGroteskNeue"/>
              </a:rPr>
              <a:t> Merge() : </a:t>
            </a:r>
            <a:r>
              <a:rPr lang="ko-KR" altLang="en-US" sz="2400" dirty="0">
                <a:latin typeface="fkGroteskNeue"/>
              </a:rPr>
              <a:t>데이터프레임 병합  </a:t>
            </a:r>
            <a:endParaRPr lang="en-US" altLang="ko-KR" sz="2400" dirty="0"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2400" dirty="0">
                <a:latin typeface="fkGroteskNeue"/>
              </a:rPr>
              <a:t> </a:t>
            </a:r>
            <a:r>
              <a:rPr lang="en-US" altLang="ko-KR" sz="2400" dirty="0" err="1">
                <a:latin typeface="fkGroteskNeue"/>
              </a:rPr>
              <a:t>Concat</a:t>
            </a:r>
            <a:r>
              <a:rPr lang="en-US" altLang="ko-KR" sz="2400" dirty="0">
                <a:latin typeface="fkGroteskNeue"/>
              </a:rPr>
              <a:t>()</a:t>
            </a:r>
            <a:r>
              <a:rPr lang="ko-KR" altLang="en-US" sz="2400" dirty="0">
                <a:latin typeface="fkGroteskNeue"/>
              </a:rPr>
              <a:t> </a:t>
            </a:r>
            <a:r>
              <a:rPr lang="en-US" altLang="ko-KR" sz="2400" dirty="0">
                <a:latin typeface="fkGroteskNeue"/>
              </a:rPr>
              <a:t>:</a:t>
            </a:r>
            <a:r>
              <a:rPr lang="ko-KR" altLang="en-US" sz="2400" dirty="0">
                <a:latin typeface="fkGroteskNeue"/>
              </a:rPr>
              <a:t> </a:t>
            </a:r>
            <a:r>
              <a:rPr lang="ko-KR" altLang="en-US" sz="2400" dirty="0"/>
              <a:t>데이터프레임 연결</a:t>
            </a:r>
            <a:endParaRPr lang="en-US" altLang="ko-KR" sz="2400" dirty="0"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2400" dirty="0">
                <a:latin typeface="fkGroteskNeue"/>
              </a:rPr>
              <a:t> </a:t>
            </a:r>
            <a:r>
              <a:rPr lang="en-US" altLang="ko-KR" sz="2400" dirty="0" err="1">
                <a:latin typeface="fkGroteskNeue"/>
              </a:rPr>
              <a:t>Groupby</a:t>
            </a:r>
            <a:r>
              <a:rPr lang="en-US" altLang="ko-KR" sz="2400" dirty="0">
                <a:latin typeface="fkGroteskNeue"/>
              </a:rPr>
              <a:t>() :</a:t>
            </a:r>
            <a:r>
              <a:rPr lang="ko-KR" altLang="en-US" sz="2400" dirty="0">
                <a:latin typeface="fkGroteskNeue"/>
              </a:rPr>
              <a:t> </a:t>
            </a:r>
            <a:r>
              <a:rPr lang="ko-KR" altLang="en-US" sz="2400" dirty="0"/>
              <a:t>데이터 그룹화</a:t>
            </a:r>
            <a:endParaRPr lang="en-US" altLang="ko-KR" sz="2400" dirty="0"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2400" dirty="0">
                <a:latin typeface="fkGroteskNeue"/>
              </a:rPr>
              <a:t> </a:t>
            </a:r>
            <a:r>
              <a:rPr lang="en-US" altLang="ko-KR" sz="2400" dirty="0" err="1">
                <a:latin typeface="fkGroteskNeue"/>
              </a:rPr>
              <a:t>Value_counts</a:t>
            </a:r>
            <a:r>
              <a:rPr lang="en-US" altLang="ko-KR" sz="2400" dirty="0">
                <a:latin typeface="fkGroteskNeue"/>
              </a:rPr>
              <a:t>()</a:t>
            </a:r>
            <a:r>
              <a:rPr lang="ko-KR" altLang="en-US" sz="2400" dirty="0">
                <a:latin typeface="fkGroteskNeue"/>
              </a:rPr>
              <a:t> </a:t>
            </a:r>
            <a:r>
              <a:rPr lang="en-US" altLang="ko-KR" sz="2400" dirty="0">
                <a:latin typeface="fkGroteskNeue"/>
              </a:rPr>
              <a:t>:</a:t>
            </a:r>
            <a:r>
              <a:rPr lang="ko-KR" altLang="en-US" sz="2400" dirty="0">
                <a:latin typeface="fkGroteskNeue"/>
              </a:rPr>
              <a:t> </a:t>
            </a:r>
            <a:r>
              <a:rPr lang="ko-KR" altLang="en-US" sz="2400" dirty="0" err="1"/>
              <a:t>고유값</a:t>
            </a:r>
            <a:r>
              <a:rPr lang="ko-KR" altLang="en-US" sz="2400" dirty="0"/>
              <a:t> 개수 계산</a:t>
            </a:r>
            <a:endParaRPr lang="en-US" altLang="ko-KR" sz="2400" dirty="0"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2400" dirty="0">
                <a:latin typeface="fkGroteskNeue"/>
              </a:rPr>
              <a:t> Agg()</a:t>
            </a:r>
            <a:r>
              <a:rPr lang="ko-KR" altLang="en-US" sz="2400" dirty="0">
                <a:latin typeface="fkGroteskNeue"/>
              </a:rPr>
              <a:t> </a:t>
            </a:r>
            <a:r>
              <a:rPr lang="en-US" altLang="ko-KR" sz="2400" dirty="0">
                <a:latin typeface="fkGroteskNeue"/>
              </a:rPr>
              <a:t>:</a:t>
            </a:r>
            <a:r>
              <a:rPr lang="ko-KR" altLang="en-US" sz="2400" dirty="0">
                <a:latin typeface="fkGroteskNeue"/>
              </a:rPr>
              <a:t> </a:t>
            </a:r>
            <a:r>
              <a:rPr lang="en" altLang="ko-KR" sz="2400" dirty="0"/>
              <a:t>(aggregate): </a:t>
            </a:r>
            <a:r>
              <a:rPr lang="ko-KR" altLang="en-US" sz="2400" dirty="0"/>
              <a:t>다중 집계 작업</a:t>
            </a:r>
            <a:endParaRPr lang="en-US" altLang="ko-KR" sz="2400" dirty="0"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en-US" altLang="ko-KR" sz="2400" dirty="0">
                <a:latin typeface="fkGroteskNeue"/>
              </a:rPr>
              <a:t> Cut() :</a:t>
            </a:r>
            <a:r>
              <a:rPr lang="ko-KR" altLang="en-US" sz="2400" dirty="0">
                <a:latin typeface="fkGroteskNeue"/>
              </a:rPr>
              <a:t> </a:t>
            </a:r>
            <a:r>
              <a:rPr lang="ko-KR" altLang="en-US" sz="2400" dirty="0"/>
              <a:t>데이터 구간 나누기</a:t>
            </a:r>
            <a:endParaRPr lang="en-US" altLang="ko-KR" sz="2400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2046996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Merge()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93C6AB-2351-DC43-8F27-A6F4BF0F5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758" y="94475"/>
            <a:ext cx="7508868" cy="598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555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Concat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1551E0-C640-C240-9B4D-36FE509C8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274" y="689113"/>
            <a:ext cx="8755730" cy="601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980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Groupby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DC9A59-CAF0-C94F-90CD-9D99E1B2E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920" y="808381"/>
            <a:ext cx="7821126" cy="561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825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202095" y="-107183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Value_counts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A226A4-BC04-1646-981D-4B6A30C4F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878" y="910862"/>
            <a:ext cx="8256105" cy="566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4190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-2965174" y="2673453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ko-KR" sz="5400" b="1" dirty="0">
                <a:latin typeface="+mj-ea"/>
              </a:rPr>
              <a:t>Agg() </a:t>
            </a:r>
          </a:p>
          <a:p>
            <a:pPr algn="ctr"/>
            <a:r>
              <a:rPr kumimoji="1" lang="en-US" altLang="ko-KR" sz="5400" b="1" dirty="0">
                <a:latin typeface="+mj-ea"/>
              </a:rPr>
              <a:t>(aggregate)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683F65-0883-3C47-92BE-0B836DBBB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260" y="321365"/>
            <a:ext cx="7934740" cy="621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348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725B91-1F04-4C46-BDBF-6EAD57CED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748" y="100005"/>
            <a:ext cx="7407302" cy="6650811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25E83CC-0DC6-9A4A-9E10-DDA8C714D3E0}"/>
              </a:ext>
            </a:extLst>
          </p:cNvPr>
          <p:cNvSpPr txBox="1">
            <a:spLocks/>
          </p:cNvSpPr>
          <p:nvPr/>
        </p:nvSpPr>
        <p:spPr>
          <a:xfrm>
            <a:off x="1120140" y="2951164"/>
            <a:ext cx="26699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Cut()</a:t>
            </a:r>
            <a:endParaRPr kumimoji="1" lang="ko-KR" altLang="en-US" sz="5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990029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시각화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(plot) </a:t>
            </a:r>
          </a:p>
        </p:txBody>
      </p:sp>
    </p:spTree>
    <p:extLst>
      <p:ext uri="{BB962C8B-B14F-4D97-AF65-F5344CB8AC3E}">
        <p14:creationId xmlns:p14="http://schemas.microsoft.com/office/powerpoint/2010/main" val="10111176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A0F45-33A3-5D4F-B428-40BC2E203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0435"/>
            <a:ext cx="10515600" cy="1020417"/>
          </a:xfrm>
        </p:spPr>
        <p:txBody>
          <a:bodyPr>
            <a:normAutofit/>
          </a:bodyPr>
          <a:lstStyle/>
          <a:p>
            <a:r>
              <a:rPr kumimoji="1" lang="en-US" altLang="ko-KR" sz="4800" b="1" dirty="0"/>
              <a:t>Pandas</a:t>
            </a:r>
            <a:r>
              <a:rPr kumimoji="1" lang="ko-KR" altLang="en-US" sz="4800" b="1" dirty="0"/>
              <a:t>도 데이터 시각화 가능한가요</a:t>
            </a:r>
            <a:r>
              <a:rPr kumimoji="1" lang="en-US" altLang="ko-KR" sz="4800" b="1" dirty="0"/>
              <a:t>?</a:t>
            </a:r>
            <a:endParaRPr kumimoji="1"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7187895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A0F45-33A3-5D4F-B428-40BC2E203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0435"/>
            <a:ext cx="10515600" cy="1020417"/>
          </a:xfrm>
        </p:spPr>
        <p:txBody>
          <a:bodyPr>
            <a:normAutofit/>
          </a:bodyPr>
          <a:lstStyle/>
          <a:p>
            <a:pPr algn="ctr"/>
            <a:r>
              <a:rPr kumimoji="1" lang="ko-KR" altLang="en-US" sz="4800" b="1" dirty="0"/>
              <a:t>네 가능합니다</a:t>
            </a:r>
          </a:p>
        </p:txBody>
      </p:sp>
    </p:spTree>
    <p:extLst>
      <p:ext uri="{BB962C8B-B14F-4D97-AF65-F5344CB8AC3E}">
        <p14:creationId xmlns:p14="http://schemas.microsoft.com/office/powerpoint/2010/main" val="42927436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BD384A6-5560-6A43-9A4D-25787F729793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533400" y="2040836"/>
            <a:ext cx="10838688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fkGroteskNeue"/>
              </a:rPr>
              <a:t> </a:t>
            </a:r>
            <a:r>
              <a:rPr lang="en-US" altLang="ko-KR" sz="2400" dirty="0" err="1">
                <a:latin typeface="fkGroteskNeue"/>
              </a:rPr>
              <a:t>df.plot</a:t>
            </a:r>
            <a:r>
              <a:rPr lang="en-US" altLang="ko-KR" sz="2400" dirty="0">
                <a:latin typeface="fkGroteskNeue"/>
              </a:rPr>
              <a:t>(</a:t>
            </a:r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fkGroteskNeue"/>
              </a:rPr>
              <a:t> x = </a:t>
            </a:r>
            <a:r>
              <a:rPr lang="en-US" altLang="ko-KR" sz="2400" dirty="0">
                <a:solidFill>
                  <a:srgbClr val="00B050"/>
                </a:solidFill>
                <a:latin typeface="fkGroteskNeue"/>
              </a:rPr>
              <a:t>None</a:t>
            </a:r>
            <a:r>
              <a:rPr lang="en-US" altLang="ko-KR" sz="2400" dirty="0">
                <a:latin typeface="fkGroteskNeue"/>
              </a:rPr>
              <a:t>, y = </a:t>
            </a:r>
            <a:r>
              <a:rPr lang="en-US" altLang="ko-KR" sz="2400" dirty="0">
                <a:solidFill>
                  <a:srgbClr val="00B050"/>
                </a:solidFill>
                <a:latin typeface="fkGroteskNeue"/>
              </a:rPr>
              <a:t>None</a:t>
            </a:r>
            <a:r>
              <a:rPr lang="en-US" altLang="ko-KR" sz="2400" dirty="0">
                <a:latin typeface="fkGroteskNeue"/>
              </a:rPr>
              <a:t>,  kind = ‘</a:t>
            </a:r>
            <a:r>
              <a:rPr lang="en-US" altLang="ko-KR" sz="2400" dirty="0">
                <a:solidFill>
                  <a:srgbClr val="00B050"/>
                </a:solidFill>
                <a:latin typeface="fkGroteskNeue"/>
              </a:rPr>
              <a:t>line</a:t>
            </a:r>
            <a:r>
              <a:rPr lang="en-US" altLang="ko-KR" sz="2400" dirty="0">
                <a:latin typeface="fkGroteskNeue"/>
              </a:rPr>
              <a:t>’,  title = </a:t>
            </a:r>
            <a:r>
              <a:rPr lang="en-US" altLang="ko-KR" sz="2400" dirty="0">
                <a:solidFill>
                  <a:srgbClr val="00B050"/>
                </a:solidFill>
                <a:latin typeface="fkGroteskNeue"/>
              </a:rPr>
              <a:t>None</a:t>
            </a:r>
            <a:r>
              <a:rPr lang="en-US" altLang="ko-KR" sz="2400" dirty="0">
                <a:latin typeface="fkGroteskNeue"/>
              </a:rPr>
              <a:t>,  </a:t>
            </a:r>
            <a:r>
              <a:rPr lang="en-US" altLang="ko-KR" sz="2400" dirty="0" err="1">
                <a:latin typeface="fkGroteskNeue"/>
              </a:rPr>
              <a:t>xlabel</a:t>
            </a:r>
            <a:r>
              <a:rPr lang="en-US" altLang="ko-KR" sz="2400" dirty="0">
                <a:latin typeface="fkGroteskNeue"/>
              </a:rPr>
              <a:t> = </a:t>
            </a:r>
            <a:r>
              <a:rPr lang="en-US" altLang="ko-KR" sz="2400" dirty="0">
                <a:solidFill>
                  <a:srgbClr val="00B050"/>
                </a:solidFill>
                <a:latin typeface="fkGroteskNeue"/>
              </a:rPr>
              <a:t>None</a:t>
            </a:r>
            <a:r>
              <a:rPr lang="en-US" altLang="ko-KR" sz="2400" dirty="0">
                <a:latin typeface="fkGroteskNeue"/>
              </a:rPr>
              <a:t>, </a:t>
            </a:r>
          </a:p>
          <a:p>
            <a:pPr lvl="1">
              <a:lnSpc>
                <a:spcPct val="150000"/>
              </a:lnSpc>
            </a:pPr>
            <a:r>
              <a:rPr lang="en-US" altLang="ko-KR" sz="2400" dirty="0">
                <a:latin typeface="fkGroteskNeue"/>
              </a:rPr>
              <a:t> </a:t>
            </a:r>
            <a:r>
              <a:rPr lang="en-US" altLang="ko-KR" sz="2400" dirty="0" err="1">
                <a:latin typeface="fkGroteskNeue"/>
              </a:rPr>
              <a:t>ylabel</a:t>
            </a:r>
            <a:r>
              <a:rPr lang="en-US" altLang="ko-KR" sz="2400" dirty="0">
                <a:latin typeface="fkGroteskNeue"/>
              </a:rPr>
              <a:t> = </a:t>
            </a:r>
            <a:r>
              <a:rPr lang="en-US" altLang="ko-KR" sz="2400" dirty="0">
                <a:solidFill>
                  <a:srgbClr val="00B050"/>
                </a:solidFill>
                <a:latin typeface="fkGroteskNeue"/>
              </a:rPr>
              <a:t>None</a:t>
            </a:r>
            <a:r>
              <a:rPr lang="en-US" altLang="ko-KR" sz="2400" dirty="0">
                <a:latin typeface="fkGroteskNeue"/>
              </a:rPr>
              <a:t>,  legend = </a:t>
            </a:r>
            <a:r>
              <a:rPr lang="en-US" altLang="ko-KR" sz="2400" dirty="0">
                <a:solidFill>
                  <a:srgbClr val="00B050"/>
                </a:solidFill>
                <a:latin typeface="fkGroteskNeue"/>
              </a:rPr>
              <a:t>True 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fkGroteskNeue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62103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888690" y="1594940"/>
            <a:ext cx="10838688" cy="368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</a:t>
            </a:r>
            <a:r>
              <a:rPr lang="ko-KR" altLang="en-US" sz="2000" dirty="0" err="1">
                <a:latin typeface="fkGroteskNeue"/>
              </a:rPr>
              <a:t>선그래프</a:t>
            </a:r>
            <a:r>
              <a:rPr lang="ko-KR" altLang="en-US" sz="2000" dirty="0">
                <a:latin typeface="fkGroteskNeue"/>
              </a:rPr>
              <a:t>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막대 그래프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히스토그램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박스 그래프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파이 차트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</a:t>
            </a:r>
            <a:r>
              <a:rPr lang="ko-KR" altLang="en-US" sz="2000" dirty="0" err="1"/>
              <a:t>산점도</a:t>
            </a:r>
            <a:r>
              <a:rPr lang="ko-KR" altLang="en-US" sz="2000" dirty="0"/>
              <a:t>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AB0182C-5FDF-AE4B-9F3E-913BF574D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011" y="1342084"/>
            <a:ext cx="5387693" cy="38083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EEDA91-2B06-6A42-A2D9-4C7530078FAA}"/>
              </a:ext>
            </a:extLst>
          </p:cNvPr>
          <p:cNvSpPr txBox="1"/>
          <p:nvPr/>
        </p:nvSpPr>
        <p:spPr>
          <a:xfrm>
            <a:off x="4646665" y="4350740"/>
            <a:ext cx="95200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 err="1"/>
              <a:t>pandas</a:t>
            </a:r>
            <a:r>
              <a:rPr lang="ko-KR" altLang="en-US" sz="1100" dirty="0"/>
              <a:t> 로고 © </a:t>
            </a:r>
            <a:r>
              <a:rPr lang="ko-KR" altLang="en-US" sz="1100" dirty="0" err="1"/>
              <a:t>pandas</a:t>
            </a:r>
            <a:r>
              <a:rPr lang="ko-KR" altLang="en-US" sz="1100" dirty="0"/>
              <a:t> 프로젝트  </a:t>
            </a:r>
          </a:p>
          <a:p>
            <a:pPr algn="ctr"/>
            <a:r>
              <a:rPr lang="ko-KR" altLang="en-US" sz="1100" dirty="0"/>
              <a:t>출처: </a:t>
            </a:r>
            <a:r>
              <a:rPr lang="ko-KR" altLang="en-US" sz="1100" dirty="0">
                <a:hlinkClick r:id="rId3"/>
              </a:rPr>
              <a:t>https://logowik.com/pandas-logo-vector-svg-png-free-download-22087.html</a:t>
            </a:r>
            <a:endParaRPr lang="en-US" altLang="ko-KR" sz="1100" dirty="0"/>
          </a:p>
          <a:p>
            <a:pPr algn="ctr"/>
            <a:endParaRPr lang="ko-KR" altLang="en-US" sz="11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()</a:t>
            </a:r>
            <a:endParaRPr kumimoji="1" lang="ko-KR" altLang="en-US" sz="5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88209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20148" y="43448"/>
            <a:ext cx="1073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() or </a:t>
            </a:r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(kind = ‘line’)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BF40A2-C9C0-C44C-B87A-3C9CFFC08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472" y="1369011"/>
            <a:ext cx="6729501" cy="493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660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1073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(kind = ‘bar ‘) 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15D6CF-B1BC-F041-8202-B9435715C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1378226"/>
            <a:ext cx="6790417" cy="494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791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1073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(kind = ‘</a:t>
            </a:r>
            <a:r>
              <a:rPr kumimoji="1" lang="en-US" altLang="ko-KR" sz="5400" b="1" dirty="0" err="1">
                <a:latin typeface="+mj-ea"/>
              </a:rPr>
              <a:t>barh</a:t>
            </a:r>
            <a:r>
              <a:rPr kumimoji="1" lang="en-US" altLang="ko-KR" sz="5400" b="1" dirty="0">
                <a:latin typeface="+mj-ea"/>
              </a:rPr>
              <a:t> ‘) 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1BA484-A467-804E-B4D3-4553C35F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1483424"/>
            <a:ext cx="6622775" cy="486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148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1073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(kind = ‘hist‘) 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75AAEA-6A39-2847-B87E-5831D7E8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358" y="1483424"/>
            <a:ext cx="6621875" cy="487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9873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1073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(kind = ‘box‘) 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A055DB-3AEB-2E4A-BE58-91FC14060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1408848"/>
            <a:ext cx="6718300" cy="4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020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1073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(kind = ‘pie’) 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BDE757-0EC9-324D-A7EC-5DFCC711F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350" y="1483424"/>
            <a:ext cx="4644406" cy="486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201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10730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df.plot</a:t>
            </a:r>
            <a:r>
              <a:rPr kumimoji="1" lang="en-US" altLang="ko-KR" sz="5400" b="1" dirty="0">
                <a:latin typeface="+mj-ea"/>
              </a:rPr>
              <a:t>(kind = ‘scatter’) 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E8C30F-19B0-C149-879E-34D30BEC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50" y="1325216"/>
            <a:ext cx="6836614" cy="499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4154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-111125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489687-9F5C-FD4E-AB58-03194E5D6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7" y="2140903"/>
            <a:ext cx="5044439" cy="10088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4AD647-1304-8042-8ABD-4329745B9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213" y="3330956"/>
            <a:ext cx="4620768" cy="132385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60D6E3F1-95A6-3044-ADF0-64FF648F44D1}"/>
              </a:ext>
            </a:extLst>
          </p:cNvPr>
          <p:cNvSpPr txBox="1">
            <a:spLocks/>
          </p:cNvSpPr>
          <p:nvPr/>
        </p:nvSpPr>
        <p:spPr>
          <a:xfrm>
            <a:off x="377952" y="2082801"/>
            <a:ext cx="620572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시각화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실습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79231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Matplotlib 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소개 및 설치 방법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7658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Seaborn 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소개 및 설치 방법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8197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533400" y="1581280"/>
            <a:ext cx="11128513" cy="246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" altLang="ko-KR" sz="2000" b="0" i="0" dirty="0">
                <a:effectLst/>
                <a:latin typeface="fkGroteskNeue"/>
              </a:rPr>
              <a:t>Seaborn</a:t>
            </a:r>
            <a:r>
              <a:rPr lang="ko-KR" altLang="en-US" sz="2000" b="0" i="0" dirty="0">
                <a:effectLst/>
                <a:latin typeface="fkGroteskNeue"/>
              </a:rPr>
              <a:t>은 </a:t>
            </a:r>
            <a:r>
              <a:rPr lang="ko-KR" altLang="en-US" sz="2000" b="0" i="0" dirty="0" err="1">
                <a:effectLst/>
                <a:latin typeface="fkGroteskNeue"/>
              </a:rPr>
              <a:t>파이썬에서</a:t>
            </a:r>
            <a:r>
              <a:rPr lang="ko-KR" altLang="en-US" sz="2000" b="0" i="0" dirty="0">
                <a:effectLst/>
                <a:latin typeface="fkGroteskNeue"/>
              </a:rPr>
              <a:t> 데이터 시각화를 위해 널리 사용되는 라이브러리로</a:t>
            </a:r>
            <a:r>
              <a:rPr lang="en-US" altLang="ko-KR" sz="2000" b="0" i="0" dirty="0">
                <a:effectLst/>
                <a:latin typeface="fkGroteskNeue"/>
              </a:rPr>
              <a:t>, </a:t>
            </a:r>
            <a:r>
              <a:rPr lang="en" altLang="ko-KR" sz="2000" b="0" i="0" dirty="0">
                <a:effectLst/>
                <a:latin typeface="fkGroteskNeue"/>
              </a:rPr>
              <a:t>matplotlib</a:t>
            </a:r>
            <a:r>
              <a:rPr lang="ko-KR" altLang="en-US" sz="2000" b="0" i="0" dirty="0">
                <a:effectLst/>
                <a:latin typeface="fkGroteskNeue"/>
              </a:rPr>
              <a:t>을 기반으로 하여 통계적 데이터 시각화를 더욱 간단하고 아름답게 만들어줍니다</a:t>
            </a:r>
            <a:r>
              <a:rPr lang="en-US" altLang="ko-KR" sz="2000" b="0" i="0" dirty="0">
                <a:effectLst/>
                <a:latin typeface="fkGroteskNeue"/>
              </a:rPr>
              <a:t>.</a:t>
            </a:r>
            <a:r>
              <a:rPr lang="ko-KR" altLang="en-US" sz="2000" b="0" i="0" dirty="0">
                <a:effectLst/>
                <a:latin typeface="fkGroteskNeue"/>
              </a:rPr>
              <a:t> 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ko-KR" altLang="en-US" sz="2000" b="0" i="0" dirty="0">
                <a:effectLst/>
                <a:latin typeface="fkGroteskNeue"/>
              </a:rPr>
              <a:t>주로 데이터 분석 및 탐색 과정에서 데이터의 분포</a:t>
            </a:r>
            <a:r>
              <a:rPr lang="en-US" altLang="ko-KR" sz="2000" b="0" i="0" dirty="0">
                <a:effectLst/>
                <a:latin typeface="fkGroteskNeue"/>
              </a:rPr>
              <a:t>, </a:t>
            </a:r>
            <a:r>
              <a:rPr lang="ko-KR" altLang="en-US" sz="2000" b="0" i="0" dirty="0">
                <a:effectLst/>
                <a:latin typeface="fkGroteskNeue"/>
              </a:rPr>
              <a:t>관계</a:t>
            </a:r>
            <a:r>
              <a:rPr lang="en-US" altLang="ko-KR" sz="2000" b="0" i="0" dirty="0">
                <a:effectLst/>
                <a:latin typeface="fkGroteskNeue"/>
              </a:rPr>
              <a:t>, </a:t>
            </a:r>
            <a:r>
              <a:rPr lang="ko-KR" altLang="en-US" sz="2000" b="0" i="0" dirty="0">
                <a:effectLst/>
                <a:latin typeface="fkGroteskNeue"/>
              </a:rPr>
              <a:t>카테고리 간의 차이 등을 시각적으로 확인할 때 활용되며</a:t>
            </a:r>
            <a:r>
              <a:rPr lang="en-US" altLang="ko-KR" sz="2000" b="0" i="0" dirty="0">
                <a:effectLst/>
                <a:latin typeface="fkGroteskNeue"/>
              </a:rPr>
              <a:t>, </a:t>
            </a:r>
            <a:r>
              <a:rPr lang="en" altLang="ko-KR" sz="2000" b="0" i="0" dirty="0">
                <a:effectLst/>
                <a:latin typeface="fkGroteskNeue"/>
              </a:rPr>
              <a:t>pandas </a:t>
            </a:r>
            <a:r>
              <a:rPr lang="ko-KR" altLang="en-US" sz="2000" b="0" i="0" dirty="0">
                <a:effectLst/>
                <a:latin typeface="fkGroteskNeue"/>
              </a:rPr>
              <a:t>데이터프레임과의 높은 호환성을 자랑합니다</a:t>
            </a:r>
            <a:endParaRPr lang="ko-KR" alt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EDA91-2B06-6A42-A2D9-4C7530078FAA}"/>
              </a:ext>
            </a:extLst>
          </p:cNvPr>
          <p:cNvSpPr txBox="1"/>
          <p:nvPr/>
        </p:nvSpPr>
        <p:spPr>
          <a:xfrm>
            <a:off x="1227416" y="6106806"/>
            <a:ext cx="95200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Seaborn </a:t>
            </a:r>
            <a:r>
              <a:rPr lang="ko-KR" altLang="en-US" sz="1100" dirty="0"/>
              <a:t>로고 출처</a:t>
            </a:r>
            <a:r>
              <a:rPr lang="en-US" altLang="ko-KR" sz="1100" dirty="0"/>
              <a:t>: </a:t>
            </a:r>
            <a:r>
              <a:rPr lang="en" altLang="ko-KR" sz="1100" dirty="0">
                <a:hlinkClick r:id="rId2"/>
              </a:rPr>
              <a:t>https://seeklogo.com/vector-logo/441844/seaborn</a:t>
            </a:r>
            <a:r>
              <a:rPr lang="ko-KR" altLang="en-US" sz="1100" dirty="0"/>
              <a:t> </a:t>
            </a:r>
            <a:r>
              <a:rPr lang="en" altLang="ko-KR" sz="1100" dirty="0"/>
              <a:t> </a:t>
            </a:r>
          </a:p>
          <a:p>
            <a:pPr algn="ctr"/>
            <a:r>
              <a:rPr lang="en" altLang="ko-KR" sz="1100" dirty="0"/>
              <a:t>(</a:t>
            </a:r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en" altLang="ko-KR" sz="1100" dirty="0" err="1"/>
              <a:t>seeklogo.com</a:t>
            </a:r>
            <a:r>
              <a:rPr lang="en" altLang="ko-KR" sz="1100" dirty="0"/>
              <a:t>)</a:t>
            </a:r>
            <a:endParaRPr lang="ko-KR" altLang="en-US" sz="11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Seaborn</a:t>
            </a:r>
            <a:r>
              <a:rPr kumimoji="1" lang="ko-KR" altLang="en-US" sz="5400" b="1" dirty="0">
                <a:latin typeface="+mj-ea"/>
              </a:rPr>
              <a:t>이란</a:t>
            </a:r>
            <a:r>
              <a:rPr kumimoji="1" lang="en-US" altLang="ko-KR" sz="5400" b="1" dirty="0">
                <a:latin typeface="+mj-ea"/>
              </a:rPr>
              <a:t>?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687BDC-430D-224D-8581-A8C45FEA9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458" y="4145004"/>
            <a:ext cx="1948590" cy="194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921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533400" y="1727462"/>
            <a:ext cx="10256388" cy="3081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</a:t>
            </a:r>
            <a:r>
              <a:rPr lang="ko-KR" altLang="en-US" sz="2000" dirty="0">
                <a:latin typeface="fkGroteskNeue"/>
              </a:rPr>
              <a:t> 간단한 사용법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 Pandas</a:t>
            </a:r>
            <a:r>
              <a:rPr lang="ko-KR" altLang="en-US" sz="2000" dirty="0" err="1">
                <a:latin typeface="fkGroteskNeue"/>
              </a:rPr>
              <a:t>와의</a:t>
            </a:r>
            <a:r>
              <a:rPr lang="ko-KR" altLang="en-US" sz="2000" dirty="0">
                <a:latin typeface="fkGroteskNeue"/>
              </a:rPr>
              <a:t> 통합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 다양한 고급 그래프 </a:t>
            </a:r>
            <a:r>
              <a:rPr lang="en-US" altLang="ko-KR" sz="2000" dirty="0">
                <a:latin typeface="fkGroteskNeue"/>
              </a:rPr>
              <a:t>(heatmap, boxplot, </a:t>
            </a:r>
            <a:r>
              <a:rPr lang="en-US" altLang="ko-KR" sz="2000" dirty="0" err="1">
                <a:latin typeface="fkGroteskNeue"/>
              </a:rPr>
              <a:t>kde</a:t>
            </a:r>
            <a:r>
              <a:rPr lang="en-US" altLang="ko-KR" sz="2000" dirty="0">
                <a:latin typeface="fkGroteskNeue"/>
              </a:rPr>
              <a:t> plot, violin plot)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</a:t>
            </a:r>
            <a:r>
              <a:rPr lang="ko-KR" altLang="en-US" sz="2000" dirty="0">
                <a:latin typeface="fkGroteskNeue"/>
              </a:rPr>
              <a:t>통계 기능 내장 </a:t>
            </a:r>
            <a:r>
              <a:rPr lang="en-US" altLang="ko-KR" sz="2000" dirty="0">
                <a:latin typeface="fkGroteskNeue"/>
              </a:rPr>
              <a:t>(</a:t>
            </a:r>
            <a:r>
              <a:rPr lang="ko-KR" altLang="en-US" sz="2000" dirty="0">
                <a:latin typeface="fkGroteskNeue"/>
              </a:rPr>
              <a:t>분포</a:t>
            </a:r>
            <a:r>
              <a:rPr lang="en-US" altLang="ko-KR" sz="2000" dirty="0">
                <a:latin typeface="fkGroteskNeue"/>
              </a:rPr>
              <a:t>,</a:t>
            </a:r>
            <a:r>
              <a:rPr lang="ko-KR" altLang="en-US" sz="2000" dirty="0">
                <a:latin typeface="fkGroteskNeue"/>
              </a:rPr>
              <a:t> 관계</a:t>
            </a:r>
            <a:r>
              <a:rPr lang="en-US" altLang="ko-KR" sz="2000" dirty="0">
                <a:latin typeface="fkGroteskNeue"/>
              </a:rPr>
              <a:t>,</a:t>
            </a:r>
            <a:r>
              <a:rPr lang="ko-KR" altLang="en-US" sz="2000" dirty="0">
                <a:latin typeface="fkGroteskNeue"/>
              </a:rPr>
              <a:t> 그룹별 비교</a:t>
            </a:r>
            <a:r>
              <a:rPr lang="en-US" altLang="ko-KR" sz="2000" dirty="0">
                <a:latin typeface="fkGroteskNeue"/>
              </a:rPr>
              <a:t>)</a:t>
            </a:r>
            <a:r>
              <a:rPr lang="ko-KR" altLang="en-US" sz="2000" dirty="0">
                <a:latin typeface="fkGroteskNeue"/>
              </a:rPr>
              <a:t>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Matplotlib</a:t>
            </a:r>
            <a:r>
              <a:rPr lang="ko-KR" altLang="en-US" sz="2000" dirty="0">
                <a:latin typeface="fkGroteskNeue"/>
              </a:rPr>
              <a:t> 확장  </a:t>
            </a: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Seaborn </a:t>
            </a:r>
            <a:r>
              <a:rPr kumimoji="1" lang="ko-KR" altLang="en-US" sz="5400" b="1" dirty="0" err="1">
                <a:latin typeface="+mj-ea"/>
              </a:rPr>
              <a:t>주요특징</a:t>
            </a:r>
            <a:r>
              <a:rPr kumimoji="1" lang="ko-KR" altLang="en-US" sz="5400" b="1" dirty="0">
                <a:latin typeface="+mj-ea"/>
              </a:rPr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1A1B1F-C8B8-FE4B-AEE3-1D7F9875B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919" y="2079093"/>
            <a:ext cx="1948590" cy="19485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0831C5-8D6C-D941-812B-8D9259AD9334}"/>
              </a:ext>
            </a:extLst>
          </p:cNvPr>
          <p:cNvSpPr txBox="1"/>
          <p:nvPr/>
        </p:nvSpPr>
        <p:spPr>
          <a:xfrm>
            <a:off x="4989183" y="4056277"/>
            <a:ext cx="95200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Seaborn </a:t>
            </a:r>
            <a:r>
              <a:rPr lang="ko-KR" altLang="en-US" sz="1100" dirty="0"/>
              <a:t>로고 출처</a:t>
            </a:r>
            <a:r>
              <a:rPr lang="en-US" altLang="ko-KR" sz="1100" dirty="0"/>
              <a:t>: </a:t>
            </a:r>
            <a:r>
              <a:rPr lang="en" altLang="ko-KR" sz="1100" dirty="0">
                <a:hlinkClick r:id="rId3"/>
              </a:rPr>
              <a:t>https://seeklogo.com/vector-logo/441844/seaborn</a:t>
            </a:r>
            <a:r>
              <a:rPr lang="ko-KR" altLang="en-US" sz="1100" dirty="0"/>
              <a:t> </a:t>
            </a:r>
            <a:r>
              <a:rPr lang="en" altLang="ko-KR" sz="1100" dirty="0"/>
              <a:t> </a:t>
            </a:r>
          </a:p>
          <a:p>
            <a:pPr algn="ctr"/>
            <a:r>
              <a:rPr lang="en" altLang="ko-KR" sz="1100" dirty="0"/>
              <a:t>(</a:t>
            </a:r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en" altLang="ko-KR" sz="1100" dirty="0" err="1"/>
              <a:t>seeklogo.com</a:t>
            </a:r>
            <a:r>
              <a:rPr lang="en" altLang="ko-KR" sz="1100" dirty="0"/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078352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533400" y="2127977"/>
            <a:ext cx="10256388" cy="1920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3200" dirty="0">
                <a:latin typeface="fkGroteskNeue"/>
              </a:rPr>
              <a:t> </a:t>
            </a:r>
            <a:r>
              <a:rPr lang="ko-KR" altLang="en-US" sz="3200" dirty="0">
                <a:latin typeface="fkGroteskNeue"/>
              </a:rPr>
              <a:t> </a:t>
            </a:r>
            <a:r>
              <a:rPr lang="en-US" altLang="ko-KR" sz="3200" dirty="0">
                <a:latin typeface="fkGroteskNeue"/>
              </a:rPr>
              <a:t>pip install seaborn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3200" dirty="0">
                <a:latin typeface="fkGroteskNeue"/>
              </a:rPr>
              <a:t>  pip install </a:t>
            </a:r>
            <a:r>
              <a:rPr lang="en-US" altLang="ko-KR" sz="3200" dirty="0" err="1">
                <a:latin typeface="fkGroteskNeue"/>
              </a:rPr>
              <a:t>koreanize_matplotlib</a:t>
            </a:r>
            <a:r>
              <a:rPr lang="en-US" altLang="ko-KR" sz="3200" dirty="0">
                <a:latin typeface="fkGroteskNeue"/>
              </a:rPr>
              <a:t>  </a:t>
            </a:r>
            <a:endParaRPr lang="ko-KR" altLang="en-US" sz="32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Seaborn</a:t>
            </a:r>
            <a:r>
              <a:rPr kumimoji="1" lang="ko-KR" altLang="en-US" sz="5400" b="1" dirty="0">
                <a:latin typeface="+mj-ea"/>
              </a:rPr>
              <a:t> 설치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F071D0-6C81-BE4E-A5D8-3496E0D82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919" y="2079093"/>
            <a:ext cx="1948590" cy="19485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36C369-8DDD-1B41-912C-6B26DC7EF29C}"/>
              </a:ext>
            </a:extLst>
          </p:cNvPr>
          <p:cNvSpPr txBox="1"/>
          <p:nvPr/>
        </p:nvSpPr>
        <p:spPr>
          <a:xfrm>
            <a:off x="4989183" y="4056277"/>
            <a:ext cx="95200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Seaborn </a:t>
            </a:r>
            <a:r>
              <a:rPr lang="ko-KR" altLang="en-US" sz="1100" dirty="0"/>
              <a:t>로고 출처</a:t>
            </a:r>
            <a:r>
              <a:rPr lang="en-US" altLang="ko-KR" sz="1100" dirty="0"/>
              <a:t>: </a:t>
            </a:r>
            <a:r>
              <a:rPr lang="en" altLang="ko-KR" sz="1100" dirty="0">
                <a:hlinkClick r:id="rId3"/>
              </a:rPr>
              <a:t>https://seeklogo.com/vector-logo/441844/seaborn</a:t>
            </a:r>
            <a:r>
              <a:rPr lang="ko-KR" altLang="en-US" sz="1100" dirty="0"/>
              <a:t> </a:t>
            </a:r>
            <a:r>
              <a:rPr lang="en" altLang="ko-KR" sz="1100" dirty="0"/>
              <a:t> </a:t>
            </a:r>
          </a:p>
          <a:p>
            <a:pPr algn="ctr"/>
            <a:r>
              <a:rPr lang="en" altLang="ko-KR" sz="1100" dirty="0"/>
              <a:t>(</a:t>
            </a:r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en" altLang="ko-KR" sz="1100" dirty="0" err="1"/>
              <a:t>seeklogo.com</a:t>
            </a:r>
            <a:r>
              <a:rPr lang="en" altLang="ko-KR" sz="1100" dirty="0"/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0551504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74B1AC-B025-554F-B267-C3020C4F4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0" y="165100"/>
            <a:ext cx="7100200" cy="65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149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A9788F-144C-CB4A-93FE-BF156A389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65" y="441854"/>
            <a:ext cx="8908499" cy="59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658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5616" y="630997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6A94227-B21C-054A-8C9E-25F46937A708}"/>
              </a:ext>
            </a:extLst>
          </p:cNvPr>
          <p:cNvSpPr txBox="1">
            <a:spLocks/>
          </p:cNvSpPr>
          <p:nvPr/>
        </p:nvSpPr>
        <p:spPr>
          <a:xfrm>
            <a:off x="3127249" y="3018597"/>
            <a:ext cx="620572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데이터셋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수집하기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295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데이터셋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수집 사이트 소개 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50189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865909" y="326981"/>
            <a:ext cx="10256388" cy="6531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ko-KR" altLang="en-US" sz="2400" b="1" dirty="0">
                <a:latin typeface="fkGroteskNeue"/>
              </a:rPr>
              <a:t>문제 정의 </a:t>
            </a:r>
            <a:r>
              <a:rPr lang="en-US" altLang="ko-KR" sz="2400" dirty="0">
                <a:latin typeface="fkGroteskNeue"/>
              </a:rPr>
              <a:t>(Problem Definition ) </a:t>
            </a:r>
          </a:p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ko-KR" altLang="en-US" sz="2400" b="1" dirty="0">
                <a:latin typeface="fkGroteskNeue"/>
              </a:rPr>
              <a:t>데이터 수집 </a:t>
            </a:r>
            <a:r>
              <a:rPr lang="en-US" altLang="ko-KR" sz="2400" dirty="0">
                <a:latin typeface="fkGroteskNeue"/>
              </a:rPr>
              <a:t>(Data Collection) </a:t>
            </a:r>
          </a:p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ko-KR" altLang="en-US" sz="2400" b="1" dirty="0">
                <a:latin typeface="fkGroteskNeue"/>
              </a:rPr>
              <a:t>데이터 전처리 </a:t>
            </a:r>
            <a:r>
              <a:rPr lang="en-US" altLang="ko-KR" sz="2400" dirty="0">
                <a:latin typeface="fkGroteskNeue"/>
              </a:rPr>
              <a:t>(Data Preprocessing) </a:t>
            </a:r>
          </a:p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ko-KR" altLang="en-US" sz="2400" b="1" dirty="0">
                <a:latin typeface="fkGroteskNeue"/>
              </a:rPr>
              <a:t>데이터 변환 </a:t>
            </a:r>
            <a:r>
              <a:rPr lang="en-US" altLang="ko-KR" sz="2400" dirty="0">
                <a:latin typeface="fkGroteskNeue"/>
              </a:rPr>
              <a:t>(Data Transformation) </a:t>
            </a:r>
          </a:p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ko-KR" altLang="en-US" sz="2400" b="1" dirty="0">
                <a:latin typeface="fkGroteskNeue"/>
              </a:rPr>
              <a:t>탐색적 데이터 분석 </a:t>
            </a:r>
            <a:r>
              <a:rPr lang="en-US" altLang="ko-KR" sz="2400" dirty="0">
                <a:latin typeface="fkGroteskNeue"/>
              </a:rPr>
              <a:t>(Exploratory Data </a:t>
            </a:r>
            <a:r>
              <a:rPr lang="en-US" altLang="ko-KR" sz="2400" dirty="0" err="1">
                <a:latin typeface="fkGroteskNeue"/>
              </a:rPr>
              <a:t>Anaysis,EDA</a:t>
            </a:r>
            <a:r>
              <a:rPr lang="en-US" altLang="ko-KR" sz="2400" dirty="0">
                <a:latin typeface="fkGroteskNeue"/>
              </a:rPr>
              <a:t>)</a:t>
            </a:r>
          </a:p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ko-KR" altLang="en-US" sz="2400" b="1" dirty="0"/>
              <a:t>모델링 및 분석 </a:t>
            </a:r>
            <a:r>
              <a:rPr lang="en-US" altLang="ko-KR" sz="2400" dirty="0"/>
              <a:t>(</a:t>
            </a:r>
            <a:r>
              <a:rPr lang="en" altLang="ko-KR" sz="2400" dirty="0"/>
              <a:t>Modeling &amp; Analysis)</a:t>
            </a:r>
            <a:endParaRPr lang="en-US" altLang="ko-KR" sz="2400" dirty="0">
              <a:latin typeface="fkGroteskNeue"/>
            </a:endParaRPr>
          </a:p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ko-KR" altLang="en-US" sz="2400" b="1" dirty="0"/>
              <a:t>결과 해석 및 시각화 </a:t>
            </a:r>
            <a:r>
              <a:rPr lang="en-US" altLang="ko-KR" sz="2400" dirty="0"/>
              <a:t>(</a:t>
            </a:r>
            <a:r>
              <a:rPr lang="en" altLang="ko-KR" sz="2400" dirty="0"/>
              <a:t>Interpretation &amp; Visualization)</a:t>
            </a:r>
            <a:endParaRPr lang="en-US" altLang="ko-KR" sz="2400" dirty="0">
              <a:latin typeface="fkGroteskNeue"/>
            </a:endParaRPr>
          </a:p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ko-KR" altLang="en-US" sz="2400" b="1" dirty="0"/>
              <a:t>보고 및 실행 </a:t>
            </a:r>
            <a:r>
              <a:rPr lang="en-US" altLang="ko-KR" sz="2400" dirty="0"/>
              <a:t>(</a:t>
            </a:r>
            <a:r>
              <a:rPr lang="en" altLang="ko-KR" sz="2400" dirty="0"/>
              <a:t>Reporting &amp; Actionable Insights)</a:t>
            </a:r>
            <a:r>
              <a:rPr lang="en-US" altLang="ko-KR" sz="2400" dirty="0">
                <a:latin typeface="fkGroteskNeue"/>
              </a:rPr>
              <a:t> </a:t>
            </a:r>
          </a:p>
          <a:p>
            <a:pPr marL="457200" indent="-457200" algn="l">
              <a:lnSpc>
                <a:spcPct val="200000"/>
              </a:lnSpc>
              <a:buAutoNum type="arabicPeriod"/>
            </a:pPr>
            <a:endParaRPr lang="en-US" altLang="ko-KR" sz="2000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9369024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533400" y="2508491"/>
            <a:ext cx="10256388" cy="1841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직접 수집</a:t>
            </a:r>
            <a:r>
              <a:rPr lang="en-US" altLang="ko-KR" sz="2000" dirty="0"/>
              <a:t> (Primary</a:t>
            </a:r>
            <a:r>
              <a:rPr lang="ko-KR" altLang="en-US" sz="2000" dirty="0"/>
              <a:t> </a:t>
            </a:r>
            <a:r>
              <a:rPr lang="en-US" altLang="ko-KR" sz="2000" dirty="0"/>
              <a:t>Data</a:t>
            </a:r>
            <a:r>
              <a:rPr lang="ko-KR" altLang="en-US" sz="2000" dirty="0"/>
              <a:t> </a:t>
            </a:r>
            <a:r>
              <a:rPr lang="en-US" altLang="ko-KR" sz="2000" dirty="0"/>
              <a:t>Collection)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간접 수집 </a:t>
            </a:r>
            <a:r>
              <a:rPr lang="en-US" altLang="ko-KR" sz="2000" dirty="0"/>
              <a:t>(Secondary Data Collection) 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데이터 수집 방법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3E400C-6B47-2E48-A62D-E4C392F54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959" y="1669255"/>
            <a:ext cx="2977343" cy="2977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87C608-5738-8846-8609-897DAAD7D136}"/>
              </a:ext>
            </a:extLst>
          </p:cNvPr>
          <p:cNvSpPr txBox="1"/>
          <p:nvPr/>
        </p:nvSpPr>
        <p:spPr>
          <a:xfrm>
            <a:off x="4476565" y="4943688"/>
            <a:ext cx="95200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Icon by </a:t>
            </a:r>
            <a:r>
              <a:rPr lang="en" altLang="ko-KR" sz="1100" dirty="0" err="1"/>
              <a:t>Freepik</a:t>
            </a:r>
            <a:r>
              <a:rPr lang="en" altLang="ko-KR" sz="1100" dirty="0"/>
              <a:t> - </a:t>
            </a:r>
            <a:r>
              <a:rPr lang="en" altLang="ko-KR" sz="1100" dirty="0" err="1"/>
              <a:t>Flaticon</a:t>
            </a:r>
            <a:endParaRPr lang="en" altLang="ko-KR" sz="1100" dirty="0"/>
          </a:p>
          <a:p>
            <a:pPr algn="ctr"/>
            <a:r>
              <a:rPr lang="en" altLang="ko-KR" sz="1100" dirty="0">
                <a:hlinkClick r:id="rId3"/>
              </a:rPr>
              <a:t>https://www.flaticon.com/free-icon/data-scientist_3749629</a:t>
            </a:r>
            <a:endParaRPr lang="en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28932211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786245" y="1483424"/>
            <a:ext cx="10619509" cy="4747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400" dirty="0"/>
              <a:t> 설문조사 </a:t>
            </a:r>
            <a:r>
              <a:rPr lang="en-US" altLang="ko-KR" sz="2400" dirty="0"/>
              <a:t>(Survey)</a:t>
            </a:r>
          </a:p>
          <a:p>
            <a:pPr marL="800100" lvl="1" indent="-34290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r>
              <a:rPr lang="ko-KR" altLang="en-US" dirty="0"/>
              <a:t> 특정 연구 목적에 맞는 맞춤형 데이터를 얻을 수 있습니다</a:t>
            </a:r>
            <a:r>
              <a:rPr lang="en-US" altLang="ko-KR" dirty="0"/>
              <a:t>.</a:t>
            </a:r>
          </a:p>
          <a:p>
            <a:pPr marL="800100" lvl="1" indent="-34290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r>
              <a:rPr lang="ko-KR" altLang="en-US" dirty="0"/>
              <a:t> 시간과 비용이 많이 들 수 있으며</a:t>
            </a:r>
            <a:r>
              <a:rPr lang="en-US" altLang="ko-KR" dirty="0"/>
              <a:t>, </a:t>
            </a:r>
            <a:r>
              <a:rPr lang="ko-KR" altLang="en-US" dirty="0"/>
              <a:t>응답률이 낮거나 편향될 수 있습니다</a:t>
            </a:r>
            <a:r>
              <a:rPr lang="en-US" altLang="ko-KR" dirty="0"/>
              <a:t>.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400" dirty="0"/>
              <a:t> 관찰 </a:t>
            </a:r>
            <a:r>
              <a:rPr lang="en-US" altLang="ko-KR" sz="2400" dirty="0"/>
              <a:t>(Observation) 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r>
              <a:rPr lang="ko-KR" altLang="en-US" dirty="0"/>
              <a:t> 실제 상황에서의 행동 데이터를 얻을 수 있습니다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r>
              <a:rPr lang="ko-KR" altLang="en-US" dirty="0"/>
              <a:t> 시간 소모적이며</a:t>
            </a:r>
            <a:r>
              <a:rPr lang="en-US" altLang="ko-KR" dirty="0"/>
              <a:t>, </a:t>
            </a:r>
            <a:r>
              <a:rPr lang="ko-KR" altLang="en-US" dirty="0"/>
              <a:t>관찰자의 주관이 개입될 수 있습니다</a:t>
            </a:r>
            <a:r>
              <a:rPr lang="en-US" altLang="ko-KR" dirty="0"/>
              <a:t>.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400" dirty="0"/>
              <a:t> </a:t>
            </a:r>
            <a:r>
              <a:rPr lang="ko-KR" altLang="en-US" sz="2400" dirty="0"/>
              <a:t>인터뷰 </a:t>
            </a:r>
            <a:r>
              <a:rPr lang="en-US" altLang="ko-KR" sz="2400" dirty="0"/>
              <a:t>(Interview)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r>
              <a:rPr lang="ko-KR" altLang="en-US" dirty="0"/>
              <a:t> 풍부하고 심층적인 질적 데이터를 얻을 수 있습니다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r>
              <a:rPr lang="ko-KR" altLang="en-US" dirty="0"/>
              <a:t> 시간과 노력이 많이 들고</a:t>
            </a:r>
            <a:r>
              <a:rPr lang="en-US" altLang="ko-KR" dirty="0"/>
              <a:t>, </a:t>
            </a:r>
            <a:r>
              <a:rPr lang="ko-KR" altLang="en-US" dirty="0"/>
              <a:t>데이터 분석이 어려울 수 있습니다</a:t>
            </a:r>
            <a:r>
              <a:rPr lang="en-US" altLang="ko-KR" dirty="0"/>
              <a:t>.x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직접 수집 </a:t>
            </a:r>
          </a:p>
        </p:txBody>
      </p:sp>
    </p:spTree>
    <p:extLst>
      <p:ext uri="{BB962C8B-B14F-4D97-AF65-F5344CB8AC3E}">
        <p14:creationId xmlns:p14="http://schemas.microsoft.com/office/powerpoint/2010/main" val="8072641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44237" y="1857327"/>
            <a:ext cx="10256388" cy="3687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내부 데이터베이스 및 시스템 </a:t>
            </a:r>
            <a:endParaRPr lang="en-US" altLang="ko-KR" sz="2000" dirty="0"/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공공 데이터 및 정보</a:t>
            </a:r>
            <a:r>
              <a:rPr lang="en-US" altLang="ko-KR" sz="2000" dirty="0"/>
              <a:t>/</a:t>
            </a:r>
            <a:r>
              <a:rPr lang="ko-KR" altLang="en-US" sz="2000" dirty="0"/>
              <a:t> 기관 데이터 </a:t>
            </a:r>
            <a:endParaRPr lang="en-US" altLang="ko-KR" sz="2000" dirty="0"/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오픈 </a:t>
            </a:r>
            <a:r>
              <a:rPr lang="en-US" altLang="ko-KR" sz="2000" dirty="0"/>
              <a:t>API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/>
              <a:t> </a:t>
            </a:r>
            <a:r>
              <a:rPr lang="ko-KR" altLang="en-US" sz="2000" dirty="0"/>
              <a:t>웹 </a:t>
            </a:r>
            <a:r>
              <a:rPr lang="ko-KR" altLang="en-US" sz="2000" dirty="0" err="1"/>
              <a:t>크롤링</a:t>
            </a:r>
            <a:r>
              <a:rPr lang="en-US" altLang="ko-KR" sz="2000" dirty="0"/>
              <a:t>/</a:t>
            </a:r>
            <a:r>
              <a:rPr lang="ko-KR" altLang="en-US" sz="2000" dirty="0" err="1"/>
              <a:t>스크래핑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판매된 데이터 </a:t>
            </a:r>
            <a:endParaRPr lang="en-US" altLang="ko-KR" sz="2000" dirty="0"/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간접 수집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5556D-D1AA-194A-BD9F-9804C94621AF}"/>
              </a:ext>
            </a:extLst>
          </p:cNvPr>
          <p:cNvSpPr txBox="1"/>
          <p:nvPr/>
        </p:nvSpPr>
        <p:spPr>
          <a:xfrm>
            <a:off x="4476565" y="4943688"/>
            <a:ext cx="95200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Icon by </a:t>
            </a:r>
            <a:r>
              <a:rPr lang="en" altLang="ko-KR" sz="1100" dirty="0" err="1"/>
              <a:t>Freepik</a:t>
            </a:r>
            <a:r>
              <a:rPr lang="en" altLang="ko-KR" sz="1100" dirty="0"/>
              <a:t> – </a:t>
            </a:r>
            <a:r>
              <a:rPr lang="en" altLang="ko-KR" sz="1100" dirty="0" err="1"/>
              <a:t>Flaticon</a:t>
            </a:r>
            <a:endParaRPr lang="en" altLang="ko-KR" sz="1100" dirty="0"/>
          </a:p>
          <a:p>
            <a:pPr algn="ctr"/>
            <a:r>
              <a:rPr lang="en" altLang="ko-KR" sz="1100" dirty="0">
                <a:hlinkClick r:id="rId2"/>
              </a:rPr>
              <a:t>https://www.flaticon.com/free-icon/data-analysis_4691497</a:t>
            </a:r>
            <a:endParaRPr lang="en" altLang="ko-KR" sz="1100" dirty="0"/>
          </a:p>
          <a:p>
            <a:pPr algn="ctr"/>
            <a:endParaRPr lang="en" altLang="ko-KR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073207-07D8-AA45-A335-A371C7D1C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662" y="1968741"/>
            <a:ext cx="2505458" cy="250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853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간접 수집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786245" y="1483424"/>
            <a:ext cx="11059391" cy="4776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400" dirty="0"/>
              <a:t> </a:t>
            </a:r>
            <a:r>
              <a:rPr lang="ko-KR" altLang="en-US" sz="2000" dirty="0"/>
              <a:t>내부 데이터베이스 및 시스템 </a:t>
            </a:r>
            <a:r>
              <a:rPr lang="en-US" altLang="ko-KR" sz="2000" dirty="0"/>
              <a:t>(</a:t>
            </a:r>
            <a:r>
              <a:rPr lang="en" altLang="ko-KR" sz="2000" dirty="0"/>
              <a:t>Internal Databases &amp; Systems)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en" altLang="ko-KR" b="1" dirty="0"/>
              <a:t>CRM (</a:t>
            </a:r>
            <a:r>
              <a:rPr lang="ko-KR" altLang="en-US" b="1" dirty="0"/>
              <a:t>고객 관계 관리</a:t>
            </a:r>
            <a:r>
              <a:rPr lang="en-US" altLang="ko-KR" b="1" dirty="0"/>
              <a:t>) </a:t>
            </a:r>
            <a:r>
              <a:rPr lang="ko-KR" altLang="en-US" b="1" dirty="0"/>
              <a:t>시스템</a:t>
            </a:r>
            <a:r>
              <a:rPr lang="en-US" altLang="ko-KR" b="1" dirty="0"/>
              <a:t>:</a:t>
            </a:r>
            <a:r>
              <a:rPr lang="ko-KR" altLang="en-US" dirty="0"/>
              <a:t> 고객 정보</a:t>
            </a:r>
            <a:r>
              <a:rPr lang="en-US" altLang="ko-KR" dirty="0"/>
              <a:t>, </a:t>
            </a:r>
            <a:r>
              <a:rPr lang="ko-KR" altLang="en-US" dirty="0"/>
              <a:t>구매 이력</a:t>
            </a:r>
            <a:r>
              <a:rPr lang="en-US" altLang="ko-KR" dirty="0"/>
              <a:t>, </a:t>
            </a:r>
            <a:r>
              <a:rPr lang="ko-KR" altLang="en-US" dirty="0"/>
              <a:t>상호작용 기록 등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en" altLang="ko-KR" b="1" dirty="0"/>
              <a:t>ERP (</a:t>
            </a:r>
            <a:r>
              <a:rPr lang="ko-KR" altLang="en-US" b="1" dirty="0"/>
              <a:t>전사적 자원 관리</a:t>
            </a:r>
            <a:r>
              <a:rPr lang="en-US" altLang="ko-KR" b="1" dirty="0"/>
              <a:t>) </a:t>
            </a:r>
            <a:r>
              <a:rPr lang="ko-KR" altLang="en-US" b="1" dirty="0"/>
              <a:t>시스템</a:t>
            </a:r>
            <a:r>
              <a:rPr lang="en-US" altLang="ko-KR" b="1" dirty="0"/>
              <a:t>:</a:t>
            </a:r>
            <a:r>
              <a:rPr lang="ko-KR" altLang="en-US" dirty="0"/>
              <a:t> 판매</a:t>
            </a:r>
            <a:r>
              <a:rPr lang="en-US" altLang="ko-KR" dirty="0"/>
              <a:t>, </a:t>
            </a:r>
            <a:r>
              <a:rPr lang="ko-KR" altLang="en-US" dirty="0"/>
              <a:t>재고</a:t>
            </a:r>
            <a:r>
              <a:rPr lang="en-US" altLang="ko-KR" dirty="0"/>
              <a:t>, </a:t>
            </a:r>
            <a:r>
              <a:rPr lang="ko-KR" altLang="en-US" dirty="0"/>
              <a:t>회계</a:t>
            </a:r>
            <a:r>
              <a:rPr lang="en-US" altLang="ko-KR" dirty="0"/>
              <a:t>, </a:t>
            </a:r>
            <a:r>
              <a:rPr lang="ko-KR" altLang="en-US" dirty="0"/>
              <a:t>생산 등 운영 데이터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b="1" dirty="0"/>
              <a:t>웹 로그 </a:t>
            </a:r>
            <a:r>
              <a:rPr lang="en-US" altLang="ko-KR" b="1" dirty="0"/>
              <a:t>/ </a:t>
            </a:r>
            <a:r>
              <a:rPr lang="ko-KR" altLang="en-US" b="1" dirty="0"/>
              <a:t>앱 로그</a:t>
            </a:r>
            <a:r>
              <a:rPr lang="en-US" altLang="ko-KR" b="1" dirty="0"/>
              <a:t>:</a:t>
            </a:r>
            <a:r>
              <a:rPr lang="ko-KR" altLang="en-US" dirty="0"/>
              <a:t> 사용자 접속 기록</a:t>
            </a:r>
            <a:r>
              <a:rPr lang="en-US" altLang="ko-KR" dirty="0"/>
              <a:t>, </a:t>
            </a:r>
            <a:r>
              <a:rPr lang="ko-KR" altLang="en-US" dirty="0"/>
              <a:t>페이지 뷰</a:t>
            </a:r>
            <a:r>
              <a:rPr lang="en-US" altLang="ko-KR" dirty="0"/>
              <a:t>, </a:t>
            </a:r>
            <a:r>
              <a:rPr lang="ko-KR" altLang="en-US" dirty="0"/>
              <a:t>클릭 정보</a:t>
            </a:r>
            <a:r>
              <a:rPr lang="en-US" altLang="ko-KR" dirty="0"/>
              <a:t>, </a:t>
            </a:r>
            <a:r>
              <a:rPr lang="ko-KR" altLang="en-US" dirty="0"/>
              <a:t>사용 시간 등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en" altLang="ko-KR" b="1" dirty="0"/>
              <a:t>IoT </a:t>
            </a:r>
            <a:r>
              <a:rPr lang="ko-KR" altLang="en-US" b="1" dirty="0"/>
              <a:t>센서 데이터</a:t>
            </a:r>
            <a:r>
              <a:rPr lang="en-US" altLang="ko-KR" b="1" dirty="0"/>
              <a:t>:</a:t>
            </a:r>
            <a:r>
              <a:rPr lang="ko-KR" altLang="en-US" dirty="0"/>
              <a:t> 스마트 기기</a:t>
            </a:r>
            <a:r>
              <a:rPr lang="en-US" altLang="ko-KR" dirty="0"/>
              <a:t>, </a:t>
            </a:r>
            <a:r>
              <a:rPr lang="ko-KR" altLang="en-US" dirty="0"/>
              <a:t>공장 설비 등에서 실시간으로 수집되는 데이터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r>
              <a:rPr lang="ko-KR" altLang="en-US" dirty="0"/>
              <a:t> 즉시 사용 가능하고</a:t>
            </a:r>
            <a:r>
              <a:rPr lang="en-US" altLang="ko-KR" dirty="0"/>
              <a:t>, </a:t>
            </a:r>
            <a:r>
              <a:rPr lang="ko-KR" altLang="en-US" dirty="0"/>
              <a:t>수집 비용이 적게 듭니다</a:t>
            </a:r>
            <a:r>
              <a:rPr lang="en-US" altLang="ko-KR" dirty="0"/>
              <a:t>. </a:t>
            </a:r>
            <a:r>
              <a:rPr lang="ko-KR" altLang="en-US" dirty="0"/>
              <a:t>기업 운영에 대한 핵심 정보를 담고 있습니다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r>
              <a:rPr lang="ko-KR" altLang="en-US" dirty="0"/>
              <a:t> 특정 분석 목적에 완벽하게 부합하지 않을 수 있습니다</a:t>
            </a:r>
            <a:r>
              <a:rPr lang="en-US" altLang="ko-KR" dirty="0"/>
              <a:t>.</a:t>
            </a:r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13314595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간접 수집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661554" y="1483424"/>
            <a:ext cx="11530446" cy="422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400" dirty="0"/>
              <a:t> </a:t>
            </a:r>
            <a:r>
              <a:rPr lang="ko-KR" altLang="en-US" sz="2000" dirty="0"/>
              <a:t>공공 데이터 및 정부</a:t>
            </a:r>
            <a:r>
              <a:rPr lang="en-US" altLang="ko-KR" sz="2000" dirty="0"/>
              <a:t>/</a:t>
            </a:r>
            <a:r>
              <a:rPr lang="ko-KR" altLang="en-US" sz="2000" dirty="0"/>
              <a:t>기관 데이터 </a:t>
            </a:r>
            <a:r>
              <a:rPr lang="en-US" altLang="ko-KR" sz="2000" dirty="0"/>
              <a:t>(</a:t>
            </a:r>
            <a:r>
              <a:rPr lang="en" altLang="ko-KR" sz="2000" dirty="0"/>
              <a:t>Public &amp; Government/Institutional Data)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b="1" dirty="0"/>
              <a:t>통계청</a:t>
            </a:r>
            <a:r>
              <a:rPr lang="en-US" altLang="ko-KR" b="1" dirty="0"/>
              <a:t>, </a:t>
            </a:r>
            <a:r>
              <a:rPr lang="ko-KR" altLang="en-US" b="1" dirty="0"/>
              <a:t>금융감독원</a:t>
            </a:r>
            <a:r>
              <a:rPr lang="en-US" altLang="ko-KR" b="1" dirty="0"/>
              <a:t>, </a:t>
            </a:r>
            <a:r>
              <a:rPr lang="ko-KR" altLang="en-US" b="1" dirty="0"/>
              <a:t>지자체 등</a:t>
            </a:r>
            <a:r>
              <a:rPr lang="en-US" altLang="ko-KR" b="1" dirty="0"/>
              <a:t>:</a:t>
            </a:r>
            <a:r>
              <a:rPr lang="ko-KR" altLang="en-US" dirty="0"/>
              <a:t> 인구 통계</a:t>
            </a:r>
            <a:r>
              <a:rPr lang="en-US" altLang="ko-KR" dirty="0"/>
              <a:t>, </a:t>
            </a:r>
            <a:r>
              <a:rPr lang="ko-KR" altLang="en-US" dirty="0"/>
              <a:t>경제 지표</a:t>
            </a:r>
            <a:r>
              <a:rPr lang="en-US" altLang="ko-KR" dirty="0"/>
              <a:t>, </a:t>
            </a:r>
            <a:r>
              <a:rPr lang="ko-KR" altLang="en-US" dirty="0"/>
              <a:t>공공 보건 데이터 등 다양한 통계 자료 및 보고서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b="1" dirty="0"/>
              <a:t>데이터 포털</a:t>
            </a:r>
            <a:r>
              <a:rPr lang="en-US" altLang="ko-KR" b="1" dirty="0"/>
              <a:t>:</a:t>
            </a:r>
            <a:r>
              <a:rPr lang="ko-KR" altLang="en-US" dirty="0"/>
              <a:t> 공공데이터포털</a:t>
            </a:r>
            <a:r>
              <a:rPr lang="en-US" altLang="ko-KR" dirty="0"/>
              <a:t>(</a:t>
            </a:r>
            <a:r>
              <a:rPr lang="en" altLang="ko-KR" dirty="0" err="1"/>
              <a:t>data.go.kr</a:t>
            </a:r>
            <a:r>
              <a:rPr lang="en" altLang="ko-KR" dirty="0"/>
              <a:t>), </a:t>
            </a:r>
            <a:r>
              <a:rPr lang="ko-KR" altLang="en-US" dirty="0"/>
              <a:t>서울시 열린 데이터 광장 등에서 제공하는 개방형 데이터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r>
              <a:rPr lang="ko-KR" altLang="en-US" dirty="0"/>
              <a:t> 신뢰할 수 있고</a:t>
            </a:r>
            <a:r>
              <a:rPr lang="en-US" altLang="ko-KR" dirty="0"/>
              <a:t>, </a:t>
            </a:r>
            <a:r>
              <a:rPr lang="ko-KR" altLang="en-US" dirty="0"/>
              <a:t>광범위한 정보를 제공합니다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r>
              <a:rPr lang="ko-KR" altLang="en-US" dirty="0"/>
              <a:t> 원하는 세부적인 정보가 없을 수 있으며</a:t>
            </a:r>
            <a:r>
              <a:rPr lang="en-US" altLang="ko-KR" dirty="0"/>
              <a:t>, </a:t>
            </a:r>
            <a:r>
              <a:rPr lang="ko-KR" altLang="en-US" dirty="0"/>
              <a:t>업데이트 주기가 느릴 수 있습니다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endParaRPr lang="en-US" altLang="ko-KR" dirty="0"/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32220431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간접 수집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7" y="1483424"/>
            <a:ext cx="11530446" cy="436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400" dirty="0"/>
              <a:t> </a:t>
            </a:r>
            <a:r>
              <a:rPr lang="ko-KR" altLang="en-US" sz="2000" dirty="0"/>
              <a:t>오픈 </a:t>
            </a:r>
            <a:r>
              <a:rPr lang="en" altLang="ko-KR" sz="2000" dirty="0"/>
              <a:t>API (Open API)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en" altLang="ko-KR" b="1" dirty="0"/>
              <a:t>SNS API:</a:t>
            </a:r>
            <a:r>
              <a:rPr lang="en" altLang="ko-KR" dirty="0"/>
              <a:t> </a:t>
            </a:r>
            <a:r>
              <a:rPr lang="ko-KR" altLang="en-US" dirty="0"/>
              <a:t>트위터</a:t>
            </a:r>
            <a:r>
              <a:rPr lang="en-US" altLang="ko-KR" dirty="0"/>
              <a:t>, </a:t>
            </a:r>
            <a:r>
              <a:rPr lang="ko-KR" altLang="en-US" dirty="0" err="1"/>
              <a:t>인스타그램</a:t>
            </a:r>
            <a:r>
              <a:rPr lang="en-US" altLang="ko-KR" dirty="0"/>
              <a:t>, </a:t>
            </a:r>
            <a:r>
              <a:rPr lang="ko-KR" altLang="en-US" dirty="0"/>
              <a:t>페이스북 등의 </a:t>
            </a:r>
            <a:r>
              <a:rPr lang="en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통해 게시물</a:t>
            </a:r>
            <a:r>
              <a:rPr lang="en-US" altLang="ko-KR" dirty="0"/>
              <a:t>, </a:t>
            </a:r>
            <a:r>
              <a:rPr lang="ko-KR" altLang="en-US" dirty="0" err="1"/>
              <a:t>팔로워</a:t>
            </a:r>
            <a:r>
              <a:rPr lang="ko-KR" altLang="en-US" dirty="0"/>
              <a:t> 정보</a:t>
            </a:r>
            <a:r>
              <a:rPr lang="en-US" altLang="ko-KR" dirty="0"/>
              <a:t>, </a:t>
            </a:r>
            <a:r>
              <a:rPr lang="ko-KR" altLang="en-US" dirty="0"/>
              <a:t>트렌드 등을 수집합니다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지도 </a:t>
            </a:r>
            <a:r>
              <a:rPr lang="en" altLang="ko-KR" b="1" dirty="0"/>
              <a:t>API:</a:t>
            </a:r>
            <a:r>
              <a:rPr lang="en" altLang="ko-KR" dirty="0"/>
              <a:t> Google Maps API, </a:t>
            </a:r>
            <a:r>
              <a:rPr lang="en" altLang="ko-KR" dirty="0" err="1"/>
              <a:t>Naver</a:t>
            </a:r>
            <a:r>
              <a:rPr lang="en" altLang="ko-KR" dirty="0"/>
              <a:t> Maps API </a:t>
            </a:r>
            <a:r>
              <a:rPr lang="ko-KR" altLang="en-US" dirty="0"/>
              <a:t>등을 통해 위치 기반 데이터를 수집합니다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금융</a:t>
            </a:r>
            <a:r>
              <a:rPr lang="en-US" altLang="ko-KR" b="1" dirty="0"/>
              <a:t>/</a:t>
            </a:r>
            <a:r>
              <a:rPr lang="ko-KR" altLang="en-US" b="1" dirty="0"/>
              <a:t>환율 </a:t>
            </a:r>
            <a:r>
              <a:rPr lang="en" altLang="ko-KR" b="1" dirty="0"/>
              <a:t>API, </a:t>
            </a:r>
            <a:r>
              <a:rPr lang="ko-KR" altLang="en-US" b="1" dirty="0"/>
              <a:t>날씨 </a:t>
            </a:r>
            <a:r>
              <a:rPr lang="en" altLang="ko-KR" b="1" dirty="0"/>
              <a:t>API </a:t>
            </a:r>
            <a:r>
              <a:rPr lang="ko-KR" altLang="en-US" b="1" dirty="0"/>
              <a:t>등</a:t>
            </a:r>
            <a:r>
              <a:rPr lang="en-US" altLang="ko-KR" b="1" dirty="0"/>
              <a:t>:</a:t>
            </a:r>
            <a:r>
              <a:rPr lang="ko-KR" altLang="en-US" dirty="0"/>
              <a:t> 다양한 서비스에서 제공하는 </a:t>
            </a:r>
            <a:r>
              <a:rPr lang="en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통해 특정 데이터를 실시간 또는 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   주기적으로 수집합니다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r>
              <a:rPr lang="ko-KR" altLang="en-US" dirty="0"/>
              <a:t> 대량의 데이터를 자동화하여 수집할 수 있습니다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API </a:t>
            </a:r>
            <a:r>
              <a:rPr lang="ko-KR" altLang="en-US" dirty="0"/>
              <a:t>사용 정책</a:t>
            </a:r>
            <a:r>
              <a:rPr lang="en-US" altLang="ko-KR" dirty="0"/>
              <a:t>, </a:t>
            </a:r>
            <a:r>
              <a:rPr lang="ko-KR" altLang="en-US" dirty="0"/>
              <a:t>호출 제한</a:t>
            </a:r>
            <a:r>
              <a:rPr lang="en-US" altLang="ko-KR" dirty="0"/>
              <a:t>, </a:t>
            </a:r>
            <a:r>
              <a:rPr lang="ko-KR" altLang="en-US" dirty="0"/>
              <a:t>데이터 형식 등에 제약이 있을 수 있습니다</a:t>
            </a:r>
            <a:r>
              <a:rPr lang="en-US" altLang="ko-KR" dirty="0"/>
              <a:t>.</a:t>
            </a:r>
          </a:p>
          <a:p>
            <a:pPr marL="1200150" lvl="2" indent="-285750">
              <a:lnSpc>
                <a:spcPct val="150000"/>
              </a:lnSpc>
              <a:buFont typeface="시스템 서체 일반체"/>
              <a:buChar char="🤖"/>
            </a:pPr>
            <a:endParaRPr lang="en-US" altLang="ko-KR" dirty="0"/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84139587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간접 수집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7" y="1483424"/>
            <a:ext cx="11530446" cy="408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400" dirty="0"/>
              <a:t> </a:t>
            </a:r>
            <a:r>
              <a:rPr lang="ko-KR" altLang="en-US" sz="2000" dirty="0"/>
              <a:t>웹 </a:t>
            </a:r>
            <a:r>
              <a:rPr lang="ko-KR" altLang="en-US" sz="2000" dirty="0" err="1"/>
              <a:t>크롤링</a:t>
            </a:r>
            <a:r>
              <a:rPr lang="en-US" altLang="ko-KR" sz="2000" dirty="0"/>
              <a:t>/</a:t>
            </a:r>
            <a:r>
              <a:rPr lang="ko-KR" altLang="en-US" sz="2000" dirty="0" err="1"/>
              <a:t>스크래핑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en" altLang="ko-KR" sz="2000" dirty="0"/>
              <a:t>Web Crawling/Scraping):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dirty="0"/>
              <a:t>웹사이트에서 직접 데이터를 추출하는 방법입니다</a:t>
            </a:r>
            <a:r>
              <a:rPr lang="en-US" altLang="ko-KR" dirty="0"/>
              <a:t>. </a:t>
            </a:r>
            <a:r>
              <a:rPr lang="ko-KR" altLang="en-US" dirty="0"/>
              <a:t>상품 정보</a:t>
            </a:r>
            <a:r>
              <a:rPr lang="en-US" altLang="ko-KR" dirty="0"/>
              <a:t>, </a:t>
            </a:r>
            <a:r>
              <a:rPr lang="ko-KR" altLang="en-US" dirty="0"/>
              <a:t>뉴스 기사</a:t>
            </a:r>
            <a:r>
              <a:rPr lang="en-US" altLang="ko-KR" dirty="0"/>
              <a:t>, </a:t>
            </a:r>
            <a:r>
              <a:rPr lang="ko-KR" altLang="en-US" dirty="0"/>
              <a:t>블로그 포스트</a:t>
            </a:r>
            <a:r>
              <a:rPr lang="en-US" altLang="ko-KR" dirty="0"/>
              <a:t>, </a:t>
            </a:r>
            <a:r>
              <a:rPr lang="ko-KR" altLang="en-US" dirty="0"/>
              <a:t>댓글</a:t>
            </a:r>
            <a:r>
              <a:rPr lang="en-US" altLang="ko-KR" dirty="0"/>
              <a:t>, </a:t>
            </a:r>
            <a:r>
              <a:rPr lang="ko-KR" altLang="en-US" dirty="0"/>
              <a:t>리뷰 등을 수집할 수 있습니다</a:t>
            </a:r>
            <a:r>
              <a:rPr lang="en-US" altLang="ko-KR" dirty="0"/>
              <a:t>. </a:t>
            </a:r>
            <a:r>
              <a:rPr lang="en-US" altLang="ko-KR" b="1" dirty="0"/>
              <a:t>(</a:t>
            </a:r>
            <a:r>
              <a:rPr lang="en" altLang="ko-KR" b="1" dirty="0"/>
              <a:t>Python</a:t>
            </a:r>
            <a:r>
              <a:rPr lang="ko-KR" altLang="en-US" b="1" dirty="0"/>
              <a:t>의 </a:t>
            </a:r>
            <a:r>
              <a:rPr lang="en" altLang="ko-KR" b="1" dirty="0" err="1"/>
              <a:t>BeautifulSoup</a:t>
            </a:r>
            <a:r>
              <a:rPr lang="en" altLang="ko-KR" b="1" dirty="0"/>
              <a:t>, Scrapy </a:t>
            </a:r>
            <a:r>
              <a:rPr lang="ko-KR" altLang="en-US" b="1" dirty="0"/>
              <a:t>등 라이브러리 활용</a:t>
            </a:r>
            <a:r>
              <a:rPr lang="en-US" altLang="ko-KR" b="1" dirty="0"/>
              <a:t>)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r>
              <a:rPr lang="ko-KR" altLang="en-US" dirty="0"/>
              <a:t> 웹에 공개된 거의 모든 데이터를 수집할 수 있습니다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r>
              <a:rPr lang="ko-KR" altLang="en-US" dirty="0"/>
              <a:t> 웹사이트의 정책</a:t>
            </a:r>
            <a:r>
              <a:rPr lang="en-US" altLang="ko-KR" dirty="0"/>
              <a:t>(</a:t>
            </a:r>
            <a:r>
              <a:rPr lang="en" altLang="ko-KR" dirty="0" err="1"/>
              <a:t>robots.txt</a:t>
            </a:r>
            <a:r>
              <a:rPr lang="en" altLang="ko-KR" dirty="0"/>
              <a:t>), </a:t>
            </a:r>
            <a:r>
              <a:rPr lang="ko-KR" altLang="en-US" dirty="0"/>
              <a:t>기술적 난이도</a:t>
            </a:r>
            <a:r>
              <a:rPr lang="en-US" altLang="ko-KR" dirty="0"/>
              <a:t>(</a:t>
            </a:r>
            <a:r>
              <a:rPr lang="ko-KR" altLang="en-US" dirty="0"/>
              <a:t>페이지 구조 변경 등</a:t>
            </a:r>
            <a:r>
              <a:rPr lang="en-US" altLang="ko-KR" dirty="0"/>
              <a:t>), </a:t>
            </a:r>
            <a:r>
              <a:rPr lang="ko-KR" altLang="en-US" dirty="0"/>
              <a:t>법적 문제</a:t>
            </a:r>
            <a:r>
              <a:rPr lang="en-US" altLang="ko-KR" dirty="0"/>
              <a:t>(</a:t>
            </a:r>
            <a:r>
              <a:rPr lang="ko-KR" altLang="en-US" dirty="0"/>
              <a:t>저작권</a:t>
            </a:r>
            <a:r>
              <a:rPr lang="en-US" altLang="ko-KR" dirty="0"/>
              <a:t>, </a:t>
            </a:r>
            <a:r>
              <a:rPr lang="ko-KR" altLang="en-US" dirty="0"/>
              <a:t>개인정보보호</a:t>
            </a:r>
            <a:r>
              <a:rPr lang="en-US" altLang="ko-KR" dirty="0"/>
              <a:t>) </a:t>
            </a:r>
            <a:r>
              <a:rPr lang="ko-KR" altLang="en-US" dirty="0"/>
              <a:t>등을 고려해야 합니다</a:t>
            </a:r>
            <a:r>
              <a:rPr lang="en-US" altLang="ko-KR" dirty="0"/>
              <a:t>.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endParaRPr lang="en-US" altLang="ko-KR" dirty="0"/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4653216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간접 수집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7" y="1483424"/>
            <a:ext cx="11530446" cy="340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판매된 데이터 </a:t>
            </a:r>
            <a:r>
              <a:rPr lang="en-US" altLang="ko-KR" sz="2000" dirty="0"/>
              <a:t>(</a:t>
            </a:r>
            <a:r>
              <a:rPr lang="en" altLang="ko-KR" sz="2000" dirty="0"/>
              <a:t>Commercial Data)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dirty="0"/>
              <a:t>시장조사 기관이나 데이터 전문 기업에서 유료로 판매하는 데이터입니다</a:t>
            </a:r>
            <a:r>
              <a:rPr lang="en-US" altLang="ko-KR" dirty="0"/>
              <a:t>.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소비자 구매 행태 데이터</a:t>
            </a:r>
            <a:r>
              <a:rPr lang="en-US" altLang="ko-KR" dirty="0"/>
              <a:t>, </a:t>
            </a:r>
            <a:r>
              <a:rPr lang="ko-KR" altLang="en-US" dirty="0"/>
              <a:t>특정 산업 시장 보고서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장점</a:t>
            </a:r>
            <a:r>
              <a:rPr lang="en-US" altLang="ko-KR" b="1" dirty="0"/>
              <a:t>:</a:t>
            </a:r>
            <a:r>
              <a:rPr lang="ko-KR" altLang="en-US" dirty="0"/>
              <a:t> 정제되고 분석 가능한 형태로 제공되어 즉시 활용 가능합니다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b="1" dirty="0"/>
              <a:t>단점</a:t>
            </a:r>
            <a:r>
              <a:rPr lang="en-US" altLang="ko-KR" b="1" dirty="0"/>
              <a:t>:</a:t>
            </a:r>
            <a:r>
              <a:rPr lang="ko-KR" altLang="en-US" dirty="0"/>
              <a:t> 비용이 많이 듭니다</a:t>
            </a:r>
            <a:r>
              <a:rPr lang="en-US" altLang="ko-KR" dirty="0"/>
              <a:t>.</a:t>
            </a: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endParaRPr lang="en-US" altLang="ko-KR" dirty="0"/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95003240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데이터셋</a:t>
            </a:r>
            <a:r>
              <a:rPr kumimoji="1" lang="ko-KR" altLang="en-US" sz="5400" b="1" dirty="0">
                <a:latin typeface="+mj-ea"/>
              </a:rPr>
              <a:t> 사이트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7" y="1483424"/>
            <a:ext cx="11530446" cy="3175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 </a:t>
            </a:r>
            <a:r>
              <a:rPr lang="en-US" altLang="ko-KR" sz="2000" dirty="0"/>
              <a:t>Kaggle 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/>
              <a:t> </a:t>
            </a:r>
            <a:r>
              <a:rPr lang="ko-KR" altLang="en-US" sz="2000" dirty="0"/>
              <a:t>서울 열린데이터광장</a:t>
            </a:r>
            <a:endParaRPr lang="en-US" altLang="ko-KR" sz="2000" dirty="0"/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/>
              <a:t> UCI Machine Learning Repository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/>
              <a:t> </a:t>
            </a:r>
            <a:r>
              <a:rPr lang="ko-KR" altLang="en-US" sz="2000" dirty="0"/>
              <a:t>공공데이터포털  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C9F31B-7310-8D46-8A25-311F88772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662" y="1968741"/>
            <a:ext cx="2505458" cy="25054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0D0AF8-ED3F-0A40-891E-D2F23C7EFF62}"/>
              </a:ext>
            </a:extLst>
          </p:cNvPr>
          <p:cNvSpPr txBox="1"/>
          <p:nvPr/>
        </p:nvSpPr>
        <p:spPr>
          <a:xfrm>
            <a:off x="4472342" y="4844337"/>
            <a:ext cx="95200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Icon by </a:t>
            </a:r>
            <a:r>
              <a:rPr lang="en" altLang="ko-KR" sz="1100" dirty="0" err="1"/>
              <a:t>Freepik</a:t>
            </a:r>
            <a:r>
              <a:rPr lang="en" altLang="ko-KR" sz="1100" dirty="0"/>
              <a:t> – </a:t>
            </a:r>
            <a:r>
              <a:rPr lang="en" altLang="ko-KR" sz="1100" dirty="0" err="1"/>
              <a:t>Flaticon</a:t>
            </a:r>
            <a:endParaRPr lang="en" altLang="ko-KR" sz="1100" dirty="0"/>
          </a:p>
          <a:p>
            <a:pPr algn="ctr"/>
            <a:r>
              <a:rPr lang="en" altLang="ko-KR" sz="1100" dirty="0">
                <a:hlinkClick r:id="rId3"/>
              </a:rPr>
              <a:t>https://www.flaticon.com/free-icon/data-analysis_4691497</a:t>
            </a:r>
            <a:endParaRPr lang="en" altLang="ko-KR" sz="1100" dirty="0"/>
          </a:p>
          <a:p>
            <a:pPr algn="ctr"/>
            <a:endParaRPr lang="en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33141159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AI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로 </a:t>
            </a:r>
            <a:r>
              <a:rPr kumimoji="1" lang="ko-KR" altLang="en-US" sz="4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데이터셋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생성하기 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93666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빅데이터 분야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7" y="1483424"/>
            <a:ext cx="11530446" cy="394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헬스케어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환자 의료 기록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유전체 데이터 등을 분석하여 질병을 조기에 진단하고 맞춤형 치료법을 개발합니다</a:t>
            </a:r>
            <a:r>
              <a:rPr lang="en-US" altLang="ko-KR" sz="2000" dirty="0">
                <a:latin typeface="+mn-ea"/>
              </a:rPr>
              <a:t>. </a:t>
            </a:r>
            <a:r>
              <a:rPr lang="ko-KR" altLang="en-US" sz="2000" dirty="0" err="1">
                <a:latin typeface="+mn-ea"/>
              </a:rPr>
              <a:t>웨어러블</a:t>
            </a:r>
            <a:r>
              <a:rPr lang="ko-KR" altLang="en-US" sz="2000" dirty="0">
                <a:latin typeface="+mn-ea"/>
              </a:rPr>
              <a:t> 기기를 통해 환자의 건강 상태를 모니터링하고 의사에게 보고하는데  활용됩니다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금융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시장 동향 예측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사기 탐지 시스템 운영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고객의 금융 거래 패턴 분석을 통한 맞춤형 상품  추천 등에 사용됩니다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유통</a:t>
            </a:r>
            <a:r>
              <a:rPr lang="en-US" altLang="ko-KR" sz="2000" b="1" dirty="0">
                <a:latin typeface="+mn-ea"/>
              </a:rPr>
              <a:t>/</a:t>
            </a:r>
            <a:r>
              <a:rPr lang="ko-KR" altLang="en-US" sz="2000" b="1" dirty="0">
                <a:latin typeface="+mn-ea"/>
              </a:rPr>
              <a:t>마케팅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고객 구매 이력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소셜 미디어 데이터 등을 분석하여 고객 행동을 예측하고 개인화된 마케팅 캠페인을 설계합니다</a:t>
            </a:r>
            <a:r>
              <a:rPr lang="en-US" altLang="ko-KR" sz="2000" dirty="0">
                <a:latin typeface="+mn-ea"/>
              </a:rPr>
              <a:t>. </a:t>
            </a:r>
            <a:r>
              <a:rPr lang="ko-KR" altLang="en-US" sz="2000" dirty="0">
                <a:latin typeface="+mn-ea"/>
              </a:rPr>
              <a:t>재고 관리 및 </a:t>
            </a:r>
            <a:r>
              <a:rPr lang="ko-KR" altLang="en-US" sz="2000" dirty="0" err="1">
                <a:latin typeface="+mn-ea"/>
              </a:rPr>
              <a:t>공급망</a:t>
            </a:r>
            <a:r>
              <a:rPr lang="ko-KR" altLang="en-US" sz="2000" dirty="0">
                <a:latin typeface="+mn-ea"/>
              </a:rPr>
              <a:t> 최적화에도 기여합니다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5397565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빅데이터 분야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7" y="1483424"/>
            <a:ext cx="11530446" cy="348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제조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장비 센서 데이터를 분석하여 예측 유지보수를 수행하고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제품 불량률을 줄이며 생산 효율성을 높입니다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교통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실시간 교통 정보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대중교통 이용 데이터 등을 분석하여 교통 흐름을 최적화하고 스마트  시티 구축에 활용됩니다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엔터테인먼트</a:t>
            </a:r>
            <a:r>
              <a:rPr lang="en-US" altLang="ko-KR" sz="2000" dirty="0">
                <a:latin typeface="+mn-ea"/>
              </a:rPr>
              <a:t>: </a:t>
            </a:r>
            <a:r>
              <a:rPr lang="en" altLang="ko-KR" sz="2000" dirty="0">
                <a:latin typeface="+mn-ea"/>
              </a:rPr>
              <a:t>SNS </a:t>
            </a:r>
            <a:r>
              <a:rPr lang="ko-KR" altLang="en-US" sz="2000" dirty="0">
                <a:latin typeface="+mn-ea"/>
              </a:rPr>
              <a:t>데이터를 분석하여 영화 흥행 수익을 예측하거나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사용자 취향에 맞는 콘텐츠를 추천하는 데 사용됩니다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80964351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B92969-7A1E-EF4B-9355-F0DB2BA54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21" y="1579416"/>
            <a:ext cx="3089563" cy="30895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F9F93A-0278-7F4A-A016-9B64AF487B91}"/>
              </a:ext>
            </a:extLst>
          </p:cNvPr>
          <p:cNvSpPr txBox="1"/>
          <p:nvPr/>
        </p:nvSpPr>
        <p:spPr>
          <a:xfrm>
            <a:off x="-1441887" y="4978502"/>
            <a:ext cx="95200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Icon by </a:t>
            </a:r>
            <a:r>
              <a:rPr lang="en" altLang="ko-KR" sz="1100" dirty="0" err="1"/>
              <a:t>Freepik</a:t>
            </a:r>
            <a:r>
              <a:rPr lang="en" altLang="ko-KR" sz="1100" dirty="0"/>
              <a:t> – </a:t>
            </a:r>
            <a:r>
              <a:rPr lang="en" altLang="ko-KR" sz="1100" dirty="0" err="1"/>
              <a:t>Flaticon</a:t>
            </a:r>
            <a:endParaRPr lang="en" altLang="ko-KR" sz="1100" dirty="0"/>
          </a:p>
          <a:p>
            <a:pPr algn="ctr"/>
            <a:r>
              <a:rPr lang="en" altLang="ko-KR" sz="1100" dirty="0">
                <a:hlinkClick r:id="rId3"/>
              </a:rPr>
              <a:t>https://www.flaticon.com/free-icon/confused_1698609</a:t>
            </a:r>
            <a:endParaRPr lang="en" altLang="ko-KR" sz="1100" dirty="0"/>
          </a:p>
          <a:p>
            <a:pPr algn="ctr"/>
            <a:endParaRPr lang="en" altLang="ko-KR" sz="11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18E1CB-EC28-964E-BB3E-054B7E603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217" y="2011114"/>
            <a:ext cx="2657865" cy="26578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CEAE2A-738C-1F45-B8A9-129CDB53E543}"/>
              </a:ext>
            </a:extLst>
          </p:cNvPr>
          <p:cNvSpPr txBox="1"/>
          <p:nvPr/>
        </p:nvSpPr>
        <p:spPr>
          <a:xfrm>
            <a:off x="3933676" y="4978502"/>
            <a:ext cx="95200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Icon by </a:t>
            </a:r>
            <a:r>
              <a:rPr lang="en" altLang="ko-KR" sz="1100" dirty="0" err="1"/>
              <a:t>Freepik</a:t>
            </a:r>
            <a:r>
              <a:rPr lang="en" altLang="ko-KR" sz="1100" dirty="0"/>
              <a:t> – </a:t>
            </a:r>
            <a:r>
              <a:rPr lang="en" altLang="ko-KR" sz="1100" dirty="0" err="1"/>
              <a:t>Flaticon</a:t>
            </a:r>
            <a:endParaRPr lang="en" altLang="ko-KR" sz="1100" dirty="0"/>
          </a:p>
          <a:p>
            <a:pPr algn="ctr"/>
            <a:r>
              <a:rPr lang="en" altLang="ko-KR" sz="1100" dirty="0">
                <a:hlinkClick r:id="rId5"/>
              </a:rPr>
              <a:t>https://www.flaticon.com/free-icon/database_7021225</a:t>
            </a:r>
            <a:endParaRPr lang="en" altLang="ko-KR" sz="1100" dirty="0"/>
          </a:p>
          <a:p>
            <a:pPr algn="ctr"/>
            <a:endParaRPr lang="en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6188730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2C5630-D07A-FC4D-9A7B-48BEFF4D7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35" y="1097715"/>
            <a:ext cx="4290890" cy="12607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5CF6DC-4895-E94A-9D6F-E648649AA53B}"/>
              </a:ext>
            </a:extLst>
          </p:cNvPr>
          <p:cNvSpPr txBox="1"/>
          <p:nvPr/>
        </p:nvSpPr>
        <p:spPr>
          <a:xfrm>
            <a:off x="122681" y="2743917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/>
              <a:t>이미지 출처: </a:t>
            </a:r>
            <a:r>
              <a:rPr lang="ko-KR" altLang="en-US" sz="1100" dirty="0" err="1"/>
              <a:t>cloudpng.com</a:t>
            </a:r>
            <a:endParaRPr lang="en-US" altLang="ko-KR" sz="1100" dirty="0"/>
          </a:p>
          <a:p>
            <a:pPr algn="ctr"/>
            <a:r>
              <a:rPr lang="ko-KR" altLang="en-US" sz="1100" dirty="0"/>
              <a:t> (</a:t>
            </a:r>
            <a:r>
              <a:rPr lang="ko-KR" altLang="en-US" sz="1100" dirty="0">
                <a:hlinkClick r:id="rId3"/>
              </a:rPr>
              <a:t>https://cloudpng.com/chatgpt-logo-png</a:t>
            </a:r>
            <a:r>
              <a:rPr lang="ko-KR" altLang="en-US" sz="11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9F5ED-E0D5-D747-B6BA-540881093B31}"/>
              </a:ext>
            </a:extLst>
          </p:cNvPr>
          <p:cNvSpPr txBox="1"/>
          <p:nvPr/>
        </p:nvSpPr>
        <p:spPr>
          <a:xfrm>
            <a:off x="6832025" y="2721114"/>
            <a:ext cx="4849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/>
              <a:t>이미지 출처: Google </a:t>
            </a:r>
            <a:r>
              <a:rPr lang="ko-KR" altLang="en-US" sz="1050" dirty="0" err="1"/>
              <a:t>Gemini</a:t>
            </a:r>
            <a:r>
              <a:rPr lang="ko-KR" altLang="en-US" sz="1050" dirty="0"/>
              <a:t> 로고 – </a:t>
            </a:r>
            <a:r>
              <a:rPr lang="ko-KR" altLang="en-US" sz="1050" dirty="0" err="1"/>
              <a:t>Wikimedia</a:t>
            </a:r>
            <a:r>
              <a:rPr lang="ko-KR" altLang="en-US" sz="1050" dirty="0"/>
              <a:t> </a:t>
            </a:r>
            <a:r>
              <a:rPr lang="ko-KR" altLang="en-US" sz="1050" dirty="0" err="1"/>
              <a:t>Commons</a:t>
            </a:r>
            <a:r>
              <a:rPr lang="ko-KR" altLang="en-US" sz="1050" dirty="0"/>
              <a:t>  </a:t>
            </a:r>
          </a:p>
          <a:p>
            <a:pPr algn="ctr"/>
            <a:r>
              <a:rPr lang="ko-KR" altLang="en-US" sz="1050" dirty="0">
                <a:hlinkClick r:id="rId4"/>
              </a:rPr>
              <a:t>https://en.m.wikipedia.org/wiki/File:Google_Gemini_logo.svg</a:t>
            </a:r>
            <a:endParaRPr lang="en-US" altLang="ko-KR" sz="1050" dirty="0"/>
          </a:p>
          <a:p>
            <a:endParaRPr lang="ko-KR" altLang="en-US" dirty="0"/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7EF4BB96-273A-5F48-AF9C-DB947416A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137" y="941533"/>
            <a:ext cx="3276600" cy="1206500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30736B87-970D-294F-A9E1-B9E55B71CB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2025" y="4002081"/>
            <a:ext cx="4599132" cy="9874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B0E205-B69C-2949-8FCD-D484312FEF80}"/>
              </a:ext>
            </a:extLst>
          </p:cNvPr>
          <p:cNvSpPr txBox="1"/>
          <p:nvPr/>
        </p:nvSpPr>
        <p:spPr>
          <a:xfrm>
            <a:off x="3252355" y="5329398"/>
            <a:ext cx="6324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/>
              <a:t>이미지 출처: </a:t>
            </a:r>
            <a:r>
              <a:rPr lang="ko-KR" altLang="en-US" sz="1100" dirty="0" err="1"/>
              <a:t>Claude</a:t>
            </a:r>
            <a:r>
              <a:rPr lang="ko-KR" altLang="en-US" sz="1100" dirty="0"/>
              <a:t> AI 로고 – </a:t>
            </a:r>
            <a:r>
              <a:rPr lang="ko-KR" altLang="en-US" sz="1100" dirty="0" err="1"/>
              <a:t>Wikimedia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Commons</a:t>
            </a:r>
            <a:r>
              <a:rPr lang="ko-KR" altLang="en-US" sz="1100" dirty="0"/>
              <a:t>  </a:t>
            </a:r>
          </a:p>
          <a:p>
            <a:pPr algn="ctr"/>
            <a:r>
              <a:rPr lang="ko-KR" altLang="en-US" sz="1100" dirty="0">
                <a:hlinkClick r:id="rId9"/>
              </a:rPr>
              <a:t>https://en.m.wikipedia.org/wiki/File:Claude_AI_logo.svg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06811799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9040" y="235238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95FF2AB-3435-D348-A6A7-1AE31EBC359B}"/>
              </a:ext>
            </a:extLst>
          </p:cNvPr>
          <p:cNvSpPr txBox="1">
            <a:spLocks/>
          </p:cNvSpPr>
          <p:nvPr/>
        </p:nvSpPr>
        <p:spPr>
          <a:xfrm>
            <a:off x="2993137" y="2429164"/>
            <a:ext cx="620572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머신러닝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실습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700924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사이킷런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(scikit-learn)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소개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631459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330777" y="22042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사이킷런</a:t>
            </a:r>
            <a:r>
              <a:rPr kumimoji="1" lang="en-US" altLang="ko-KR" sz="5400" b="1" dirty="0">
                <a:latin typeface="+mj-ea"/>
              </a:rPr>
              <a:t>(scikit-learn)</a:t>
            </a:r>
            <a:r>
              <a:rPr kumimoji="1" lang="ko-KR" altLang="en-US" sz="5400" b="1" dirty="0">
                <a:latin typeface="+mj-ea"/>
              </a:rPr>
              <a:t>이란</a:t>
            </a:r>
            <a:r>
              <a:rPr kumimoji="1" lang="en-US" altLang="ko-KR" sz="5400" b="1" dirty="0">
                <a:latin typeface="+mj-ea"/>
              </a:rPr>
              <a:t>?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7" y="1545984"/>
            <a:ext cx="11861223" cy="1821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" altLang="ko-KR" b="0" i="0" dirty="0">
                <a:effectLst/>
                <a:latin typeface="fkGroteskNeue"/>
              </a:rPr>
              <a:t>Python </a:t>
            </a:r>
            <a:r>
              <a:rPr lang="ko-KR" altLang="en-US" b="0" i="0" dirty="0">
                <a:effectLst/>
                <a:latin typeface="fkGroteskNeue"/>
              </a:rPr>
              <a:t>언어에서 가장 널리 사용되는 오픈 소스 </a:t>
            </a:r>
            <a:r>
              <a:rPr lang="ko-KR" altLang="en-US" b="0" i="0" dirty="0" err="1">
                <a:effectLst/>
                <a:latin typeface="fkGroteskNeue"/>
              </a:rPr>
              <a:t>머신러닝</a:t>
            </a:r>
            <a:r>
              <a:rPr lang="ko-KR" altLang="en-US" b="0" i="0" dirty="0">
                <a:effectLst/>
                <a:latin typeface="fkGroteskNeue"/>
              </a:rPr>
              <a:t> 라이브러리입니다</a:t>
            </a:r>
            <a:r>
              <a:rPr lang="en-US" altLang="ko-KR" b="0" i="0" dirty="0">
                <a:effectLst/>
                <a:latin typeface="fkGroteskNeue"/>
              </a:rPr>
              <a:t>. </a:t>
            </a:r>
            <a:r>
              <a:rPr lang="ko-KR" altLang="en-US" b="0" i="0" dirty="0">
                <a:effectLst/>
                <a:latin typeface="fkGroteskNeue"/>
              </a:rPr>
              <a:t>이 라이브러리는 분류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회귀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 err="1">
                <a:effectLst/>
                <a:latin typeface="fkGroteskNeue"/>
              </a:rPr>
              <a:t>클러스터링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차원 축소 등 다양한 </a:t>
            </a:r>
            <a:r>
              <a:rPr lang="ko-KR" altLang="en-US" b="0" i="0" dirty="0" err="1">
                <a:effectLst/>
                <a:latin typeface="fkGroteskNeue"/>
              </a:rPr>
              <a:t>머신러닝</a:t>
            </a:r>
            <a:r>
              <a:rPr lang="ko-KR" altLang="en-US" b="0" i="0" dirty="0">
                <a:effectLst/>
                <a:latin typeface="fkGroteskNeue"/>
              </a:rPr>
              <a:t> 작업을 손쉽게 수행할 수 있도록 다양한 알고리즘과 도구를 제공합니다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endParaRPr lang="en-US" altLang="ko-KR" sz="2400" dirty="0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A71AE99C-354B-C74E-A0BD-3E363F2D8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8633" y="3177283"/>
            <a:ext cx="4292312" cy="23224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F5526C-8042-4B46-8B2D-CF4F155626F3}"/>
              </a:ext>
            </a:extLst>
          </p:cNvPr>
          <p:cNvSpPr txBox="1"/>
          <p:nvPr/>
        </p:nvSpPr>
        <p:spPr>
          <a:xfrm>
            <a:off x="2216727" y="5752098"/>
            <a:ext cx="77585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 err="1"/>
              <a:t>Scikit-learn</a:t>
            </a:r>
            <a:r>
              <a:rPr lang="ko-KR" altLang="en-US" sz="1100" dirty="0"/>
              <a:t> 로고 – </a:t>
            </a:r>
            <a:r>
              <a:rPr lang="ko-KR" altLang="en-US" sz="1100" dirty="0" err="1"/>
              <a:t>Wikimedia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Commons</a:t>
            </a:r>
            <a:r>
              <a:rPr lang="ko-KR" altLang="en-US" sz="1100" dirty="0"/>
              <a:t>  </a:t>
            </a:r>
          </a:p>
          <a:p>
            <a:pPr algn="ctr"/>
            <a:r>
              <a:rPr lang="ko-KR" altLang="en-US" sz="1100" dirty="0">
                <a:hlinkClick r:id="rId4"/>
              </a:rPr>
              <a:t>https://en.m.wikipedia.org/wiki/File:Scikit_learn_logo_small.svg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85760034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330777" y="22042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사이킷런</a:t>
            </a:r>
            <a:r>
              <a:rPr kumimoji="1" lang="ko-KR" altLang="en-US" sz="5400" b="1" dirty="0">
                <a:latin typeface="+mj-ea"/>
              </a:rPr>
              <a:t> 주요 특징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C0A84-3BC5-CA4B-AD77-D6C4094C475E}"/>
              </a:ext>
            </a:extLst>
          </p:cNvPr>
          <p:cNvSpPr txBox="1"/>
          <p:nvPr/>
        </p:nvSpPr>
        <p:spPr>
          <a:xfrm>
            <a:off x="560243" y="1545984"/>
            <a:ext cx="11071514" cy="4721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다양한 </a:t>
            </a:r>
            <a:r>
              <a:rPr lang="ko-KR" altLang="en-US" b="1" i="0" dirty="0" err="1">
                <a:effectLst/>
                <a:latin typeface="fkGroteskNeue"/>
              </a:rPr>
              <a:t>머신러닝</a:t>
            </a:r>
            <a:r>
              <a:rPr lang="ko-KR" altLang="en-US" b="1" i="0" dirty="0">
                <a:effectLst/>
                <a:latin typeface="fkGroteskNeue"/>
              </a:rPr>
              <a:t> 알고리즘 내장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en" altLang="ko-KR" b="0" i="0" dirty="0">
                <a:effectLst/>
                <a:latin typeface="fkGroteskNeue"/>
              </a:rPr>
              <a:t>SVM, </a:t>
            </a:r>
            <a:r>
              <a:rPr lang="ko-KR" altLang="en-US" b="0" i="0" dirty="0">
                <a:effectLst/>
                <a:latin typeface="fkGroteskNeue"/>
              </a:rPr>
              <a:t>랜덤 </a:t>
            </a:r>
            <a:r>
              <a:rPr lang="ko-KR" altLang="en-US" b="0" i="0" dirty="0" err="1">
                <a:effectLst/>
                <a:latin typeface="fkGroteskNeue"/>
              </a:rPr>
              <a:t>포레스트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en" altLang="ko-KR" b="0" i="0" dirty="0">
                <a:effectLst/>
                <a:latin typeface="fkGroteskNeue"/>
              </a:rPr>
              <a:t>K-</a:t>
            </a:r>
            <a:r>
              <a:rPr lang="ko-KR" altLang="en-US" b="0" i="0" dirty="0" err="1">
                <a:effectLst/>
                <a:latin typeface="fkGroteskNeue"/>
              </a:rPr>
              <a:t>최근접</a:t>
            </a:r>
            <a:r>
              <a:rPr lang="ko-KR" altLang="en-US" b="0" i="0" dirty="0">
                <a:effectLst/>
                <a:latin typeface="fkGroteskNeue"/>
              </a:rPr>
              <a:t> 이웃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선형</a:t>
            </a:r>
            <a:r>
              <a:rPr lang="en-US" altLang="ko-KR" b="0" i="0" dirty="0">
                <a:effectLst/>
                <a:latin typeface="fkGroteskNeue"/>
              </a:rPr>
              <a:t>/</a:t>
            </a:r>
            <a:r>
              <a:rPr lang="ko-KR" altLang="en-US" b="0" i="0" dirty="0" err="1">
                <a:effectLst/>
                <a:latin typeface="fkGroteskNeue"/>
              </a:rPr>
              <a:t>로지스틱</a:t>
            </a:r>
            <a:r>
              <a:rPr lang="ko-KR" altLang="en-US" b="0" i="0" dirty="0">
                <a:effectLst/>
                <a:latin typeface="fkGroteskNeue"/>
              </a:rPr>
              <a:t> 회귀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 err="1">
                <a:effectLst/>
                <a:latin typeface="fkGroteskNeue"/>
              </a:rPr>
              <a:t>나이브</a:t>
            </a:r>
            <a:r>
              <a:rPr lang="ko-KR" altLang="en-US" b="0" i="0" dirty="0">
                <a:effectLst/>
                <a:latin typeface="fkGroteskNeue"/>
              </a:rPr>
              <a:t> </a:t>
            </a:r>
            <a:r>
              <a:rPr lang="ko-KR" altLang="en-US" b="0" i="0" dirty="0" err="1">
                <a:effectLst/>
                <a:latin typeface="fkGroteskNeue"/>
              </a:rPr>
              <a:t>베이즈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의사결정트리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 err="1">
                <a:effectLst/>
                <a:latin typeface="fkGroteskNeue"/>
              </a:rPr>
              <a:t>클러스터링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en" altLang="ko-KR" b="0" i="0" dirty="0">
                <a:effectLst/>
                <a:latin typeface="fkGroteskNeue"/>
              </a:rPr>
              <a:t>K-means, DBSCAN </a:t>
            </a:r>
            <a:r>
              <a:rPr lang="ko-KR" altLang="en-US" b="0" i="0" dirty="0">
                <a:effectLst/>
                <a:latin typeface="fkGroteskNeue"/>
              </a:rPr>
              <a:t>등</a:t>
            </a:r>
            <a:r>
              <a:rPr lang="en-US" altLang="ko-KR" b="0" i="0" dirty="0">
                <a:effectLst/>
                <a:latin typeface="fkGroteskNeue"/>
              </a:rPr>
              <a:t>) </a:t>
            </a:r>
            <a:r>
              <a:rPr lang="ko-KR" altLang="en-US" b="0" i="0" dirty="0">
                <a:effectLst/>
                <a:latin typeface="fkGroteskNeue"/>
              </a:rPr>
              <a:t>등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데이터 전처리 지원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정규화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스케일링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 err="1">
                <a:effectLst/>
                <a:latin typeface="fkGroteskNeue"/>
              </a:rPr>
              <a:t>인코딩</a:t>
            </a:r>
            <a:r>
              <a:rPr lang="ko-KR" altLang="en-US" b="0" i="0" dirty="0">
                <a:effectLst/>
                <a:latin typeface="fkGroteskNeue"/>
              </a:rPr>
              <a:t> 등 데이터 가공 기능이 내장되어 있음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모델 평가 및 선택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교차 검증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그리드 </a:t>
            </a:r>
            <a:r>
              <a:rPr lang="ko-KR" altLang="en-US" b="0" i="0" dirty="0" err="1">
                <a:effectLst/>
                <a:latin typeface="fkGroteskNeue"/>
              </a:rPr>
              <a:t>서치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다양한 평가 지표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ko-KR" altLang="en-US" b="0" i="0" dirty="0">
                <a:effectLst/>
                <a:latin typeface="fkGroteskNeue"/>
              </a:rPr>
              <a:t>정확도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정밀도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en" altLang="ko-KR" b="0" i="0" dirty="0">
                <a:effectLst/>
                <a:latin typeface="fkGroteskNeue"/>
              </a:rPr>
              <a:t>RMSE </a:t>
            </a:r>
            <a:r>
              <a:rPr lang="ko-KR" altLang="en-US" b="0" i="0" dirty="0">
                <a:effectLst/>
                <a:latin typeface="fkGroteskNeue"/>
              </a:rPr>
              <a:t>등</a:t>
            </a:r>
            <a:r>
              <a:rPr lang="en-US" altLang="ko-KR" b="0" i="0" dirty="0">
                <a:effectLst/>
                <a:latin typeface="fkGroteskNeue"/>
              </a:rPr>
              <a:t>) </a:t>
            </a:r>
            <a:r>
              <a:rPr lang="ko-KR" altLang="en-US" b="0" i="0" dirty="0">
                <a:effectLst/>
                <a:latin typeface="fkGroteskNeue"/>
              </a:rPr>
              <a:t>제공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일관된 </a:t>
            </a:r>
            <a:r>
              <a:rPr lang="en" altLang="ko-KR" b="1" i="0" dirty="0">
                <a:effectLst/>
                <a:latin typeface="fkGroteskNeue"/>
              </a:rPr>
              <a:t>API</a:t>
            </a:r>
            <a:r>
              <a:rPr lang="en" altLang="ko-KR" b="0" i="0" dirty="0">
                <a:effectLst/>
                <a:latin typeface="fkGroteskNeue"/>
              </a:rPr>
              <a:t>: fit(), predict() </a:t>
            </a:r>
            <a:r>
              <a:rPr lang="ko-KR" altLang="en-US" b="0" i="0" dirty="0">
                <a:effectLst/>
                <a:latin typeface="fkGroteskNeue"/>
              </a:rPr>
              <a:t>등 간단한 함수 호출로 모델 학습과 예측이 가능하여 초보자부터 전문가까지 쉽게 사용할 수 있음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내장 예제 </a:t>
            </a:r>
            <a:r>
              <a:rPr lang="ko-KR" altLang="en-US" b="1" i="0" dirty="0" err="1">
                <a:effectLst/>
                <a:latin typeface="fkGroteskNeue"/>
              </a:rPr>
              <a:t>데이터셋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en" altLang="ko-KR" b="0" i="0" dirty="0">
                <a:effectLst/>
                <a:latin typeface="fkGroteskNeue"/>
              </a:rPr>
              <a:t>iris, digits, </a:t>
            </a:r>
            <a:r>
              <a:rPr lang="en" altLang="ko-KR" b="0" i="0" dirty="0" err="1">
                <a:effectLst/>
                <a:latin typeface="fkGroteskNeue"/>
              </a:rPr>
              <a:t>boston</a:t>
            </a:r>
            <a:r>
              <a:rPr lang="en" altLang="ko-KR" b="0" i="0" dirty="0">
                <a:effectLst/>
                <a:latin typeface="fkGroteskNeue"/>
              </a:rPr>
              <a:t>, diabetes </a:t>
            </a:r>
            <a:r>
              <a:rPr lang="ko-KR" altLang="en-US" b="0" i="0" dirty="0">
                <a:effectLst/>
                <a:latin typeface="fkGroteskNeue"/>
              </a:rPr>
              <a:t>등 다양한 </a:t>
            </a:r>
            <a:r>
              <a:rPr lang="ko-KR" altLang="en-US" b="0" i="0" dirty="0" err="1">
                <a:effectLst/>
                <a:latin typeface="fkGroteskNeue"/>
              </a:rPr>
              <a:t>데이터셋을</a:t>
            </a:r>
            <a:r>
              <a:rPr lang="ko-KR" altLang="en-US" b="0" i="0" dirty="0">
                <a:effectLst/>
                <a:latin typeface="fkGroteskNeue"/>
              </a:rPr>
              <a:t> 바로 사용할 수 있음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b="1" i="0" dirty="0">
                <a:effectLst/>
                <a:latin typeface="fkGroteskNeue"/>
              </a:rPr>
              <a:t>NumPy, SciPy, matplotlib </a:t>
            </a:r>
            <a:r>
              <a:rPr lang="ko-KR" altLang="en-US" b="0" i="0" dirty="0">
                <a:effectLst/>
                <a:latin typeface="fkGroteskNeue"/>
              </a:rPr>
              <a:t>기반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수치 계산과 과학 계산을 위한 </a:t>
            </a:r>
            <a:r>
              <a:rPr lang="en" altLang="ko-KR" b="0" i="0" dirty="0">
                <a:effectLst/>
                <a:latin typeface="fkGroteskNeue"/>
              </a:rPr>
              <a:t>Python </a:t>
            </a:r>
            <a:r>
              <a:rPr lang="ko-KR" altLang="en-US" b="0" i="0" dirty="0">
                <a:effectLst/>
                <a:latin typeface="fkGroteskNeue"/>
              </a:rPr>
              <a:t>생태계와 밀접하게 통합되어 있음</a:t>
            </a:r>
            <a:r>
              <a:rPr lang="en-US" altLang="ko-KR" b="0" i="0" dirty="0">
                <a:effectLst/>
                <a:latin typeface="fkGroteskNeue"/>
              </a:rPr>
              <a:t>.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i="0" dirty="0">
                <a:effectLst/>
                <a:latin typeface="fkGroteskNeue"/>
              </a:rPr>
              <a:t>무료 및 오픈 소스</a:t>
            </a:r>
            <a:r>
              <a:rPr lang="en-US" altLang="ko-KR" b="0" i="0" dirty="0">
                <a:effectLst/>
                <a:latin typeface="fkGroteskNeue"/>
              </a:rPr>
              <a:t>: </a:t>
            </a:r>
            <a:r>
              <a:rPr lang="ko-KR" altLang="en-US" b="0" i="0" dirty="0">
                <a:effectLst/>
                <a:latin typeface="fkGroteskNeue"/>
              </a:rPr>
              <a:t>누구나 자유롭게 사용 및 수정이 가능하며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활발한 커뮤니티와 문서가 존재함</a:t>
            </a:r>
          </a:p>
        </p:txBody>
      </p:sp>
    </p:spTree>
    <p:extLst>
      <p:ext uri="{BB962C8B-B14F-4D97-AF65-F5344CB8AC3E}">
        <p14:creationId xmlns:p14="http://schemas.microsoft.com/office/powerpoint/2010/main" val="119969835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7C0A84-3BC5-CA4B-AD77-D6C4094C475E}"/>
              </a:ext>
            </a:extLst>
          </p:cNvPr>
          <p:cNvSpPr txBox="1"/>
          <p:nvPr/>
        </p:nvSpPr>
        <p:spPr>
          <a:xfrm>
            <a:off x="560243" y="977948"/>
            <a:ext cx="11631757" cy="393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0" i="0" dirty="0">
                <a:effectLst/>
                <a:latin typeface="fkGroteskNeue"/>
              </a:rPr>
              <a:t>비즈니스 데이터 분석 및 예측</a:t>
            </a:r>
            <a:endParaRPr lang="en-US" altLang="ko-KR" b="0" i="0" dirty="0">
              <a:effectLst/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1600" b="0" i="0" dirty="0">
                <a:effectLst/>
                <a:latin typeface="fkGroteskNeue"/>
              </a:rPr>
              <a:t>판매 예측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수요 예측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가격 예측 등 회귀 분석이 필요한 경우</a:t>
            </a:r>
            <a:r>
              <a:rPr lang="en-US" altLang="ko-KR" sz="1600" b="0" i="0" dirty="0">
                <a:effectLst/>
                <a:latin typeface="fkGroteskNeue"/>
              </a:rPr>
              <a:t>(</a:t>
            </a:r>
            <a:r>
              <a:rPr lang="ko-KR" altLang="en-US" sz="1600" b="0" i="0" dirty="0">
                <a:effectLst/>
                <a:latin typeface="fkGroteskNeue"/>
              </a:rPr>
              <a:t>예</a:t>
            </a:r>
            <a:r>
              <a:rPr lang="en-US" altLang="ko-KR" sz="1600" b="0" i="0" dirty="0">
                <a:effectLst/>
                <a:latin typeface="fkGroteskNeue"/>
              </a:rPr>
              <a:t>: </a:t>
            </a:r>
            <a:r>
              <a:rPr lang="ko-KR" altLang="en-US" sz="1600" b="0" i="0" dirty="0">
                <a:effectLst/>
                <a:latin typeface="fkGroteskNeue"/>
              </a:rPr>
              <a:t>부동산 가격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매출 추정</a:t>
            </a:r>
            <a:r>
              <a:rPr lang="en-US" altLang="ko-KR" sz="1600" b="0" i="0" dirty="0">
                <a:effectLst/>
                <a:latin typeface="fkGroteskNeue"/>
              </a:rPr>
              <a:t>)</a:t>
            </a:r>
            <a:endParaRPr lang="en-US" altLang="ko-KR" sz="1600" dirty="0"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1600" b="0" i="0" dirty="0">
                <a:effectLst/>
                <a:latin typeface="fkGroteskNeue"/>
              </a:rPr>
              <a:t>고객 이탈 예측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신용 점수 산정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사기 거래 탐지 등 분류 문제에 활용</a:t>
            </a:r>
            <a:r>
              <a:rPr lang="en-US" altLang="ko-KR" sz="1600" b="0" i="0" dirty="0">
                <a:effectLst/>
                <a:latin typeface="fkGroteskNeue"/>
              </a:rPr>
              <a:t>(</a:t>
            </a:r>
            <a:r>
              <a:rPr lang="ko-KR" altLang="en-US" sz="1600" b="0" i="0" dirty="0">
                <a:effectLst/>
                <a:latin typeface="fkGroteskNeue"/>
              </a:rPr>
              <a:t>예</a:t>
            </a:r>
            <a:r>
              <a:rPr lang="en-US" altLang="ko-KR" sz="1600" b="0" i="0" dirty="0">
                <a:effectLst/>
                <a:latin typeface="fkGroteskNeue"/>
              </a:rPr>
              <a:t>: </a:t>
            </a:r>
            <a:r>
              <a:rPr lang="ko-KR" altLang="en-US" sz="1600" b="0" i="0" dirty="0">
                <a:effectLst/>
                <a:latin typeface="fkGroteskNeue"/>
              </a:rPr>
              <a:t>금융권의 신용 평가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보험 사기 탐지</a:t>
            </a:r>
            <a:r>
              <a:rPr lang="en-US" altLang="ko-KR" sz="1600" b="0" i="0" dirty="0">
                <a:effectLst/>
                <a:latin typeface="fkGroteskNeue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600" b="0" i="0" dirty="0">
                <a:effectLst/>
                <a:latin typeface="fkGroteskNeue"/>
              </a:rPr>
              <a:t> </a:t>
            </a:r>
            <a:endParaRPr lang="en-US" altLang="ko-KR" sz="1600" b="0" i="0" dirty="0">
              <a:effectLst/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0" i="0" dirty="0">
                <a:effectLst/>
                <a:latin typeface="fkGroteskNeue"/>
              </a:rPr>
              <a:t>고객 세분화 및 마케팅 </a:t>
            </a:r>
            <a:endParaRPr lang="en-US" altLang="ko-KR" b="0" i="0" dirty="0">
              <a:effectLst/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1600" b="0" i="0" dirty="0">
                <a:effectLst/>
                <a:latin typeface="fkGroteskNeue"/>
              </a:rPr>
              <a:t>클러스터링을 이용해 고객을 그룹화하여 맞춤형 마케팅 전략 수립</a:t>
            </a:r>
            <a:r>
              <a:rPr lang="en-US" altLang="ko-KR" sz="1600" b="0" i="0" dirty="0">
                <a:effectLst/>
                <a:latin typeface="fkGroteskNeue"/>
              </a:rPr>
              <a:t>(</a:t>
            </a:r>
            <a:r>
              <a:rPr lang="ko-KR" altLang="en-US" sz="1600" b="0" i="0" dirty="0">
                <a:effectLst/>
                <a:latin typeface="fkGroteskNeue"/>
              </a:rPr>
              <a:t>예</a:t>
            </a:r>
            <a:r>
              <a:rPr lang="en-US" altLang="ko-KR" sz="1600" b="0" i="0" dirty="0">
                <a:effectLst/>
                <a:latin typeface="fkGroteskNeue"/>
              </a:rPr>
              <a:t>: </a:t>
            </a:r>
            <a:r>
              <a:rPr lang="ko-KR" altLang="en-US" sz="1600" b="0" i="0" dirty="0">
                <a:effectLst/>
                <a:latin typeface="fkGroteskNeue"/>
              </a:rPr>
              <a:t>추천 시스템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타겟 마케팅</a:t>
            </a:r>
            <a:r>
              <a:rPr lang="en-US" altLang="ko-KR" sz="1600" b="0" i="0" dirty="0">
                <a:effectLst/>
                <a:latin typeface="fkGroteskNeue"/>
              </a:rPr>
              <a:t>)</a:t>
            </a: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endParaRPr lang="en-US" altLang="ko-KR" b="0" i="0" dirty="0">
              <a:effectLst/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0" i="0" dirty="0">
                <a:effectLst/>
                <a:latin typeface="fkGroteskNeue"/>
              </a:rPr>
              <a:t>헬스케어 및 과학 연구 </a:t>
            </a:r>
            <a:endParaRPr lang="en-US" altLang="ko-KR" b="0" i="0" dirty="0">
              <a:effectLst/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1600" b="0" i="0" dirty="0">
                <a:effectLst/>
                <a:latin typeface="fkGroteskNeue"/>
              </a:rPr>
              <a:t>질병 예측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환자 재입원 예측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신약 후보 물질 탐색 등 의료 데이터 분석 및 예측</a:t>
            </a:r>
            <a:endParaRPr lang="en-US" altLang="ko-KR" sz="1600" b="0" i="0" dirty="0">
              <a:effectLst/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1600" b="0" i="0" dirty="0" err="1">
                <a:effectLst/>
                <a:latin typeface="fkGroteskNeue"/>
              </a:rPr>
              <a:t>유전체학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 err="1">
                <a:effectLst/>
                <a:latin typeface="fkGroteskNeue"/>
              </a:rPr>
              <a:t>뇌과학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천문 데이터 분석 등 다양한 과학 연구 분야에서 데이터 패턴 분석 및 모델링</a:t>
            </a:r>
            <a:endParaRPr lang="en-US" altLang="ko-KR" sz="16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37917562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7C0A84-3BC5-CA4B-AD77-D6C4094C475E}"/>
              </a:ext>
            </a:extLst>
          </p:cNvPr>
          <p:cNvSpPr txBox="1"/>
          <p:nvPr/>
        </p:nvSpPr>
        <p:spPr>
          <a:xfrm>
            <a:off x="671079" y="2044750"/>
            <a:ext cx="11631757" cy="199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dirty="0">
                <a:latin typeface="fkGroteskNeue"/>
              </a:rPr>
              <a:t>이상 탐지 및 품질 관리</a:t>
            </a:r>
            <a:endParaRPr lang="en-US" altLang="ko-KR" dirty="0"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1600" b="0" i="0" dirty="0">
                <a:effectLst/>
                <a:latin typeface="fkGroteskNeue"/>
              </a:rPr>
              <a:t>이상 거래 탐지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네트워크 보안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제조 품질 관리 등에서 정상과 비정상 패턴을 구분하는 데 사용</a:t>
            </a:r>
            <a:endParaRPr lang="en-US" altLang="ko-KR" sz="1600" b="0" i="0" dirty="0">
              <a:effectLst/>
              <a:latin typeface="fkGroteskNeue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fkGroteskNeue"/>
              </a:rPr>
              <a:t> </a:t>
            </a:r>
            <a:endParaRPr lang="en-US" altLang="ko-KR" sz="1600" dirty="0">
              <a:latin typeface="fkGroteskNeue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b="0" i="0" dirty="0">
                <a:effectLst/>
                <a:latin typeface="fkGroteskNeue"/>
              </a:rPr>
              <a:t>텍스트 및 자연어 처리 </a:t>
            </a:r>
            <a:endParaRPr lang="en-US" altLang="ko-KR" b="0" i="0" dirty="0">
              <a:effectLst/>
              <a:latin typeface="fkGroteskNeue"/>
            </a:endParaRPr>
          </a:p>
          <a:p>
            <a:pPr marL="742950" lvl="1" indent="-285750">
              <a:lnSpc>
                <a:spcPct val="150000"/>
              </a:lnSpc>
              <a:buFont typeface="시스템 서체 일반체"/>
              <a:buChar char="🤖"/>
            </a:pPr>
            <a:r>
              <a:rPr lang="ko-KR" altLang="en-US" sz="1600" b="0" i="0" dirty="0">
                <a:effectLst/>
                <a:latin typeface="fkGroteskNeue"/>
              </a:rPr>
              <a:t>스팸 메일 분류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감성 분석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텍스트 분류 등 자연어 처리</a:t>
            </a:r>
            <a:r>
              <a:rPr lang="en-US" altLang="ko-KR" sz="1600" b="0" i="0" dirty="0">
                <a:effectLst/>
                <a:latin typeface="fkGroteskNeue"/>
              </a:rPr>
              <a:t>(</a:t>
            </a:r>
            <a:r>
              <a:rPr lang="en" altLang="ko-KR" sz="1600" b="0" i="0" dirty="0">
                <a:effectLst/>
                <a:latin typeface="fkGroteskNeue"/>
              </a:rPr>
              <a:t>NLP) </a:t>
            </a:r>
            <a:r>
              <a:rPr lang="ko-KR" altLang="en-US" sz="1600" b="0" i="0" dirty="0">
                <a:effectLst/>
                <a:latin typeface="fkGroteskNeue"/>
              </a:rPr>
              <a:t>작업</a:t>
            </a:r>
          </a:p>
        </p:txBody>
      </p:sp>
    </p:spTree>
    <p:extLst>
      <p:ext uri="{BB962C8B-B14F-4D97-AF65-F5344CB8AC3E}">
        <p14:creationId xmlns:p14="http://schemas.microsoft.com/office/powerpoint/2010/main" val="242573642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2C5F68-BF89-2941-A928-CDD38EC6A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66" y="386196"/>
            <a:ext cx="8823468" cy="3908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E1D216-87C9-8440-BD2C-D8BD75C39CDD}"/>
              </a:ext>
            </a:extLst>
          </p:cNvPr>
          <p:cNvSpPr txBox="1"/>
          <p:nvPr/>
        </p:nvSpPr>
        <p:spPr>
          <a:xfrm>
            <a:off x="1884217" y="5774612"/>
            <a:ext cx="88234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"</a:t>
            </a:r>
            <a:r>
              <a:rPr lang="ko-KR" altLang="en-US" sz="1200" dirty="0" err="1"/>
              <a:t>Supervised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learning</a:t>
            </a:r>
            <a:r>
              <a:rPr lang="ko-KR" altLang="en-US" sz="1200" dirty="0"/>
              <a:t>" – </a:t>
            </a:r>
            <a:r>
              <a:rPr lang="ko-KR" altLang="en-US" sz="1200" dirty="0" err="1"/>
              <a:t>Wikipedia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contributors</a:t>
            </a:r>
            <a:r>
              <a:rPr lang="ko-KR" altLang="en-US" sz="1200" dirty="0"/>
              <a:t>  </a:t>
            </a:r>
          </a:p>
          <a:p>
            <a:pPr algn="ctr"/>
            <a:r>
              <a:rPr lang="ko-KR" altLang="en-US" sz="1200" dirty="0" err="1"/>
              <a:t>Licensed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under</a:t>
            </a:r>
            <a:r>
              <a:rPr lang="ko-KR" altLang="en-US" sz="1200" dirty="0"/>
              <a:t> CC BY-SA 4.0  </a:t>
            </a:r>
          </a:p>
          <a:p>
            <a:pPr algn="ctr"/>
            <a:r>
              <a:rPr lang="ko-KR" altLang="en-US" sz="1200" dirty="0">
                <a:hlinkClick r:id="rId3"/>
              </a:rPr>
              <a:t>https://en.wikipedia.org/wiki/Supervised_learning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C07B0-A88B-F548-8356-C7AEBBBE1C6D}"/>
              </a:ext>
            </a:extLst>
          </p:cNvPr>
          <p:cNvSpPr txBox="1"/>
          <p:nvPr/>
        </p:nvSpPr>
        <p:spPr>
          <a:xfrm>
            <a:off x="2984796" y="4294910"/>
            <a:ext cx="1620957" cy="1100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2800" b="1" dirty="0" err="1">
                <a:latin typeface="+mj-ea"/>
                <a:ea typeface="+mj-ea"/>
              </a:rPr>
              <a:t>지도학습</a:t>
            </a:r>
            <a:endParaRPr kumimoji="1" lang="en-US" altLang="ko-KR" sz="2800" b="1" dirty="0"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dirty="0"/>
              <a:t>분류</a:t>
            </a:r>
            <a:r>
              <a:rPr kumimoji="1" lang="en-US" altLang="ko-KR" dirty="0"/>
              <a:t>,</a:t>
            </a:r>
            <a:r>
              <a:rPr kumimoji="1" lang="ko-KR" altLang="en-US" dirty="0"/>
              <a:t>회귀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FDB138-3BF9-9D43-A330-F4CB219C8026}"/>
              </a:ext>
            </a:extLst>
          </p:cNvPr>
          <p:cNvSpPr txBox="1"/>
          <p:nvPr/>
        </p:nvSpPr>
        <p:spPr>
          <a:xfrm>
            <a:off x="6933914" y="4294910"/>
            <a:ext cx="1980029" cy="1100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2800" b="1" dirty="0" err="1">
                <a:latin typeface="+mj-ea"/>
                <a:ea typeface="+mj-ea"/>
              </a:rPr>
              <a:t>비지도학습</a:t>
            </a:r>
            <a:endParaRPr kumimoji="1" lang="en-US" altLang="ko-KR" sz="2800" b="1" dirty="0"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dirty="0">
                <a:latin typeface="+mj-ea"/>
                <a:ea typeface="+mj-ea"/>
              </a:rPr>
              <a:t>군집화</a:t>
            </a:r>
            <a:endParaRPr kumimoji="1"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3024556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87F501-A498-C44F-AF4C-D49FE7AEC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841" y="290945"/>
            <a:ext cx="9981050" cy="62240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AD779C-87E8-294B-8F1A-13CC07CDB942}"/>
              </a:ext>
            </a:extLst>
          </p:cNvPr>
          <p:cNvSpPr txBox="1"/>
          <p:nvPr/>
        </p:nvSpPr>
        <p:spPr>
          <a:xfrm>
            <a:off x="3228108" y="5881254"/>
            <a:ext cx="7800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출처: </a:t>
            </a:r>
            <a:r>
              <a:rPr lang="ko-KR" altLang="en-US" sz="1400" dirty="0" err="1"/>
              <a:t>Scikit-learn</a:t>
            </a:r>
            <a:r>
              <a:rPr lang="ko-KR" altLang="en-US" sz="1400" dirty="0"/>
              <a:t> 공식 문서 – </a:t>
            </a:r>
            <a:r>
              <a:rPr lang="ko-KR" altLang="en-US" sz="1400" dirty="0" err="1"/>
              <a:t>Machine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Learning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Map</a:t>
            </a:r>
            <a:r>
              <a:rPr lang="ko-KR" altLang="en-US" sz="1400" dirty="0"/>
              <a:t>  </a:t>
            </a:r>
          </a:p>
          <a:p>
            <a:pPr algn="ctr"/>
            <a:r>
              <a:rPr lang="ko-KR" altLang="en-US" sz="1400" dirty="0">
                <a:hlinkClick r:id="rId3"/>
              </a:rPr>
              <a:t>https://scikit-learn.org/1.3/tutorial/machine_learning_map/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84488892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330777" y="22042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사이킷런</a:t>
            </a:r>
            <a:r>
              <a:rPr kumimoji="1" lang="en-US" altLang="ko-KR" sz="5400" b="1" dirty="0">
                <a:latin typeface="+mj-ea"/>
              </a:rPr>
              <a:t> </a:t>
            </a:r>
            <a:r>
              <a:rPr kumimoji="1" lang="ko-KR" altLang="en-US" sz="5400" b="1" dirty="0">
                <a:latin typeface="+mj-ea"/>
              </a:rPr>
              <a:t>설치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C0A84-3BC5-CA4B-AD77-D6C4094C475E}"/>
              </a:ext>
            </a:extLst>
          </p:cNvPr>
          <p:cNvSpPr txBox="1"/>
          <p:nvPr/>
        </p:nvSpPr>
        <p:spPr>
          <a:xfrm>
            <a:off x="330777" y="2751329"/>
            <a:ext cx="11071514" cy="1003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400" b="0" i="0" dirty="0">
                <a:effectLst/>
                <a:latin typeface="fkGroteskNeue"/>
              </a:rPr>
              <a:t> </a:t>
            </a:r>
            <a:r>
              <a:rPr lang="en-US" altLang="ko-KR" sz="4400" b="0" i="0" dirty="0">
                <a:effectLst/>
                <a:latin typeface="fkGroteskNeue"/>
              </a:rPr>
              <a:t>pip</a:t>
            </a:r>
            <a:r>
              <a:rPr lang="ko-KR" altLang="en-US" sz="4400" b="0" i="0" dirty="0">
                <a:effectLst/>
                <a:latin typeface="fkGroteskNeue"/>
              </a:rPr>
              <a:t> </a:t>
            </a:r>
            <a:r>
              <a:rPr lang="en-US" altLang="ko-KR" sz="4400" b="0" i="0" dirty="0">
                <a:effectLst/>
                <a:latin typeface="fkGroteskNeue"/>
              </a:rPr>
              <a:t>install</a:t>
            </a:r>
            <a:r>
              <a:rPr lang="ko-KR" altLang="en-US" sz="4400" b="0" i="0" dirty="0">
                <a:effectLst/>
                <a:latin typeface="fkGroteskNeue"/>
              </a:rPr>
              <a:t> </a:t>
            </a:r>
            <a:r>
              <a:rPr lang="en-US" altLang="ko-KR" sz="4400" b="0" i="0" dirty="0">
                <a:effectLst/>
                <a:latin typeface="fkGroteskNeue"/>
              </a:rPr>
              <a:t>scikit-learn </a:t>
            </a:r>
            <a:endParaRPr lang="ko-KR" altLang="en-US" sz="44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10015847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330777" y="22042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수업 내용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7C0A84-3BC5-CA4B-AD77-D6C4094C475E}"/>
              </a:ext>
            </a:extLst>
          </p:cNvPr>
          <p:cNvSpPr txBox="1"/>
          <p:nvPr/>
        </p:nvSpPr>
        <p:spPr>
          <a:xfrm>
            <a:off x="449407" y="2062322"/>
            <a:ext cx="11071514" cy="223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400" dirty="0">
                <a:latin typeface="+mn-ea"/>
              </a:rPr>
              <a:t>데이터 전처리 </a:t>
            </a:r>
            <a:r>
              <a:rPr lang="en-US" altLang="ko-KR" sz="2400" dirty="0">
                <a:latin typeface="+mn-ea"/>
              </a:rPr>
              <a:t>:</a:t>
            </a:r>
            <a:r>
              <a:rPr lang="ko-KR" altLang="en-US" sz="2400" dirty="0">
                <a:latin typeface="+mn-ea"/>
              </a:rPr>
              <a:t> 스케일링 </a:t>
            </a:r>
            <a:endParaRPr lang="en-US" altLang="ko-KR" sz="2400" dirty="0">
              <a:latin typeface="+mn-ea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400" i="0" dirty="0">
                <a:effectLst/>
                <a:latin typeface="+mn-ea"/>
              </a:rPr>
              <a:t>비지도 학습 </a:t>
            </a:r>
            <a:endParaRPr lang="en-US" altLang="ko-KR" sz="2400" i="0" dirty="0">
              <a:effectLst/>
              <a:latin typeface="+mn-ea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400" dirty="0">
                <a:latin typeface="+mn-ea"/>
              </a:rPr>
              <a:t>지도 학습 </a:t>
            </a:r>
            <a:endParaRPr lang="en-US" altLang="ko-KR" sz="2400" dirty="0">
              <a:latin typeface="+mn-ea"/>
            </a:endParaRPr>
          </a:p>
          <a:p>
            <a:pPr marL="285750" indent="-285750" algn="l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400" i="0" dirty="0" err="1">
                <a:effectLst/>
                <a:latin typeface="+mn-ea"/>
              </a:rPr>
              <a:t>교차검정</a:t>
            </a:r>
            <a:r>
              <a:rPr lang="ko-KR" altLang="en-US" sz="2400" i="0" dirty="0">
                <a:effectLst/>
                <a:latin typeface="+mn-ea"/>
              </a:rPr>
              <a:t> 및 튜닝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86F521E0-29E3-2749-A79A-4BD0A2F54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4233" y="1976871"/>
            <a:ext cx="4292312" cy="23224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E4BBE2-1F13-A14D-8641-F98D16547A65}"/>
              </a:ext>
            </a:extLst>
          </p:cNvPr>
          <p:cNvSpPr txBox="1"/>
          <p:nvPr/>
        </p:nvSpPr>
        <p:spPr>
          <a:xfrm>
            <a:off x="4781116" y="4540485"/>
            <a:ext cx="77585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 err="1"/>
              <a:t>Scikit-learn</a:t>
            </a:r>
            <a:r>
              <a:rPr lang="ko-KR" altLang="en-US" sz="1100" dirty="0"/>
              <a:t> 로고 – </a:t>
            </a:r>
            <a:r>
              <a:rPr lang="ko-KR" altLang="en-US" sz="1100" dirty="0" err="1"/>
              <a:t>Wikimedia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Commons</a:t>
            </a:r>
            <a:r>
              <a:rPr lang="ko-KR" altLang="en-US" sz="1100" dirty="0"/>
              <a:t>  </a:t>
            </a:r>
          </a:p>
          <a:p>
            <a:pPr algn="ctr"/>
            <a:r>
              <a:rPr lang="ko-KR" altLang="en-US" sz="1100" dirty="0">
                <a:hlinkClick r:id="rId4"/>
              </a:rPr>
              <a:t>https://en.m.wikipedia.org/wiki/File:Scikit_learn_logo_small.svg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81191011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전처리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: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스케일링 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99696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644B58CA-752E-5B40-A2AD-4593707D419B}"/>
              </a:ext>
            </a:extLst>
          </p:cNvPr>
          <p:cNvGrpSpPr/>
          <p:nvPr/>
        </p:nvGrpSpPr>
        <p:grpSpPr>
          <a:xfrm>
            <a:off x="354670" y="1363337"/>
            <a:ext cx="5116882" cy="4252401"/>
            <a:chOff x="979118" y="926926"/>
            <a:chExt cx="5116882" cy="4252401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DB07D068-C7A8-5E45-8EC7-9737C56E9844}"/>
                </a:ext>
              </a:extLst>
            </p:cNvPr>
            <p:cNvCxnSpPr>
              <a:cxnSpLocks/>
            </p:cNvCxnSpPr>
            <p:nvPr/>
          </p:nvCxnSpPr>
          <p:spPr>
            <a:xfrm>
              <a:off x="1653436" y="4584526"/>
              <a:ext cx="44425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4F2569A2-052A-894A-AF2F-C1AC8FD143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3436" y="1039660"/>
              <a:ext cx="0" cy="354486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4EEF99-0730-0949-AD3D-26A3E41F0D4D}"/>
                </a:ext>
              </a:extLst>
            </p:cNvPr>
            <p:cNvSpPr txBox="1"/>
            <p:nvPr/>
          </p:nvSpPr>
          <p:spPr>
            <a:xfrm>
              <a:off x="3407079" y="4809995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X</a:t>
              </a:r>
              <a:endParaRPr kumimoji="1"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ACCE37-C2D2-FE44-AC55-B494F44AA88E}"/>
                </a:ext>
              </a:extLst>
            </p:cNvPr>
            <p:cNvSpPr txBox="1"/>
            <p:nvPr/>
          </p:nvSpPr>
          <p:spPr>
            <a:xfrm>
              <a:off x="979118" y="250103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Y</a:t>
              </a:r>
              <a:endParaRPr kumimoji="1" lang="ko-KR" altLang="en-US" dirty="0"/>
            </a:p>
          </p:txBody>
        </p:sp>
        <p:sp>
          <p:nvSpPr>
            <p:cNvPr id="11" name="자유형 10">
              <a:extLst>
                <a:ext uri="{FF2B5EF4-FFF2-40B4-BE49-F238E27FC236}">
                  <a16:creationId xmlns:a16="http://schemas.microsoft.com/office/drawing/2014/main" id="{C99FB947-601E-6F43-9BF1-EF9BE4F913A9}"/>
                </a:ext>
              </a:extLst>
            </p:cNvPr>
            <p:cNvSpPr/>
            <p:nvPr/>
          </p:nvSpPr>
          <p:spPr>
            <a:xfrm>
              <a:off x="2417523" y="926926"/>
              <a:ext cx="3382028" cy="2973168"/>
            </a:xfrm>
            <a:custGeom>
              <a:avLst/>
              <a:gdLst>
                <a:gd name="connsiteX0" fmla="*/ 0 w 3382028"/>
                <a:gd name="connsiteY0" fmla="*/ 2830882 h 2973168"/>
                <a:gd name="connsiteX1" fmla="*/ 2104373 w 3382028"/>
                <a:gd name="connsiteY1" fmla="*/ 2818356 h 2973168"/>
                <a:gd name="connsiteX2" fmla="*/ 1127343 w 3382028"/>
                <a:gd name="connsiteY2" fmla="*/ 1252603 h 2973168"/>
                <a:gd name="connsiteX3" fmla="*/ 2993721 w 3382028"/>
                <a:gd name="connsiteY3" fmla="*/ 313151 h 2973168"/>
                <a:gd name="connsiteX4" fmla="*/ 3382028 w 3382028"/>
                <a:gd name="connsiteY4" fmla="*/ 0 h 297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82028" h="2973168">
                  <a:moveTo>
                    <a:pt x="0" y="2830882"/>
                  </a:moveTo>
                  <a:cubicBezTo>
                    <a:pt x="958241" y="2956142"/>
                    <a:pt x="1916483" y="3081403"/>
                    <a:pt x="2104373" y="2818356"/>
                  </a:cubicBezTo>
                  <a:cubicBezTo>
                    <a:pt x="2292264" y="2555309"/>
                    <a:pt x="979118" y="1670137"/>
                    <a:pt x="1127343" y="1252603"/>
                  </a:cubicBezTo>
                  <a:cubicBezTo>
                    <a:pt x="1275568" y="835069"/>
                    <a:pt x="2617940" y="521918"/>
                    <a:pt x="2993721" y="313151"/>
                  </a:cubicBezTo>
                  <a:cubicBezTo>
                    <a:pt x="3369502" y="104384"/>
                    <a:pt x="3375765" y="52192"/>
                    <a:pt x="3382028" y="0"/>
                  </a:cubicBezTo>
                </a:path>
              </a:pathLst>
            </a:custGeom>
            <a:ln w="28575">
              <a:solidFill>
                <a:srgbClr val="FF0000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174E3A4-982D-5147-A9A8-14D4A8BD7814}"/>
                </a:ext>
              </a:extLst>
            </p:cNvPr>
            <p:cNvSpPr/>
            <p:nvPr/>
          </p:nvSpPr>
          <p:spPr>
            <a:xfrm>
              <a:off x="2417523" y="926926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3456930-B261-9846-A149-2944FABFCED8}"/>
                </a:ext>
              </a:extLst>
            </p:cNvPr>
            <p:cNvSpPr/>
            <p:nvPr/>
          </p:nvSpPr>
          <p:spPr>
            <a:xfrm>
              <a:off x="2555310" y="2237983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CBEC5B2-ED77-0D49-9B97-F9807959F211}"/>
                </a:ext>
              </a:extLst>
            </p:cNvPr>
            <p:cNvSpPr/>
            <p:nvPr/>
          </p:nvSpPr>
          <p:spPr>
            <a:xfrm>
              <a:off x="5062603" y="2346542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2301B0D-33C1-BF46-9F39-0638778ADA4C}"/>
                </a:ext>
              </a:extLst>
            </p:cNvPr>
            <p:cNvSpPr/>
            <p:nvPr/>
          </p:nvSpPr>
          <p:spPr>
            <a:xfrm>
              <a:off x="5127321" y="3484230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9918776-17D6-AB45-845F-E2C3A21BC0A8}"/>
                </a:ext>
              </a:extLst>
            </p:cNvPr>
            <p:cNvSpPr/>
            <p:nvPr/>
          </p:nvSpPr>
          <p:spPr>
            <a:xfrm>
              <a:off x="4966570" y="3820344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FA711BC-BA0F-444C-AEEC-1A529726AF08}"/>
                </a:ext>
              </a:extLst>
            </p:cNvPr>
            <p:cNvSpPr/>
            <p:nvPr/>
          </p:nvSpPr>
          <p:spPr>
            <a:xfrm>
              <a:off x="2217106" y="3033292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E417596-F636-2941-A784-18DD2FB2C8EA}"/>
                </a:ext>
              </a:extLst>
            </p:cNvPr>
            <p:cNvSpPr/>
            <p:nvPr/>
          </p:nvSpPr>
          <p:spPr>
            <a:xfrm>
              <a:off x="3144033" y="2933084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B5ABD39-E4D9-9042-85BD-E48FC7B11FBA}"/>
                </a:ext>
              </a:extLst>
            </p:cNvPr>
            <p:cNvSpPr/>
            <p:nvPr/>
          </p:nvSpPr>
          <p:spPr>
            <a:xfrm>
              <a:off x="3206662" y="1517828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02B2841-18AD-A843-81A5-A72D3300D25C}"/>
                </a:ext>
              </a:extLst>
            </p:cNvPr>
            <p:cNvSpPr/>
            <p:nvPr/>
          </p:nvSpPr>
          <p:spPr>
            <a:xfrm>
              <a:off x="3960313" y="2187043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AB9F131-84ED-5B4F-A96C-0F899FC417A0}"/>
              </a:ext>
            </a:extLst>
          </p:cNvPr>
          <p:cNvGrpSpPr/>
          <p:nvPr/>
        </p:nvGrpSpPr>
        <p:grpSpPr>
          <a:xfrm>
            <a:off x="6428007" y="1404041"/>
            <a:ext cx="5116882" cy="4252401"/>
            <a:chOff x="5826221" y="1363337"/>
            <a:chExt cx="5116882" cy="4252401"/>
          </a:xfrm>
        </p:grpSpPr>
        <p:cxnSp>
          <p:nvCxnSpPr>
            <p:cNvPr id="23" name="직선 연결선[R] 22">
              <a:extLst>
                <a:ext uri="{FF2B5EF4-FFF2-40B4-BE49-F238E27FC236}">
                  <a16:creationId xmlns:a16="http://schemas.microsoft.com/office/drawing/2014/main" id="{F0A4F66D-540C-1B4E-B297-08951759E7F9}"/>
                </a:ext>
              </a:extLst>
            </p:cNvPr>
            <p:cNvCxnSpPr>
              <a:cxnSpLocks/>
            </p:cNvCxnSpPr>
            <p:nvPr/>
          </p:nvCxnSpPr>
          <p:spPr>
            <a:xfrm>
              <a:off x="6500539" y="5020937"/>
              <a:ext cx="44425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연결선[R] 23">
              <a:extLst>
                <a:ext uri="{FF2B5EF4-FFF2-40B4-BE49-F238E27FC236}">
                  <a16:creationId xmlns:a16="http://schemas.microsoft.com/office/drawing/2014/main" id="{E81999ED-E015-C445-B777-DE94EC162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0539" y="1476071"/>
              <a:ext cx="0" cy="354486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354E330-93AF-FC4C-840D-8655718B899A}"/>
                </a:ext>
              </a:extLst>
            </p:cNvPr>
            <p:cNvSpPr txBox="1"/>
            <p:nvPr/>
          </p:nvSpPr>
          <p:spPr>
            <a:xfrm>
              <a:off x="8254182" y="5246406"/>
              <a:ext cx="3241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X</a:t>
              </a:r>
              <a:endParaRPr kumimoji="1" lang="ko-KR" alt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6B2F620-C89D-DF4B-ACCE-67DA8858D437}"/>
                </a:ext>
              </a:extLst>
            </p:cNvPr>
            <p:cNvSpPr txBox="1"/>
            <p:nvPr/>
          </p:nvSpPr>
          <p:spPr>
            <a:xfrm>
              <a:off x="5826221" y="2937441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/>
                <a:t>Y</a:t>
              </a:r>
              <a:endParaRPr kumimoji="1" lang="ko-KR" altLang="en-US" dirty="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ED83ED3-3AF4-C743-B430-58F3D133A548}"/>
                </a:ext>
              </a:extLst>
            </p:cNvPr>
            <p:cNvSpPr/>
            <p:nvPr/>
          </p:nvSpPr>
          <p:spPr>
            <a:xfrm>
              <a:off x="7264626" y="1363337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D9C674E-F4BF-3341-B071-48AC57AA0C11}"/>
                </a:ext>
              </a:extLst>
            </p:cNvPr>
            <p:cNvSpPr/>
            <p:nvPr/>
          </p:nvSpPr>
          <p:spPr>
            <a:xfrm>
              <a:off x="7402413" y="2674394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C16E133-1E22-1C43-9897-42D821B6F91B}"/>
                </a:ext>
              </a:extLst>
            </p:cNvPr>
            <p:cNvSpPr/>
            <p:nvPr/>
          </p:nvSpPr>
          <p:spPr>
            <a:xfrm>
              <a:off x="9909706" y="2782953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81E001F-4925-B04D-88CE-87177F8D4EEE}"/>
                </a:ext>
              </a:extLst>
            </p:cNvPr>
            <p:cNvSpPr/>
            <p:nvPr/>
          </p:nvSpPr>
          <p:spPr>
            <a:xfrm>
              <a:off x="9974424" y="3920641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FF0D375-AB32-954E-8DD1-D34F54664E88}"/>
                </a:ext>
              </a:extLst>
            </p:cNvPr>
            <p:cNvSpPr/>
            <p:nvPr/>
          </p:nvSpPr>
          <p:spPr>
            <a:xfrm>
              <a:off x="9813673" y="4256755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F9E98A84-FA9A-8346-A4D3-AA2D2959DC22}"/>
                </a:ext>
              </a:extLst>
            </p:cNvPr>
            <p:cNvSpPr/>
            <p:nvPr/>
          </p:nvSpPr>
          <p:spPr>
            <a:xfrm>
              <a:off x="7064209" y="3469703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90B62C94-F235-8347-B0BE-E2C999EFA4E8}"/>
                </a:ext>
              </a:extLst>
            </p:cNvPr>
            <p:cNvSpPr/>
            <p:nvPr/>
          </p:nvSpPr>
          <p:spPr>
            <a:xfrm>
              <a:off x="7991136" y="3369495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C04698E0-F1AD-8745-A077-9B7021002570}"/>
                </a:ext>
              </a:extLst>
            </p:cNvPr>
            <p:cNvSpPr/>
            <p:nvPr/>
          </p:nvSpPr>
          <p:spPr>
            <a:xfrm>
              <a:off x="8053765" y="1954239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C6E6462-C4E3-3048-A881-AEF3F8D6925B}"/>
                </a:ext>
              </a:extLst>
            </p:cNvPr>
            <p:cNvSpPr/>
            <p:nvPr/>
          </p:nvSpPr>
          <p:spPr>
            <a:xfrm>
              <a:off x="8807416" y="2623454"/>
              <a:ext cx="200417" cy="20041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38" name="직선 연결선[R] 37">
              <a:extLst>
                <a:ext uri="{FF2B5EF4-FFF2-40B4-BE49-F238E27FC236}">
                  <a16:creationId xmlns:a16="http://schemas.microsoft.com/office/drawing/2014/main" id="{3EC521FB-DE5F-6343-B631-D324AEBCA7CD}"/>
                </a:ext>
              </a:extLst>
            </p:cNvPr>
            <p:cNvCxnSpPr/>
            <p:nvPr/>
          </p:nvCxnSpPr>
          <p:spPr>
            <a:xfrm flipV="1">
              <a:off x="6638795" y="1463545"/>
              <a:ext cx="3435837" cy="342160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BD90B8F-A305-7644-9017-B860C88C207A}"/>
              </a:ext>
            </a:extLst>
          </p:cNvPr>
          <p:cNvSpPr txBox="1"/>
          <p:nvPr/>
        </p:nvSpPr>
        <p:spPr>
          <a:xfrm>
            <a:off x="1581709" y="581828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데이터 스케일링 전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801504-00A5-4A46-9F40-E737F7CD06EC}"/>
              </a:ext>
            </a:extLst>
          </p:cNvPr>
          <p:cNvSpPr txBox="1"/>
          <p:nvPr/>
        </p:nvSpPr>
        <p:spPr>
          <a:xfrm>
            <a:off x="7879739" y="554963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데이터 스케일링 후 </a:t>
            </a:r>
          </a:p>
        </p:txBody>
      </p:sp>
    </p:spTree>
    <p:extLst>
      <p:ext uri="{BB962C8B-B14F-4D97-AF65-F5344CB8AC3E}">
        <p14:creationId xmlns:p14="http://schemas.microsoft.com/office/powerpoint/2010/main" val="286607888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스케일링란</a:t>
            </a:r>
            <a:r>
              <a:rPr kumimoji="1" lang="en-US" altLang="ko-KR" sz="5400" b="1" dirty="0">
                <a:latin typeface="+mj-ea"/>
              </a:rPr>
              <a:t>?</a:t>
            </a:r>
            <a:r>
              <a:rPr kumimoji="1" lang="ko-KR" altLang="en-US" sz="5400" b="1" dirty="0">
                <a:latin typeface="+mj-ea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6" y="1483424"/>
            <a:ext cx="11656631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 특정 범위로 데이터 값을 조정</a:t>
            </a:r>
            <a:r>
              <a:rPr lang="ko-KR" altLang="en-US" sz="2000" dirty="0">
                <a:latin typeface="+mn-ea"/>
              </a:rPr>
              <a:t>하는 과정입니다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이는 </a:t>
            </a:r>
            <a:r>
              <a:rPr lang="ko-KR" altLang="en-US" sz="2000" dirty="0" err="1">
                <a:latin typeface="+mn-ea"/>
              </a:rPr>
              <a:t>머신러닝</a:t>
            </a:r>
            <a:r>
              <a:rPr lang="ko-KR" altLang="en-US" sz="2000" dirty="0">
                <a:latin typeface="+mn-ea"/>
              </a:rPr>
              <a:t> 모델 학습에 중요한 역할을 합니다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C185AC-78E4-074F-B23B-BB7001A834F9}"/>
              </a:ext>
            </a:extLst>
          </p:cNvPr>
          <p:cNvSpPr txBox="1"/>
          <p:nvPr/>
        </p:nvSpPr>
        <p:spPr>
          <a:xfrm>
            <a:off x="330776" y="2124339"/>
            <a:ext cx="11656631" cy="247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sz="1600" b="1" dirty="0">
                <a:latin typeface="+mn-ea"/>
              </a:rPr>
              <a:t> 특징 간의 차이를 줄이기 위해 </a:t>
            </a:r>
            <a:r>
              <a:rPr lang="en-US" altLang="ko-KR" sz="1600" b="1" dirty="0">
                <a:latin typeface="+mn-ea"/>
              </a:rPr>
              <a:t>: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데이터셋</a:t>
            </a:r>
            <a:r>
              <a:rPr lang="ko-KR" altLang="en-US" sz="1600" dirty="0">
                <a:latin typeface="+mn-ea"/>
              </a:rPr>
              <a:t> 각 특정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피처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이 매우 다른 범위를 가지며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일부 특성 값이 너무 커서 모델이 특성에만 의존할 수 있습니다</a:t>
            </a:r>
            <a:r>
              <a:rPr lang="en-US" altLang="ko-KR" sz="1600" dirty="0">
                <a:latin typeface="+mn-ea"/>
              </a:rPr>
              <a:t>.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sz="1600" b="1" dirty="0">
                <a:latin typeface="+mn-ea"/>
              </a:rPr>
              <a:t>수렴 속도 개선 </a:t>
            </a:r>
            <a:r>
              <a:rPr lang="en-US" altLang="ko-KR" sz="1600" b="1" dirty="0">
                <a:latin typeface="+mn-ea"/>
              </a:rPr>
              <a:t>:</a:t>
            </a:r>
            <a:r>
              <a:rPr lang="ko-KR" altLang="en-US" sz="1600" b="1" dirty="0">
                <a:latin typeface="+mn-ea"/>
              </a:rPr>
              <a:t>  </a:t>
            </a:r>
            <a:r>
              <a:rPr lang="ko-KR" altLang="en-US" sz="1600" dirty="0">
                <a:latin typeface="+mn-ea"/>
              </a:rPr>
              <a:t>경사 </a:t>
            </a:r>
            <a:r>
              <a:rPr lang="ko-KR" altLang="en-US" sz="1600" dirty="0" err="1">
                <a:latin typeface="+mn-ea"/>
              </a:rPr>
              <a:t>하강법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(Gradient Descent)</a:t>
            </a:r>
            <a:r>
              <a:rPr lang="ko-KR" altLang="en-US" sz="1600" dirty="0">
                <a:latin typeface="+mn-ea"/>
              </a:rPr>
              <a:t>과 같은 최적화 </a:t>
            </a:r>
            <a:r>
              <a:rPr lang="ko-KR" altLang="en-US" sz="1600" dirty="0" err="1">
                <a:latin typeface="+mn-ea"/>
              </a:rPr>
              <a:t>알고림즘에서</a:t>
            </a:r>
            <a:r>
              <a:rPr lang="ko-KR" altLang="en-US" sz="1600" dirty="0">
                <a:latin typeface="+mn-ea"/>
              </a:rPr>
              <a:t> 데이터의 스케일이 다르며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학습이   느려지거나 수렴이 어려울 수 있습니다</a:t>
            </a:r>
            <a:r>
              <a:rPr lang="en-US" altLang="ko-KR" sz="1600" dirty="0">
                <a:latin typeface="+mn-ea"/>
              </a:rPr>
              <a:t>.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marL="800100" lvl="1" indent="-34290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sz="1600" b="1" dirty="0">
                <a:latin typeface="+mn-ea"/>
              </a:rPr>
              <a:t>모델 성능 향상</a:t>
            </a:r>
            <a:r>
              <a:rPr lang="en-US" altLang="ko-KR" sz="1600" b="1" dirty="0">
                <a:latin typeface="+mn-ea"/>
              </a:rPr>
              <a:t>:</a:t>
            </a:r>
            <a:r>
              <a:rPr lang="ko-KR" altLang="en-US" sz="1600" b="1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거리 기반 알고리즘에서는 데이터의 크기에 따라 거리가 크게 달라지므로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스케일링이 필수적입니다</a:t>
            </a:r>
            <a:r>
              <a:rPr lang="en-US" altLang="ko-KR" sz="1600" dirty="0">
                <a:latin typeface="+mn-ea"/>
              </a:rPr>
              <a:t>.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2395178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스케일링 종류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6" y="1483424"/>
            <a:ext cx="11656631" cy="2456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레이블 </a:t>
            </a:r>
            <a:r>
              <a:rPr lang="ko-KR" altLang="en-US" sz="2000" b="1" dirty="0" err="1">
                <a:latin typeface="+mn-ea"/>
              </a:rPr>
              <a:t>인코딩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문자열 값을 인코딩해서 </a:t>
            </a:r>
            <a:r>
              <a:rPr lang="ko-KR" altLang="en-US" sz="2000" dirty="0" err="1">
                <a:latin typeface="+mn-ea"/>
              </a:rPr>
              <a:t>숫자형으로</a:t>
            </a:r>
            <a:r>
              <a:rPr lang="ko-KR" altLang="en-US" sz="2000" dirty="0">
                <a:latin typeface="+mn-ea"/>
              </a:rPr>
              <a:t> 변환 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</a:rPr>
              <a:t>Label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b="1" dirty="0">
                <a:latin typeface="+mn-ea"/>
              </a:rPr>
              <a:t>Encoding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표준화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평균 </a:t>
            </a:r>
            <a:r>
              <a:rPr lang="en-US" altLang="ko-KR" sz="2000" dirty="0">
                <a:latin typeface="+mn-ea"/>
              </a:rPr>
              <a:t>0,</a:t>
            </a:r>
            <a:r>
              <a:rPr lang="ko-KR" altLang="en-US" sz="2000" dirty="0">
                <a:latin typeface="+mn-ea"/>
              </a:rPr>
              <a:t> 분산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로 만들어주는 스케일링 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 err="1">
                <a:latin typeface="+mn-ea"/>
              </a:rPr>
              <a:t>StandardScaler</a:t>
            </a:r>
            <a:r>
              <a:rPr lang="en-US" altLang="ko-KR" sz="2000" dirty="0">
                <a:latin typeface="+mn-ea"/>
              </a:rPr>
              <a:t>) </a:t>
            </a:r>
            <a:endParaRPr lang="en-US" altLang="ko-KR" sz="24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정규화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0</a:t>
            </a:r>
            <a:r>
              <a:rPr lang="ko-KR" altLang="en-US" sz="2000" dirty="0">
                <a:latin typeface="+mn-ea"/>
              </a:rPr>
              <a:t>과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 사이의 값으로 변환 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 err="1">
                <a:latin typeface="+mn-ea"/>
              </a:rPr>
              <a:t>MinMaxScaler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en-US" altLang="ko-KR" sz="2000" b="1" dirty="0" err="1">
                <a:latin typeface="+mn-ea"/>
              </a:rPr>
              <a:t>MaxAbsScaler</a:t>
            </a:r>
            <a:r>
              <a:rPr lang="en-US" altLang="ko-KR" sz="2000" dirty="0">
                <a:latin typeface="+mn-ea"/>
              </a:rPr>
              <a:t>) </a:t>
            </a: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 err="1">
                <a:latin typeface="+mn-ea"/>
              </a:rPr>
              <a:t>로버스트</a:t>
            </a:r>
            <a:r>
              <a:rPr lang="ko-KR" altLang="en-US" sz="2000" b="1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중앙값과 </a:t>
            </a:r>
            <a:r>
              <a:rPr lang="ko-KR" altLang="en-US" sz="2000" dirty="0" err="1">
                <a:latin typeface="+mn-ea"/>
              </a:rPr>
              <a:t>사분위</a:t>
            </a:r>
            <a:r>
              <a:rPr lang="ko-KR" altLang="en-US" sz="2000" dirty="0">
                <a:latin typeface="+mn-ea"/>
              </a:rPr>
              <a:t> 값 사용 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 err="1">
                <a:latin typeface="+mn-ea"/>
              </a:rPr>
              <a:t>RobustScaler</a:t>
            </a:r>
            <a:r>
              <a:rPr lang="en-US" altLang="ko-KR" sz="2000" dirty="0">
                <a:latin typeface="+mn-ea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67081712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비지도 학습 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16932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비지도학습이란</a:t>
            </a:r>
            <a:r>
              <a:rPr kumimoji="1" lang="en-US" altLang="ko-KR" sz="5400" b="1" dirty="0">
                <a:latin typeface="+mj-ea"/>
              </a:rPr>
              <a:t>?</a:t>
            </a:r>
            <a:r>
              <a:rPr kumimoji="1" lang="ko-KR" altLang="en-US" sz="5400" b="1" dirty="0">
                <a:latin typeface="+mj-ea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6" y="1483424"/>
            <a:ext cx="11656631" cy="1571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라벨이 없는 데이터</a:t>
            </a:r>
            <a:r>
              <a:rPr lang="ko-KR" altLang="en-US" sz="2000" dirty="0">
                <a:latin typeface="+mn-ea"/>
              </a:rPr>
              <a:t>를 이용하여 패턴이나 구조를 찾는 </a:t>
            </a:r>
            <a:r>
              <a:rPr lang="ko-KR" altLang="en-US" sz="2000" dirty="0" err="1">
                <a:latin typeface="+mn-ea"/>
              </a:rPr>
              <a:t>머신러닝</a:t>
            </a:r>
            <a:r>
              <a:rPr lang="ko-KR" altLang="en-US" sz="2000" dirty="0">
                <a:latin typeface="+mn-ea"/>
              </a:rPr>
              <a:t> 한 기법입니다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비지도학습의 </a:t>
            </a:r>
            <a:r>
              <a:rPr lang="ko-KR" altLang="en-US" sz="2000" b="1" dirty="0">
                <a:latin typeface="+mn-ea"/>
              </a:rPr>
              <a:t>주요 목표는 데이터의 내재된 분포를 이해하거나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 비슷한 </a:t>
            </a:r>
            <a:r>
              <a:rPr lang="ko-KR" altLang="en-US" sz="2000" dirty="0" err="1">
                <a:latin typeface="+mn-ea"/>
              </a:rPr>
              <a:t>데이터끼리</a:t>
            </a:r>
            <a:r>
              <a:rPr lang="ko-KR" altLang="en-US" sz="2000" dirty="0">
                <a:latin typeface="+mn-ea"/>
              </a:rPr>
              <a:t> 그룹화 하거나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차원을 축소해 데이터의 복잡성을 줄이는 것입니다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48B78C-0CC5-CF49-B1B8-F9B04BF71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91" y="3641034"/>
            <a:ext cx="2239617" cy="2239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A1F2D3-4133-E845-8056-FE0A3ECC6E5C}"/>
              </a:ext>
            </a:extLst>
          </p:cNvPr>
          <p:cNvSpPr txBox="1"/>
          <p:nvPr/>
        </p:nvSpPr>
        <p:spPr>
          <a:xfrm>
            <a:off x="3111091" y="60048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Icon by </a:t>
            </a:r>
            <a:r>
              <a:rPr lang="en" altLang="ko-KR" sz="1200" b="1" dirty="0" err="1"/>
              <a:t>Freepik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https://www.flaticon.com/free-icon/diversity_4807598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6223137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비지도학습</a:t>
            </a:r>
            <a:r>
              <a:rPr kumimoji="1" lang="ko-KR" altLang="en-US" sz="5400" b="1" dirty="0">
                <a:latin typeface="+mj-ea"/>
              </a:rPr>
              <a:t> 특징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6" y="1483424"/>
            <a:ext cx="11656631" cy="307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라벨이 없는 데이터</a:t>
            </a:r>
            <a:r>
              <a:rPr lang="ko-KR" altLang="en-US" sz="2000" dirty="0">
                <a:latin typeface="+mn-ea"/>
              </a:rPr>
              <a:t>에서 작동하는 점이 가장 큰 특징입니다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데이터의 패턴이나 구조를 발견하는데 유리하며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 데이터를 탐색하거나 </a:t>
            </a:r>
            <a:r>
              <a:rPr lang="ko-KR" altLang="en-US" sz="2000" dirty="0" err="1">
                <a:latin typeface="+mn-ea"/>
              </a:rPr>
              <a:t>전처리하는</a:t>
            </a:r>
            <a:r>
              <a:rPr lang="ko-KR" altLang="en-US" sz="2000" dirty="0">
                <a:latin typeface="+mn-ea"/>
              </a:rPr>
              <a:t> 단계에서         자주 사용됩니다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b="1" dirty="0">
                <a:latin typeface="+mn-ea"/>
              </a:rPr>
              <a:t>비지도학습은 정답이 없기 때문에 </a:t>
            </a:r>
            <a:r>
              <a:rPr lang="ko-KR" altLang="en-US" sz="2000" dirty="0">
                <a:latin typeface="+mn-ea"/>
              </a:rPr>
              <a:t>평가 기준이 명확하지 않으며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 결과 해석이 비교적 어려울 수  있습니다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083574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1496967" y="1646695"/>
            <a:ext cx="11656631" cy="307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추천 시스템 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문서 군집화 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고객 세분화 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이미지 분류</a:t>
            </a:r>
            <a:endParaRPr lang="en-US" altLang="ko-KR" sz="20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+mn-ea"/>
              </a:rPr>
              <a:t>이상 탐지 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3D2253-4E39-CB49-B0FC-C03D3972E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04" y="1646695"/>
            <a:ext cx="3485322" cy="3485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E33AF-6798-D241-8BEB-6A5F0BE45682}"/>
              </a:ext>
            </a:extLst>
          </p:cNvPr>
          <p:cNvSpPr txBox="1"/>
          <p:nvPr/>
        </p:nvSpPr>
        <p:spPr>
          <a:xfrm>
            <a:off x="5509260" y="53241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Icon by </a:t>
            </a:r>
            <a:r>
              <a:rPr lang="en" altLang="ko-KR" sz="1200" b="1" dirty="0" err="1"/>
              <a:t>Freepik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https://www.flaticon.com/free-icon/diversity_4807598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7864647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비지도학습</a:t>
            </a:r>
            <a:r>
              <a:rPr kumimoji="1" lang="ko-KR" altLang="en-US" sz="5400" b="1" dirty="0">
                <a:latin typeface="+mj-ea"/>
              </a:rPr>
              <a:t> 모델   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F382AB-777D-024E-BF9B-680FF1804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61" y="1748745"/>
            <a:ext cx="3127513" cy="3127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2E9BCD-358C-F54A-AE74-D7D9ACFF5E0D}"/>
              </a:ext>
            </a:extLst>
          </p:cNvPr>
          <p:cNvSpPr txBox="1"/>
          <p:nvPr/>
        </p:nvSpPr>
        <p:spPr>
          <a:xfrm>
            <a:off x="5304183" y="52022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"Clustering" icon by </a:t>
            </a:r>
            <a:r>
              <a:rPr lang="en" altLang="ko-KR" sz="1200" b="1" dirty="0" err="1"/>
              <a:t>Eucalyp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https://www.flaticon.com/free-icon/clustering_9850906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0602-A3A1-F744-BBA0-8963D495A292}"/>
              </a:ext>
            </a:extLst>
          </p:cNvPr>
          <p:cNvSpPr txBox="1"/>
          <p:nvPr/>
        </p:nvSpPr>
        <p:spPr>
          <a:xfrm>
            <a:off x="675333" y="1809464"/>
            <a:ext cx="11656631" cy="1452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400" dirty="0" err="1">
                <a:latin typeface="+mn-ea"/>
              </a:rPr>
              <a:t>클러스터링</a:t>
            </a:r>
            <a:r>
              <a:rPr lang="ko-KR" altLang="en-US" sz="2400" dirty="0">
                <a:latin typeface="+mn-ea"/>
              </a:rPr>
              <a:t> </a:t>
            </a:r>
            <a:endParaRPr lang="en-US" altLang="ko-KR" sz="24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400" dirty="0">
                <a:latin typeface="+mn-ea"/>
              </a:rPr>
              <a:t>차원 축소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6414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클러스터링</a:t>
            </a:r>
            <a:r>
              <a:rPr kumimoji="1" lang="ko-KR" altLang="en-US" sz="5400" b="1" dirty="0">
                <a:latin typeface="+mj-ea"/>
              </a:rPr>
              <a:t> </a:t>
            </a:r>
            <a:r>
              <a:rPr kumimoji="1" lang="en-US" altLang="ko-KR" sz="5400" b="1" dirty="0">
                <a:latin typeface="+mj-ea"/>
              </a:rPr>
              <a:t>(Clustering)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0602-A3A1-F744-BBA0-8963D495A292}"/>
              </a:ext>
            </a:extLst>
          </p:cNvPr>
          <p:cNvSpPr txBox="1"/>
          <p:nvPr/>
        </p:nvSpPr>
        <p:spPr>
          <a:xfrm>
            <a:off x="535369" y="1483424"/>
            <a:ext cx="11656631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K-Means : </a:t>
            </a:r>
            <a:r>
              <a:rPr lang="ko-KR" altLang="en-US" dirty="0">
                <a:latin typeface="+mn-ea"/>
              </a:rPr>
              <a:t>가장 널리 사용되는 </a:t>
            </a:r>
            <a:r>
              <a:rPr lang="ko-KR" altLang="en-US" dirty="0" err="1">
                <a:latin typeface="+mn-ea"/>
              </a:rPr>
              <a:t>클러스터링</a:t>
            </a:r>
            <a:r>
              <a:rPr lang="ko-KR" altLang="en-US" dirty="0">
                <a:latin typeface="+mn-ea"/>
              </a:rPr>
              <a:t> 알고리즘 중 하나입니다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데이터를 </a:t>
            </a:r>
            <a:r>
              <a:rPr lang="en-US" altLang="ko-KR" dirty="0">
                <a:latin typeface="+mn-ea"/>
              </a:rPr>
              <a:t>K</a:t>
            </a:r>
            <a:r>
              <a:rPr lang="ko-KR" altLang="en-US" dirty="0">
                <a:latin typeface="+mn-ea"/>
              </a:rPr>
              <a:t>개의 클러스터로 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dirty="0">
                <a:latin typeface="+mn-ea"/>
              </a:rPr>
              <a:t>    그룹화하는데 사용되며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고객 세분화나 이상 탐지 등에 활용됩니다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B9C4DD7-14B2-ED4B-86EE-1ED32250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83" y="3051496"/>
            <a:ext cx="2421834" cy="2421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8C4915-6E5B-B64C-884F-C8E61D038D5E}"/>
              </a:ext>
            </a:extLst>
          </p:cNvPr>
          <p:cNvSpPr txBox="1"/>
          <p:nvPr/>
        </p:nvSpPr>
        <p:spPr>
          <a:xfrm>
            <a:off x="3157331" y="584087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"Clustering" icon by </a:t>
            </a:r>
            <a:r>
              <a:rPr lang="en" altLang="ko-KR" sz="1200" b="1" dirty="0" err="1"/>
              <a:t>Eucalyp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https://www.flaticon.com/free-icon/clustering_9850906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5170606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KMeans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0602-A3A1-F744-BBA0-8963D495A292}"/>
              </a:ext>
            </a:extLst>
          </p:cNvPr>
          <p:cNvSpPr txBox="1"/>
          <p:nvPr/>
        </p:nvSpPr>
        <p:spPr>
          <a:xfrm>
            <a:off x="535369" y="1451553"/>
            <a:ext cx="11656631" cy="247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#</a:t>
            </a:r>
            <a:r>
              <a:rPr lang="ko-KR" altLang="en-US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모델 생성 및 학습 </a:t>
            </a:r>
            <a:endParaRPr lang="en-US" altLang="ko-KR" sz="1600" i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>
                <a:latin typeface="+mn-ea"/>
              </a:rPr>
              <a:t>km  = </a:t>
            </a:r>
            <a:r>
              <a:rPr lang="en-US" altLang="ko-KR" sz="1600" dirty="0" err="1">
                <a:latin typeface="+mn-ea"/>
              </a:rPr>
              <a:t>KMeans</a:t>
            </a:r>
            <a:r>
              <a:rPr lang="en-US" altLang="ko-KR" sz="1600" dirty="0">
                <a:latin typeface="+mn-ea"/>
              </a:rPr>
              <a:t> (</a:t>
            </a:r>
            <a:r>
              <a:rPr lang="en-US" altLang="ko-KR" sz="1600" dirty="0" err="1">
                <a:latin typeface="+mn-ea"/>
              </a:rPr>
              <a:t>n_clusters</a:t>
            </a:r>
            <a:r>
              <a:rPr lang="en-US" altLang="ko-KR" sz="1600" dirty="0">
                <a:latin typeface="+mn-ea"/>
              </a:rPr>
              <a:t> = 3, </a:t>
            </a:r>
            <a:r>
              <a:rPr lang="en-US" altLang="ko-KR" sz="1600" dirty="0" err="1">
                <a:latin typeface="+mn-ea"/>
              </a:rPr>
              <a:t>random_state</a:t>
            </a:r>
            <a:r>
              <a:rPr lang="en-US" altLang="ko-KR" sz="1600" dirty="0">
                <a:latin typeface="+mn-ea"/>
              </a:rPr>
              <a:t> = 42, </a:t>
            </a:r>
            <a:r>
              <a:rPr lang="en-US" altLang="ko-KR" sz="1600" dirty="0" err="1">
                <a:latin typeface="+mn-ea"/>
              </a:rPr>
              <a:t>n_init</a:t>
            </a:r>
            <a:r>
              <a:rPr lang="en-US" altLang="ko-KR" sz="1600" dirty="0">
                <a:latin typeface="+mn-ea"/>
              </a:rPr>
              <a:t> = 10)</a:t>
            </a:r>
          </a:p>
          <a:p>
            <a:pPr>
              <a:lnSpc>
                <a:spcPct val="200000"/>
              </a:lnSpc>
            </a:pPr>
            <a:r>
              <a:rPr lang="en-US" altLang="ko-KR" sz="1600" dirty="0" err="1">
                <a:latin typeface="+mn-ea"/>
              </a:rPr>
              <a:t>km.fit</a:t>
            </a:r>
            <a:r>
              <a:rPr lang="en-US" altLang="ko-KR" sz="1600" dirty="0">
                <a:latin typeface="+mn-ea"/>
              </a:rPr>
              <a:t>(</a:t>
            </a:r>
            <a:r>
              <a:rPr lang="en-US" altLang="ko-KR" sz="1600" dirty="0" err="1">
                <a:latin typeface="+mn-ea"/>
              </a:rPr>
              <a:t>xlabel</a:t>
            </a:r>
            <a:r>
              <a:rPr lang="en-US" altLang="ko-KR" sz="1600" dirty="0">
                <a:latin typeface="+mn-ea"/>
              </a:rPr>
              <a:t>) </a:t>
            </a:r>
          </a:p>
          <a:p>
            <a:pPr>
              <a:lnSpc>
                <a:spcPct val="200000"/>
              </a:lnSpc>
            </a:pPr>
            <a:r>
              <a:rPr lang="en-US" altLang="ko-KR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#</a:t>
            </a:r>
            <a:r>
              <a:rPr lang="ko-KR" altLang="en-US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 클러스터 레이블 예측 </a:t>
            </a:r>
            <a:endParaRPr lang="en-US" altLang="ko-KR" sz="1600" i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>
                <a:latin typeface="+mn-ea"/>
              </a:rPr>
              <a:t>label = </a:t>
            </a:r>
            <a:r>
              <a:rPr lang="en-US" altLang="ko-KR" sz="1600" dirty="0" err="1">
                <a:latin typeface="+mn-ea"/>
              </a:rPr>
              <a:t>km.predict</a:t>
            </a:r>
            <a:r>
              <a:rPr lang="en-US" altLang="ko-KR" sz="1600" dirty="0">
                <a:latin typeface="+mn-ea"/>
              </a:rPr>
              <a:t>(</a:t>
            </a:r>
            <a:r>
              <a:rPr lang="en-US" altLang="ko-KR" sz="1600" dirty="0" err="1">
                <a:latin typeface="+mn-ea"/>
              </a:rPr>
              <a:t>xlabel</a:t>
            </a:r>
            <a:r>
              <a:rPr lang="en-US" altLang="ko-KR" sz="1600" dirty="0">
                <a:latin typeface="+mn-ea"/>
              </a:rPr>
              <a:t>)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8098F-3815-0942-8285-72B35165AC55}"/>
              </a:ext>
            </a:extLst>
          </p:cNvPr>
          <p:cNvSpPr txBox="1"/>
          <p:nvPr/>
        </p:nvSpPr>
        <p:spPr>
          <a:xfrm>
            <a:off x="535369" y="4433395"/>
            <a:ext cx="11656631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n_clusters</a:t>
            </a:r>
            <a:r>
              <a:rPr lang="en-US" altLang="ko-KR" dirty="0">
                <a:latin typeface="+mn-ea"/>
              </a:rPr>
              <a:t> :</a:t>
            </a:r>
            <a:r>
              <a:rPr lang="ko-KR" altLang="en-US" dirty="0">
                <a:latin typeface="+mn-ea"/>
              </a:rPr>
              <a:t> 생성할 클러스터의 수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random_state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결과 재현을 위한 </a:t>
            </a:r>
            <a:r>
              <a:rPr lang="ko-KR" altLang="en-US" dirty="0" err="1">
                <a:latin typeface="+mn-ea"/>
              </a:rPr>
              <a:t>난수</a:t>
            </a:r>
            <a:r>
              <a:rPr lang="ko-KR" altLang="en-US" dirty="0">
                <a:latin typeface="+mn-ea"/>
              </a:rPr>
              <a:t> 시드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n_init</a:t>
            </a:r>
            <a:r>
              <a:rPr lang="en-US" altLang="ko-KR" dirty="0">
                <a:latin typeface="+mn-ea"/>
              </a:rPr>
              <a:t> = </a:t>
            </a:r>
            <a:r>
              <a:rPr lang="ko-KR" altLang="en-US" dirty="0">
                <a:latin typeface="+mn-ea"/>
              </a:rPr>
              <a:t>서로 다른 초기값으로 알고리즘을 실행할 횟수  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6859028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차원 축소 </a:t>
            </a:r>
            <a:r>
              <a:rPr kumimoji="1" lang="en-US" altLang="ko-KR" sz="5400" b="1" dirty="0">
                <a:latin typeface="+mj-ea"/>
              </a:rPr>
              <a:t>(Dimensionality Reduction)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0602-A3A1-F744-BBA0-8963D495A292}"/>
              </a:ext>
            </a:extLst>
          </p:cNvPr>
          <p:cNvSpPr txBox="1"/>
          <p:nvPr/>
        </p:nvSpPr>
        <p:spPr>
          <a:xfrm>
            <a:off x="535369" y="1483424"/>
            <a:ext cx="11656631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PCA (Principal Component Analysis) : PCA</a:t>
            </a:r>
            <a:r>
              <a:rPr lang="ko-KR" altLang="en-US" dirty="0">
                <a:latin typeface="+mn-ea"/>
              </a:rPr>
              <a:t>는 고차원 데이터의 차원을 줄이는데 사용되는 대표적인            기법입니다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데이터 시각화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특징 추출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노이즈 제거 등에 활용됩니다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 </a:t>
            </a:r>
            <a:endParaRPr lang="en-US" altLang="ko-KR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B9C4DD7-14B2-ED4B-86EE-1ED32250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83" y="3051496"/>
            <a:ext cx="2421834" cy="2421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8C4915-6E5B-B64C-884F-C8E61D038D5E}"/>
              </a:ext>
            </a:extLst>
          </p:cNvPr>
          <p:cNvSpPr txBox="1"/>
          <p:nvPr/>
        </p:nvSpPr>
        <p:spPr>
          <a:xfrm>
            <a:off x="3157331" y="584087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"Clustering" icon by </a:t>
            </a:r>
            <a:r>
              <a:rPr lang="en" altLang="ko-KR" sz="1200" b="1" dirty="0" err="1"/>
              <a:t>Eucalyp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https://www.flaticon.com/free-icon/clustering_9850906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7172057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PCA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0602-A3A1-F744-BBA0-8963D495A292}"/>
              </a:ext>
            </a:extLst>
          </p:cNvPr>
          <p:cNvSpPr txBox="1"/>
          <p:nvPr/>
        </p:nvSpPr>
        <p:spPr>
          <a:xfrm>
            <a:off x="535369" y="1451553"/>
            <a:ext cx="11656631" cy="160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#</a:t>
            </a:r>
            <a:r>
              <a:rPr lang="ko-KR" altLang="en-US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모델 생성 및 </a:t>
            </a:r>
            <a:r>
              <a:rPr lang="ko-KR" altLang="en-US" sz="1600" i="1" dirty="0" err="1">
                <a:solidFill>
                  <a:schemeClr val="bg2">
                    <a:lumMod val="75000"/>
                  </a:schemeClr>
                </a:solidFill>
                <a:latin typeface="+mn-ea"/>
              </a:rPr>
              <a:t>클러스터링</a:t>
            </a:r>
            <a:r>
              <a:rPr lang="ko-KR" altLang="en-US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 </a:t>
            </a:r>
            <a:endParaRPr lang="en-US" altLang="ko-KR" sz="1600" i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dirty="0" err="1">
                <a:latin typeface="+mn-ea"/>
              </a:rPr>
              <a:t>pca</a:t>
            </a:r>
            <a:r>
              <a:rPr lang="en-US" altLang="ko-KR" dirty="0">
                <a:latin typeface="+mn-ea"/>
              </a:rPr>
              <a:t>  = PCA(</a:t>
            </a:r>
            <a:r>
              <a:rPr lang="en-US" altLang="ko-KR" dirty="0" err="1">
                <a:latin typeface="+mn-ea"/>
              </a:rPr>
              <a:t>n_components</a:t>
            </a:r>
            <a:r>
              <a:rPr lang="en-US" altLang="ko-KR" dirty="0">
                <a:latin typeface="+mn-ea"/>
              </a:rPr>
              <a:t> = 2 )</a:t>
            </a:r>
            <a:r>
              <a:rPr lang="en-US" altLang="ko-KR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 #2</a:t>
            </a:r>
            <a:r>
              <a:rPr lang="ko-KR" altLang="en-US" sz="1600" i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차원으로 축소 </a:t>
            </a:r>
            <a:endParaRPr lang="en-US" altLang="ko-KR" sz="1600" i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dirty="0" err="1">
                <a:latin typeface="+mn-ea"/>
              </a:rPr>
              <a:t>X_pca</a:t>
            </a:r>
            <a:r>
              <a:rPr lang="en-US" altLang="ko-KR" dirty="0">
                <a:latin typeface="+mn-ea"/>
              </a:rPr>
              <a:t> = </a:t>
            </a:r>
            <a:r>
              <a:rPr lang="en-US" altLang="ko-KR" dirty="0" err="1">
                <a:latin typeface="+mn-ea"/>
              </a:rPr>
              <a:t>pca.fit_transform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x_pca</a:t>
            </a:r>
            <a:r>
              <a:rPr lang="en-US" altLang="ko-KR" dirty="0">
                <a:latin typeface="+mn-ea"/>
              </a:rPr>
              <a:t>)</a:t>
            </a:r>
            <a:endParaRPr lang="en-US" altLang="ko-KR" i="1" dirty="0">
              <a:solidFill>
                <a:schemeClr val="bg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8098F-3815-0942-8285-72B35165AC55}"/>
              </a:ext>
            </a:extLst>
          </p:cNvPr>
          <p:cNvSpPr txBox="1"/>
          <p:nvPr/>
        </p:nvSpPr>
        <p:spPr>
          <a:xfrm>
            <a:off x="535369" y="3770683"/>
            <a:ext cx="11656631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n_components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축소할 차원의 수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가장 중요한 매개변수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62918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지도학습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5885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지도학습이란</a:t>
            </a:r>
            <a:r>
              <a:rPr kumimoji="1" lang="en-US" altLang="ko-KR" sz="5400" b="1" dirty="0">
                <a:latin typeface="+mj-ea"/>
              </a:rPr>
              <a:t>?</a:t>
            </a:r>
            <a:r>
              <a:rPr kumimoji="1" lang="ko-KR" altLang="en-US" sz="5400" b="1" dirty="0">
                <a:latin typeface="+mj-ea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43B6-E84C-A446-B8B1-A6B14D95B61C}"/>
              </a:ext>
            </a:extLst>
          </p:cNvPr>
          <p:cNvSpPr txBox="1"/>
          <p:nvPr/>
        </p:nvSpPr>
        <p:spPr>
          <a:xfrm>
            <a:off x="330776" y="1483424"/>
            <a:ext cx="11656631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입력 데이터와 해당 정답</a:t>
            </a:r>
            <a:r>
              <a:rPr lang="en-US" altLang="ko-KR" sz="2000" b="1" dirty="0">
                <a:latin typeface="+mn-ea"/>
              </a:rPr>
              <a:t>(</a:t>
            </a:r>
            <a:r>
              <a:rPr lang="ko-KR" altLang="en-US" sz="2000" b="1" dirty="0">
                <a:latin typeface="+mn-ea"/>
              </a:rPr>
              <a:t>레이블</a:t>
            </a:r>
            <a:r>
              <a:rPr lang="en-US" altLang="ko-KR" sz="2000" b="1" dirty="0">
                <a:latin typeface="+mn-ea"/>
              </a:rPr>
              <a:t>)</a:t>
            </a:r>
            <a:r>
              <a:rPr lang="ko-KR" altLang="en-US" sz="2000" b="1" dirty="0">
                <a:latin typeface="+mn-ea"/>
              </a:rPr>
              <a:t>이 함께 주어진 상태에서 학습하는 방법</a:t>
            </a:r>
            <a:r>
              <a:rPr lang="ko-KR" altLang="en-US" sz="2000" dirty="0">
                <a:latin typeface="+mn-ea"/>
              </a:rPr>
              <a:t>입니다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이 학습 방법에서는 모델이 주어진 데이터를 기반으로 입력과 출력 간의 관계를 학습하고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 이후에는 새로운 입력 데이터가 주어졌을 때 정확한 출력을 예측할 수 있도록 합니다</a:t>
            </a:r>
            <a:r>
              <a:rPr lang="en-US" altLang="ko-KR" sz="2000" dirty="0">
                <a:latin typeface="+mn-ea"/>
              </a:rPr>
              <a:t>.</a:t>
            </a:r>
            <a:r>
              <a:rPr lang="ko-KR" altLang="en-US" sz="2000" dirty="0">
                <a:latin typeface="+mn-ea"/>
              </a:rPr>
              <a:t> </a:t>
            </a:r>
            <a:endParaRPr lang="en-US" altLang="ko-KR" sz="20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1F2D3-4133-E845-8056-FE0A3ECC6E5C}"/>
              </a:ext>
            </a:extLst>
          </p:cNvPr>
          <p:cNvSpPr txBox="1"/>
          <p:nvPr/>
        </p:nvSpPr>
        <p:spPr>
          <a:xfrm>
            <a:off x="3111091" y="60048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Icon by </a:t>
            </a:r>
            <a:r>
              <a:rPr lang="en" altLang="ko-KR" sz="1200" b="1" dirty="0" err="1"/>
              <a:t>Freepik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2"/>
              </a:rPr>
              <a:t>https://www.flaticon.com/free-icon/classification_10276510</a:t>
            </a:r>
            <a:endParaRPr lang="en" altLang="ko-KR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2B68CC-E18E-164A-851F-E80D8CCE6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59" y="3192620"/>
            <a:ext cx="2812264" cy="281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0279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지도학습의</a:t>
            </a:r>
            <a:r>
              <a:rPr kumimoji="1" lang="ko-KR" altLang="en-US" sz="5400" b="1" dirty="0">
                <a:latin typeface="+mj-ea"/>
              </a:rPr>
              <a:t> 핵심 개념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0602-A3A1-F744-BBA0-8963D495A292}"/>
              </a:ext>
            </a:extLst>
          </p:cNvPr>
          <p:cNvSpPr txBox="1"/>
          <p:nvPr/>
        </p:nvSpPr>
        <p:spPr>
          <a:xfrm>
            <a:off x="535369" y="1483424"/>
            <a:ext cx="10715727" cy="277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입력 데이터</a:t>
            </a:r>
            <a:r>
              <a:rPr lang="en-US" altLang="ko-KR" b="1" dirty="0">
                <a:latin typeface="+mn-ea"/>
              </a:rPr>
              <a:t>(Input Data): </a:t>
            </a:r>
            <a:r>
              <a:rPr lang="ko-KR" altLang="en-US" dirty="0">
                <a:latin typeface="+mn-ea"/>
              </a:rPr>
              <a:t>예측을 위한 특성</a:t>
            </a:r>
            <a:r>
              <a:rPr lang="en-US" altLang="ko-KR" dirty="0">
                <a:latin typeface="+mn-ea"/>
              </a:rPr>
              <a:t>(feature)</a:t>
            </a:r>
            <a:r>
              <a:rPr lang="ko-KR" altLang="en-US" dirty="0">
                <a:latin typeface="+mn-ea"/>
              </a:rPr>
              <a:t>들을 포함하는 데이터입니다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레이블</a:t>
            </a:r>
            <a:r>
              <a:rPr lang="en-US" altLang="ko-KR" b="1" dirty="0">
                <a:latin typeface="+mn-ea"/>
              </a:rPr>
              <a:t>(Label)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각 입력 데이터에 정답 또는 목표입니다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모델 학습 </a:t>
            </a:r>
            <a:r>
              <a:rPr lang="en-US" altLang="ko-KR" b="1" dirty="0">
                <a:latin typeface="+mn-ea"/>
              </a:rPr>
              <a:t>:</a:t>
            </a:r>
            <a:r>
              <a:rPr lang="ko-KR" altLang="en-US" b="1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입력 데이터와 레이블을 사용해 모델이 입력과 레이블 간의 관계를 학습합니다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예측 </a:t>
            </a:r>
            <a:r>
              <a:rPr lang="en-US" altLang="ko-KR" b="1" dirty="0">
                <a:latin typeface="+mn-ea"/>
              </a:rPr>
              <a:t>:</a:t>
            </a:r>
            <a:r>
              <a:rPr lang="ko-KR" altLang="en-US" b="1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학습이 끝난 후 새로운 입력 데이터가 들어왔을 때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모델이 학습한 내용을 바탕으로 레이블을 예측합니다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104688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지도학습의</a:t>
            </a:r>
            <a:r>
              <a:rPr kumimoji="1" lang="ko-KR" altLang="en-US" sz="5400" b="1" dirty="0">
                <a:latin typeface="+mj-ea"/>
              </a:rPr>
              <a:t> 종류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0602-A3A1-F744-BBA0-8963D495A292}"/>
              </a:ext>
            </a:extLst>
          </p:cNvPr>
          <p:cNvSpPr txBox="1"/>
          <p:nvPr/>
        </p:nvSpPr>
        <p:spPr>
          <a:xfrm>
            <a:off x="535369" y="1483424"/>
            <a:ext cx="10715727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분류 </a:t>
            </a:r>
            <a:r>
              <a:rPr lang="en-US" altLang="ko-KR" b="1" dirty="0">
                <a:latin typeface="+mn-ea"/>
              </a:rPr>
              <a:t>(Classification)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입력 데이터가 특정 클래스에 속할 확률을 예측하는 문제입니다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회귀 </a:t>
            </a:r>
            <a:r>
              <a:rPr lang="en-US" altLang="ko-KR" b="1" dirty="0">
                <a:latin typeface="+mn-ea"/>
              </a:rPr>
              <a:t>(Regression)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연속적인 값을 예측하는 문제입니다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399C53-D259-4B4E-9B37-DB1C3F61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59" y="3192620"/>
            <a:ext cx="2812264" cy="2812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49D109-C453-4D48-85DF-9B3B85BA868F}"/>
              </a:ext>
            </a:extLst>
          </p:cNvPr>
          <p:cNvSpPr txBox="1"/>
          <p:nvPr/>
        </p:nvSpPr>
        <p:spPr>
          <a:xfrm>
            <a:off x="3111091" y="60048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Icon by </a:t>
            </a:r>
            <a:r>
              <a:rPr lang="en" altLang="ko-KR" sz="1200" b="1" dirty="0" err="1"/>
              <a:t>Freepik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https://www.flaticon.com/free-icon/classification_10276510</a:t>
            </a:r>
            <a:endParaRPr lang="en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55477716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데이터 분할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40602-A3A1-F744-BBA0-8963D495A292}"/>
              </a:ext>
            </a:extLst>
          </p:cNvPr>
          <p:cNvSpPr txBox="1"/>
          <p:nvPr/>
        </p:nvSpPr>
        <p:spPr>
          <a:xfrm>
            <a:off x="738136" y="2655402"/>
            <a:ext cx="10715727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from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sklearn.model_selection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import</a:t>
            </a:r>
            <a:r>
              <a:rPr lang="en-US" altLang="ko-KR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train_test_split</a:t>
            </a:r>
            <a:r>
              <a:rPr lang="en-US" altLang="ko-KR" dirty="0">
                <a:latin typeface="+mn-ea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ko-KR" dirty="0" err="1">
                <a:latin typeface="+mn-ea"/>
              </a:rPr>
              <a:t>x_train,x_test,y_train,y_test</a:t>
            </a:r>
            <a:r>
              <a:rPr lang="en-US" altLang="ko-KR" dirty="0">
                <a:latin typeface="+mn-ea"/>
              </a:rPr>
              <a:t> = </a:t>
            </a:r>
            <a:r>
              <a:rPr lang="en-US" altLang="ko-KR" dirty="0" err="1">
                <a:latin typeface="+mn-ea"/>
              </a:rPr>
              <a:t>train_test_split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x,y,test_size</a:t>
            </a:r>
            <a:r>
              <a:rPr lang="en-US" altLang="ko-KR" dirty="0">
                <a:latin typeface="+mn-ea"/>
              </a:rPr>
              <a:t> = 0.2, </a:t>
            </a:r>
            <a:r>
              <a:rPr lang="en-US" altLang="ko-KR" dirty="0" err="1">
                <a:latin typeface="+mn-ea"/>
              </a:rPr>
              <a:t>random_state</a:t>
            </a:r>
            <a:r>
              <a:rPr lang="en-US" altLang="ko-KR" dirty="0">
                <a:latin typeface="+mn-ea"/>
              </a:rPr>
              <a:t> = 42) </a:t>
            </a:r>
          </a:p>
        </p:txBody>
      </p:sp>
    </p:spTree>
    <p:extLst>
      <p:ext uri="{BB962C8B-B14F-4D97-AF65-F5344CB8AC3E}">
        <p14:creationId xmlns:p14="http://schemas.microsoft.com/office/powerpoint/2010/main" val="150817953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분류 알고리즘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535369" y="1483424"/>
            <a:ext cx="10715727" cy="222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랜덤 </a:t>
            </a:r>
            <a:r>
              <a:rPr lang="ko-KR" altLang="en-US" b="1" dirty="0" err="1">
                <a:latin typeface="+mn-ea"/>
              </a:rPr>
              <a:t>포레스트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(Random Forest) :</a:t>
            </a:r>
            <a:r>
              <a:rPr lang="ko-KR" altLang="en-US" b="1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여러 개의 결정 트리를 생성하고 그 결과를 종합하여 예측하는 앙상블 기업입니다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결정 트리 </a:t>
            </a:r>
            <a:r>
              <a:rPr lang="en-US" altLang="ko-KR" b="1" dirty="0">
                <a:latin typeface="+mn-ea"/>
              </a:rPr>
              <a:t>(Decision Tree): </a:t>
            </a:r>
            <a:r>
              <a:rPr lang="ko-KR" altLang="en-US" dirty="0">
                <a:latin typeface="+mn-ea"/>
              </a:rPr>
              <a:t>결정 트리는 데이터의 특정을 기반으로 분기를 만들어 분류하는            알고리즘입니다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B36276-A0B6-474F-AAB0-21907EDCB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59" y="3192620"/>
            <a:ext cx="2812264" cy="2812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DEACD9-64FA-6E46-AD1C-73957E7CC27F}"/>
              </a:ext>
            </a:extLst>
          </p:cNvPr>
          <p:cNvSpPr txBox="1"/>
          <p:nvPr/>
        </p:nvSpPr>
        <p:spPr>
          <a:xfrm>
            <a:off x="3111091" y="60048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Icon by </a:t>
            </a:r>
            <a:r>
              <a:rPr lang="en" altLang="ko-KR" sz="1200" b="1" dirty="0" err="1"/>
              <a:t>Freepik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https://www.flaticon.com/free-icon/classification_10276510</a:t>
            </a:r>
            <a:endParaRPr lang="en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93536234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분류 알고리즘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BA923-1DCF-0344-8B6C-DAB161185E4C}"/>
              </a:ext>
            </a:extLst>
          </p:cNvPr>
          <p:cNvSpPr txBox="1"/>
          <p:nvPr/>
        </p:nvSpPr>
        <p:spPr>
          <a:xfrm>
            <a:off x="738136" y="2019298"/>
            <a:ext cx="10715727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from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sklearn.tree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import</a:t>
            </a:r>
            <a:r>
              <a:rPr lang="en-US" altLang="ko-KR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DecisionTreeClassifier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+mn-ea"/>
              </a:rPr>
              <a:t>model = </a:t>
            </a:r>
            <a:r>
              <a:rPr lang="en-US" altLang="ko-KR" dirty="0" err="1">
                <a:latin typeface="+mn-ea"/>
              </a:rPr>
              <a:t>DecisionTreeClassifier</a:t>
            </a:r>
            <a:r>
              <a:rPr lang="en-US" altLang="ko-KR" dirty="0">
                <a:latin typeface="+mn-ea"/>
              </a:rPr>
              <a:t> (</a:t>
            </a:r>
            <a:r>
              <a:rPr lang="en-US" altLang="ko-KR" dirty="0" err="1">
                <a:latin typeface="+mn-ea"/>
              </a:rPr>
              <a:t>max_depth</a:t>
            </a:r>
            <a:r>
              <a:rPr lang="en-US" altLang="ko-KR" dirty="0">
                <a:latin typeface="+mn-ea"/>
              </a:rPr>
              <a:t> = None, </a:t>
            </a:r>
            <a:r>
              <a:rPr lang="en-US" altLang="ko-KR" dirty="0" err="1">
                <a:latin typeface="+mn-ea"/>
              </a:rPr>
              <a:t>min_samples_split</a:t>
            </a:r>
            <a:r>
              <a:rPr lang="en-US" altLang="ko-KR" dirty="0">
                <a:latin typeface="+mn-ea"/>
              </a:rPr>
              <a:t> = 2, </a:t>
            </a:r>
            <a:r>
              <a:rPr lang="en-US" altLang="ko-KR" dirty="0" err="1">
                <a:latin typeface="+mn-ea"/>
              </a:rPr>
              <a:t>min_samples_leaf</a:t>
            </a:r>
            <a:r>
              <a:rPr lang="en-US" altLang="ko-KR" dirty="0">
                <a:latin typeface="+mn-ea"/>
              </a:rPr>
              <a:t> = 2 )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41FE3-C60B-1342-B415-8731A403EFFD}"/>
              </a:ext>
            </a:extLst>
          </p:cNvPr>
          <p:cNvSpPr txBox="1"/>
          <p:nvPr/>
        </p:nvSpPr>
        <p:spPr>
          <a:xfrm>
            <a:off x="533399" y="3929813"/>
            <a:ext cx="11656631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max_depth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트리의 최대 깊이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min_samples_split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내부 노드를 분할하는데 필요한 </a:t>
            </a:r>
            <a:r>
              <a:rPr lang="ko-KR" altLang="en-US" dirty="0" err="1">
                <a:latin typeface="+mn-ea"/>
              </a:rPr>
              <a:t>최수</a:t>
            </a:r>
            <a:r>
              <a:rPr lang="ko-KR" altLang="en-US" dirty="0">
                <a:latin typeface="+mn-ea"/>
              </a:rPr>
              <a:t> 샘플 수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min_samples_leaf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리프 노드가 가져야 할 </a:t>
            </a:r>
            <a:r>
              <a:rPr lang="ko-KR" altLang="en-US" dirty="0" err="1">
                <a:latin typeface="+mn-ea"/>
              </a:rPr>
              <a:t>최수</a:t>
            </a:r>
            <a:r>
              <a:rPr lang="ko-KR" altLang="en-US" dirty="0">
                <a:latin typeface="+mn-ea"/>
              </a:rPr>
              <a:t> 샘플 수   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589712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분류 알고리즘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BBA923-1DCF-0344-8B6C-DAB161185E4C}"/>
              </a:ext>
            </a:extLst>
          </p:cNvPr>
          <p:cNvSpPr txBox="1"/>
          <p:nvPr/>
        </p:nvSpPr>
        <p:spPr>
          <a:xfrm>
            <a:off x="738136" y="2019298"/>
            <a:ext cx="10715727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from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sklearn.ensemble</a:t>
            </a:r>
            <a:r>
              <a:rPr lang="en-US" altLang="ko-KR" dirty="0">
                <a:latin typeface="+mn-ea"/>
              </a:rPr>
              <a:t>  </a:t>
            </a: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import</a:t>
            </a:r>
            <a:r>
              <a:rPr lang="en-US" altLang="ko-KR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RandomForestClassifier</a:t>
            </a:r>
            <a:r>
              <a:rPr lang="en-US" altLang="ko-KR" dirty="0">
                <a:latin typeface="+mn-ea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+mn-ea"/>
              </a:rPr>
              <a:t>model = </a:t>
            </a:r>
            <a:r>
              <a:rPr lang="en-US" altLang="ko-KR" dirty="0" err="1">
                <a:latin typeface="+mn-ea"/>
              </a:rPr>
              <a:t>RandomForestClassifier</a:t>
            </a:r>
            <a:r>
              <a:rPr lang="en-US" altLang="ko-KR" dirty="0">
                <a:latin typeface="+mn-ea"/>
              </a:rPr>
              <a:t> (</a:t>
            </a:r>
            <a:r>
              <a:rPr lang="en-US" altLang="ko-KR" dirty="0" err="1">
                <a:latin typeface="+mn-ea"/>
              </a:rPr>
              <a:t>n_estimators</a:t>
            </a:r>
            <a:r>
              <a:rPr lang="en-US" altLang="ko-KR" dirty="0">
                <a:latin typeface="+mn-ea"/>
              </a:rPr>
              <a:t> = 100, </a:t>
            </a:r>
            <a:r>
              <a:rPr lang="en-US" altLang="ko-KR" dirty="0" err="1">
                <a:latin typeface="+mn-ea"/>
              </a:rPr>
              <a:t>max_depth</a:t>
            </a:r>
            <a:r>
              <a:rPr lang="en-US" altLang="ko-KR" dirty="0">
                <a:latin typeface="+mn-ea"/>
              </a:rPr>
              <a:t> = None, </a:t>
            </a:r>
            <a:r>
              <a:rPr lang="en-US" altLang="ko-KR" dirty="0" err="1">
                <a:latin typeface="+mn-ea"/>
              </a:rPr>
              <a:t>min_samples_split</a:t>
            </a:r>
            <a:r>
              <a:rPr lang="en-US" altLang="ko-KR" dirty="0">
                <a:latin typeface="+mn-ea"/>
              </a:rPr>
              <a:t> = 2)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41FE3-C60B-1342-B415-8731A403EFFD}"/>
              </a:ext>
            </a:extLst>
          </p:cNvPr>
          <p:cNvSpPr txBox="1"/>
          <p:nvPr/>
        </p:nvSpPr>
        <p:spPr>
          <a:xfrm>
            <a:off x="533399" y="3929813"/>
            <a:ext cx="11656631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n_estimators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생성할 트리의 수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max_depth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트리의 최대 깊이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min_samples_split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내부 노드를 분할하는데 필요한 </a:t>
            </a:r>
            <a:r>
              <a:rPr lang="ko-KR" altLang="en-US" dirty="0" err="1">
                <a:latin typeface="+mn-ea"/>
              </a:rPr>
              <a:t>최수</a:t>
            </a:r>
            <a:r>
              <a:rPr lang="ko-KR" altLang="en-US" dirty="0">
                <a:latin typeface="+mn-ea"/>
              </a:rPr>
              <a:t> 샘플 수  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169530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38987E0-94B5-DF4D-BFC7-A19A5AA77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164" y="1081963"/>
            <a:ext cx="7695645" cy="4331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C3ACE5-29D0-8446-80E5-FC2D8FECEEEF}"/>
              </a:ext>
            </a:extLst>
          </p:cNvPr>
          <p:cNvSpPr txBox="1"/>
          <p:nvPr/>
        </p:nvSpPr>
        <p:spPr>
          <a:xfrm>
            <a:off x="1272208" y="5776037"/>
            <a:ext cx="9303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 err="1"/>
              <a:t>Koehrsen</a:t>
            </a:r>
            <a:r>
              <a:rPr lang="en" altLang="ko-KR" sz="1200" b="1" dirty="0"/>
              <a:t>, W.</a:t>
            </a:r>
            <a:r>
              <a:rPr lang="en" altLang="ko-KR" sz="1200" dirty="0"/>
              <a:t> (n.d.). </a:t>
            </a:r>
            <a:r>
              <a:rPr lang="en" altLang="ko-KR" sz="1200" i="1" dirty="0"/>
              <a:t>10 Decision Trees Are Better Than 1</a:t>
            </a:r>
            <a:r>
              <a:rPr lang="en" altLang="ko-KR" sz="1200" dirty="0"/>
              <a:t>. Medium.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https://medium.com/data-science/10-decision-trees-are-better-than-1-719406680564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7C2FA-AAA6-A84B-BC19-E00CC6E1116C}"/>
              </a:ext>
            </a:extLst>
          </p:cNvPr>
          <p:cNvSpPr txBox="1"/>
          <p:nvPr/>
        </p:nvSpPr>
        <p:spPr>
          <a:xfrm>
            <a:off x="2464904" y="315925"/>
            <a:ext cx="2652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 err="1"/>
              <a:t>DecisionTree</a:t>
            </a:r>
            <a:endParaRPr kumimoji="1" lang="ko-KR" alt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DCB0C-501E-6943-A90B-1B19A7B07B9A}"/>
              </a:ext>
            </a:extLst>
          </p:cNvPr>
          <p:cNvSpPr txBox="1"/>
          <p:nvPr/>
        </p:nvSpPr>
        <p:spPr>
          <a:xfrm>
            <a:off x="6208643" y="315924"/>
            <a:ext cx="3016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 err="1"/>
              <a:t>RandomForest</a:t>
            </a:r>
            <a:endParaRPr kumimoji="1"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18082767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분류 모델 평가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AE24A-A010-3B4F-89F1-C5E21DBDF23F}"/>
              </a:ext>
            </a:extLst>
          </p:cNvPr>
          <p:cNvSpPr txBox="1"/>
          <p:nvPr/>
        </p:nvSpPr>
        <p:spPr>
          <a:xfrm>
            <a:off x="266699" y="1641911"/>
            <a:ext cx="11658601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>
                <a:solidFill>
                  <a:srgbClr val="7030A0"/>
                </a:solidFill>
              </a:rPr>
              <a:t>from</a:t>
            </a:r>
            <a:r>
              <a:rPr lang="en" altLang="ko-KR" dirty="0"/>
              <a:t> </a:t>
            </a:r>
            <a:r>
              <a:rPr lang="en" altLang="ko-KR" dirty="0" err="1"/>
              <a:t>sklearn.metrics</a:t>
            </a:r>
            <a:r>
              <a:rPr lang="en" altLang="ko-KR" dirty="0"/>
              <a:t> </a:t>
            </a:r>
            <a:r>
              <a:rPr lang="en" altLang="ko-KR" b="1" dirty="0">
                <a:solidFill>
                  <a:srgbClr val="7030A0"/>
                </a:solidFill>
              </a:rPr>
              <a:t>import</a:t>
            </a:r>
            <a:r>
              <a:rPr lang="en" altLang="ko-KR" dirty="0"/>
              <a:t> </a:t>
            </a:r>
            <a:r>
              <a:rPr lang="en" altLang="ko-KR" dirty="0" err="1"/>
              <a:t>accuracy_score</a:t>
            </a:r>
            <a:r>
              <a:rPr lang="en" altLang="ko-KR" dirty="0"/>
              <a:t>, </a:t>
            </a:r>
            <a:r>
              <a:rPr lang="en" altLang="ko-KR" dirty="0" err="1"/>
              <a:t>precision_score</a:t>
            </a:r>
            <a:r>
              <a:rPr lang="en" altLang="ko-KR" dirty="0"/>
              <a:t>, </a:t>
            </a:r>
            <a:r>
              <a:rPr lang="en" altLang="ko-KR" dirty="0" err="1"/>
              <a:t>recall_score</a:t>
            </a:r>
            <a:r>
              <a:rPr lang="en" altLang="ko-KR" dirty="0"/>
              <a:t>, f1_score, </a:t>
            </a:r>
            <a:r>
              <a:rPr lang="en" altLang="ko-KR" dirty="0" err="1"/>
              <a:t>confusion_matrix</a:t>
            </a:r>
            <a:r>
              <a:rPr lang="en" altLang="ko-KR" dirty="0"/>
              <a:t>, </a:t>
            </a:r>
          </a:p>
          <a:p>
            <a:endParaRPr lang="en" altLang="ko-KR" dirty="0"/>
          </a:p>
          <a:p>
            <a:r>
              <a:rPr lang="en" altLang="ko-KR" dirty="0" err="1"/>
              <a:t>y_true</a:t>
            </a:r>
            <a:r>
              <a:rPr lang="en" altLang="ko-KR" dirty="0"/>
              <a:t> = [0, 1, 1, 0, 1, 0, 1]</a:t>
            </a:r>
          </a:p>
          <a:p>
            <a:r>
              <a:rPr lang="en" altLang="ko-KR" dirty="0" err="1"/>
              <a:t>y_pred</a:t>
            </a:r>
            <a:r>
              <a:rPr lang="en" altLang="ko-KR" dirty="0"/>
              <a:t> = [0, 1, 1, 0, 0, 0, 1]</a:t>
            </a:r>
          </a:p>
          <a:p>
            <a:endParaRPr lang="en" altLang="ko-KR" dirty="0"/>
          </a:p>
          <a:p>
            <a:pPr>
              <a:lnSpc>
                <a:spcPct val="150000"/>
              </a:lnSpc>
            </a:pPr>
            <a:r>
              <a:rPr lang="en" altLang="ko-KR" dirty="0"/>
              <a:t>print("Accuracy:", </a:t>
            </a:r>
            <a:r>
              <a:rPr lang="en" altLang="ko-KR" dirty="0" err="1"/>
              <a:t>accuracy_score</a:t>
            </a:r>
            <a:r>
              <a:rPr lang="en" altLang="ko-KR" dirty="0"/>
              <a:t>(</a:t>
            </a:r>
            <a:r>
              <a:rPr lang="en" altLang="ko-KR" dirty="0" err="1"/>
              <a:t>y_true</a:t>
            </a:r>
            <a:r>
              <a:rPr lang="en" altLang="ko-KR" dirty="0"/>
              <a:t>, </a:t>
            </a:r>
            <a:r>
              <a:rPr lang="en" altLang="ko-KR" dirty="0" err="1"/>
              <a:t>y_pred</a:t>
            </a:r>
            <a:r>
              <a:rPr lang="en" altLang="ko-KR" dirty="0"/>
              <a:t>)) </a:t>
            </a:r>
            <a:r>
              <a:rPr lang="en" altLang="ko-KR" dirty="0">
                <a:solidFill>
                  <a:srgbClr val="7030A0"/>
                </a:solidFill>
              </a:rPr>
              <a:t>#</a:t>
            </a:r>
            <a:r>
              <a:rPr lang="ko-KR" altLang="en-US" dirty="0">
                <a:solidFill>
                  <a:srgbClr val="7030A0"/>
                </a:solidFill>
              </a:rPr>
              <a:t>전채 정확도 </a:t>
            </a:r>
            <a:r>
              <a:rPr lang="en-US" altLang="ko-KR" dirty="0">
                <a:solidFill>
                  <a:srgbClr val="7030A0"/>
                </a:solidFill>
              </a:rPr>
              <a:t>(</a:t>
            </a:r>
            <a:r>
              <a:rPr lang="ko-KR" altLang="en-US" dirty="0">
                <a:solidFill>
                  <a:srgbClr val="7030A0"/>
                </a:solidFill>
              </a:rPr>
              <a:t>맞춘 비율</a:t>
            </a:r>
            <a:r>
              <a:rPr lang="en-US" altLang="ko-KR" dirty="0">
                <a:solidFill>
                  <a:srgbClr val="7030A0"/>
                </a:solidFill>
              </a:rPr>
              <a:t>)</a:t>
            </a:r>
            <a:r>
              <a:rPr lang="ko-KR" altLang="en-US" dirty="0">
                <a:solidFill>
                  <a:srgbClr val="7030A0"/>
                </a:solidFill>
              </a:rPr>
              <a:t>  </a:t>
            </a:r>
            <a:endParaRPr lang="en" altLang="ko-KR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ko-KR" dirty="0"/>
              <a:t>print("Precision:", </a:t>
            </a:r>
            <a:r>
              <a:rPr lang="en" altLang="ko-KR" dirty="0" err="1"/>
              <a:t>precision_score</a:t>
            </a:r>
            <a:r>
              <a:rPr lang="en" altLang="ko-KR" dirty="0"/>
              <a:t>(</a:t>
            </a:r>
            <a:r>
              <a:rPr lang="en" altLang="ko-KR" dirty="0" err="1"/>
              <a:t>y_true</a:t>
            </a:r>
            <a:r>
              <a:rPr lang="en" altLang="ko-KR" dirty="0"/>
              <a:t>, </a:t>
            </a:r>
            <a:r>
              <a:rPr lang="en" altLang="ko-KR" dirty="0" err="1"/>
              <a:t>y_pred</a:t>
            </a:r>
            <a:r>
              <a:rPr lang="en" altLang="ko-KR" dirty="0"/>
              <a:t>))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#</a:t>
            </a:r>
            <a:r>
              <a:rPr lang="ko-KR" altLang="en-US" dirty="0">
                <a:solidFill>
                  <a:srgbClr val="7030A0"/>
                </a:solidFill>
              </a:rPr>
              <a:t> 정밀도</a:t>
            </a:r>
            <a:r>
              <a:rPr lang="en-US" altLang="ko-KR" dirty="0">
                <a:solidFill>
                  <a:srgbClr val="7030A0"/>
                </a:solidFill>
              </a:rPr>
              <a:t>: </a:t>
            </a:r>
            <a:r>
              <a:rPr lang="ko-KR" altLang="en-US" dirty="0">
                <a:solidFill>
                  <a:srgbClr val="7030A0"/>
                </a:solidFill>
              </a:rPr>
              <a:t>예측한 양성 중 실제 양성 비율</a:t>
            </a:r>
            <a:endParaRPr lang="en" altLang="ko-KR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ko-KR" dirty="0"/>
              <a:t>print("Recall:", </a:t>
            </a:r>
            <a:r>
              <a:rPr lang="en" altLang="ko-KR" dirty="0" err="1"/>
              <a:t>recall_score</a:t>
            </a:r>
            <a:r>
              <a:rPr lang="en" altLang="ko-KR" dirty="0"/>
              <a:t>(</a:t>
            </a:r>
            <a:r>
              <a:rPr lang="en" altLang="ko-KR" dirty="0" err="1"/>
              <a:t>y_true</a:t>
            </a:r>
            <a:r>
              <a:rPr lang="en" altLang="ko-KR" dirty="0"/>
              <a:t>, </a:t>
            </a:r>
            <a:r>
              <a:rPr lang="en" altLang="ko-KR" dirty="0" err="1"/>
              <a:t>y_pred</a:t>
            </a:r>
            <a:r>
              <a:rPr lang="en" altLang="ko-KR" dirty="0"/>
              <a:t>))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#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 err="1">
                <a:solidFill>
                  <a:srgbClr val="7030A0"/>
                </a:solidFill>
              </a:rPr>
              <a:t>재현율</a:t>
            </a:r>
            <a:r>
              <a:rPr lang="en-US" altLang="ko-KR" dirty="0">
                <a:solidFill>
                  <a:srgbClr val="7030A0"/>
                </a:solidFill>
              </a:rPr>
              <a:t>(</a:t>
            </a:r>
            <a:r>
              <a:rPr lang="ko-KR" altLang="en-US" dirty="0">
                <a:solidFill>
                  <a:srgbClr val="7030A0"/>
                </a:solidFill>
              </a:rPr>
              <a:t>민감도</a:t>
            </a:r>
            <a:r>
              <a:rPr lang="en-US" altLang="ko-KR" dirty="0">
                <a:solidFill>
                  <a:srgbClr val="7030A0"/>
                </a:solidFill>
              </a:rPr>
              <a:t>): </a:t>
            </a:r>
            <a:r>
              <a:rPr lang="ko-KR" altLang="en-US" dirty="0">
                <a:solidFill>
                  <a:srgbClr val="7030A0"/>
                </a:solidFill>
              </a:rPr>
              <a:t>실제 양성 중 예측된 비율</a:t>
            </a:r>
            <a:endParaRPr lang="en" altLang="ko-KR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ko-KR" dirty="0"/>
              <a:t>print("F1 Score:", f1_score(</a:t>
            </a:r>
            <a:r>
              <a:rPr lang="en" altLang="ko-KR" dirty="0" err="1"/>
              <a:t>y_true</a:t>
            </a:r>
            <a:r>
              <a:rPr lang="en" altLang="ko-KR" dirty="0"/>
              <a:t>, </a:t>
            </a:r>
            <a:r>
              <a:rPr lang="en" altLang="ko-KR" dirty="0" err="1"/>
              <a:t>y_pred</a:t>
            </a:r>
            <a:r>
              <a:rPr lang="en" altLang="ko-KR" dirty="0"/>
              <a:t>))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#</a:t>
            </a:r>
            <a:r>
              <a:rPr lang="ko-KR" altLang="en-US" dirty="0">
                <a:solidFill>
                  <a:srgbClr val="7030A0"/>
                </a:solidFill>
              </a:rPr>
              <a:t> 정밀도와 </a:t>
            </a:r>
            <a:r>
              <a:rPr lang="ko-KR" altLang="en-US" dirty="0" err="1">
                <a:solidFill>
                  <a:srgbClr val="7030A0"/>
                </a:solidFill>
              </a:rPr>
              <a:t>재현율의</a:t>
            </a:r>
            <a:r>
              <a:rPr lang="ko-KR" altLang="en-US" dirty="0">
                <a:solidFill>
                  <a:srgbClr val="7030A0"/>
                </a:solidFill>
              </a:rPr>
              <a:t> 조화 평균</a:t>
            </a:r>
            <a:endParaRPr lang="en" altLang="ko-KR" dirty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" altLang="ko-KR" dirty="0"/>
              <a:t>print("Confusion Matrix:\n", </a:t>
            </a:r>
            <a:r>
              <a:rPr lang="en" altLang="ko-KR" dirty="0" err="1"/>
              <a:t>confusion_matrix</a:t>
            </a:r>
            <a:r>
              <a:rPr lang="en" altLang="ko-KR" dirty="0"/>
              <a:t>(</a:t>
            </a:r>
            <a:r>
              <a:rPr lang="en" altLang="ko-KR" dirty="0" err="1"/>
              <a:t>y_true</a:t>
            </a:r>
            <a:r>
              <a:rPr lang="en" altLang="ko-KR" dirty="0"/>
              <a:t>, </a:t>
            </a:r>
            <a:r>
              <a:rPr lang="en" altLang="ko-KR" dirty="0" err="1"/>
              <a:t>y_pred</a:t>
            </a:r>
            <a:r>
              <a:rPr lang="en" altLang="ko-KR" dirty="0"/>
              <a:t>))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7030A0"/>
                </a:solidFill>
              </a:rPr>
              <a:t>#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en" altLang="ko-KR" dirty="0">
                <a:solidFill>
                  <a:srgbClr val="7030A0"/>
                </a:solidFill>
              </a:rPr>
              <a:t>TP, FP, FN, TN </a:t>
            </a:r>
            <a:r>
              <a:rPr lang="ko-KR" altLang="en-US" dirty="0">
                <a:solidFill>
                  <a:srgbClr val="7030A0"/>
                </a:solidFill>
              </a:rPr>
              <a:t>등을 보여주는 행렬</a:t>
            </a:r>
            <a:endParaRPr lang="en" altLang="ko-KR" dirty="0">
              <a:solidFill>
                <a:srgbClr val="7030A0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863737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268356" y="0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Confusion Matrix</a:t>
            </a:r>
            <a:endParaRPr kumimoji="1" lang="ko-KR" altLang="en-US" sz="5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D1A264-4450-B747-8F5F-21A85935A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003" y="1437179"/>
            <a:ext cx="4735997" cy="3551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26912F-81C6-CD48-8DB2-48D7F92B664F}"/>
              </a:ext>
            </a:extLst>
          </p:cNvPr>
          <p:cNvSpPr txBox="1"/>
          <p:nvPr/>
        </p:nvSpPr>
        <p:spPr>
          <a:xfrm>
            <a:off x="6762749" y="5100792"/>
            <a:ext cx="6122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H2O.ai.</a:t>
            </a:r>
            <a:r>
              <a:rPr lang="en" altLang="ko-KR" sz="1200" dirty="0"/>
              <a:t> </a:t>
            </a:r>
            <a:r>
              <a:rPr lang="en" altLang="ko-KR" sz="1200" i="1" dirty="0"/>
              <a:t>Confusion Matrix – H2O.ai Wiki</a:t>
            </a:r>
            <a:r>
              <a:rPr lang="en" altLang="ko-KR" sz="1200" dirty="0"/>
              <a:t>.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https://h2o.ai/wiki/confusion-matrix/</a:t>
            </a:r>
            <a:endParaRPr lang="en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1EE3E-7D51-4145-989B-DF5A1AE57265}"/>
              </a:ext>
            </a:extLst>
          </p:cNvPr>
          <p:cNvSpPr txBox="1"/>
          <p:nvPr/>
        </p:nvSpPr>
        <p:spPr>
          <a:xfrm>
            <a:off x="177560" y="2101014"/>
            <a:ext cx="11656631" cy="1983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1600" dirty="0">
                <a:latin typeface="+mn-ea"/>
              </a:rPr>
              <a:t>TP( True Positive) : </a:t>
            </a:r>
            <a:r>
              <a:rPr lang="ko-KR" altLang="en-US" sz="1600" dirty="0">
                <a:latin typeface="+mn-ea"/>
              </a:rPr>
              <a:t>진짜 </a:t>
            </a:r>
            <a:r>
              <a:rPr lang="en-US" altLang="ko-KR" sz="1600" dirty="0">
                <a:latin typeface="+mn-ea"/>
              </a:rPr>
              <a:t>Positive</a:t>
            </a: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Positive</a:t>
            </a:r>
            <a:r>
              <a:rPr lang="ko-KR" altLang="en-US" sz="1600" dirty="0">
                <a:latin typeface="+mn-ea"/>
              </a:rPr>
              <a:t>로 예측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정답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1600" dirty="0">
                <a:latin typeface="+mn-ea"/>
              </a:rPr>
              <a:t>TN (True Negative) : </a:t>
            </a:r>
            <a:r>
              <a:rPr lang="ko-KR" altLang="en-US" sz="1600" dirty="0">
                <a:latin typeface="+mn-ea"/>
              </a:rPr>
              <a:t>진짜 </a:t>
            </a:r>
            <a:r>
              <a:rPr lang="en-US" altLang="ko-KR" sz="1600" dirty="0">
                <a:latin typeface="+mn-ea"/>
              </a:rPr>
              <a:t>Negative</a:t>
            </a: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Negative</a:t>
            </a:r>
            <a:r>
              <a:rPr lang="ko-KR" altLang="en-US" sz="1600" dirty="0">
                <a:latin typeface="+mn-ea"/>
              </a:rPr>
              <a:t>로 예측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정답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1600" dirty="0">
                <a:latin typeface="+mn-ea"/>
              </a:rPr>
              <a:t>FP (False Positive) : Negative</a:t>
            </a: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Positive</a:t>
            </a:r>
            <a:r>
              <a:rPr lang="ko-KR" altLang="en-US" sz="1600" dirty="0">
                <a:latin typeface="+mn-ea"/>
              </a:rPr>
              <a:t>로 잘못 예측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오답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1600" dirty="0">
                <a:latin typeface="+mn-ea"/>
              </a:rPr>
              <a:t>FN (False Negative ) : Positive</a:t>
            </a: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Negative</a:t>
            </a:r>
            <a:r>
              <a:rPr lang="ko-KR" altLang="en-US" sz="1600" dirty="0">
                <a:latin typeface="+mn-ea"/>
              </a:rPr>
              <a:t>로 잘못 예측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오답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8854171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2FCD0A-8E01-4942-8D65-F33A66BFDAD0}"/>
              </a:ext>
            </a:extLst>
          </p:cNvPr>
          <p:cNvSpPr txBox="1"/>
          <p:nvPr/>
        </p:nvSpPr>
        <p:spPr>
          <a:xfrm>
            <a:off x="576469" y="1281644"/>
            <a:ext cx="11039061" cy="387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200" b="1" dirty="0" err="1"/>
              <a:t>precision</a:t>
            </a:r>
            <a:r>
              <a:rPr lang="ko-KR" altLang="en-US" sz="3200" dirty="0"/>
              <a:t> = TP / (TP + FP)</a:t>
            </a:r>
          </a:p>
          <a:p>
            <a:pPr>
              <a:lnSpc>
                <a:spcPct val="200000"/>
              </a:lnSpc>
            </a:pPr>
            <a:r>
              <a:rPr lang="ko-KR" altLang="en-US" sz="3200" b="1" dirty="0" err="1"/>
              <a:t>recall</a:t>
            </a:r>
            <a:r>
              <a:rPr lang="ko-KR" altLang="en-US" sz="3200" b="1" dirty="0"/>
              <a:t> </a:t>
            </a:r>
            <a:r>
              <a:rPr lang="ko-KR" altLang="en-US" sz="3200" dirty="0"/>
              <a:t>   = TP / (TP + FN)</a:t>
            </a:r>
          </a:p>
          <a:p>
            <a:pPr>
              <a:lnSpc>
                <a:spcPct val="200000"/>
              </a:lnSpc>
            </a:pPr>
            <a:r>
              <a:rPr lang="ko-KR" altLang="en-US" sz="3200" b="1" dirty="0"/>
              <a:t>f1_score  </a:t>
            </a:r>
            <a:r>
              <a:rPr lang="ko-KR" altLang="en-US" sz="3200" dirty="0"/>
              <a:t>= 2 * (</a:t>
            </a:r>
            <a:r>
              <a:rPr lang="ko-KR" altLang="en-US" sz="3200" dirty="0" err="1"/>
              <a:t>precision</a:t>
            </a:r>
            <a:r>
              <a:rPr lang="ko-KR" altLang="en-US" sz="3200" dirty="0"/>
              <a:t> * </a:t>
            </a:r>
            <a:r>
              <a:rPr lang="ko-KR" altLang="en-US" sz="3200" dirty="0" err="1"/>
              <a:t>recall</a:t>
            </a:r>
            <a:r>
              <a:rPr lang="ko-KR" altLang="en-US" sz="3200" dirty="0"/>
              <a:t>) / (</a:t>
            </a:r>
            <a:r>
              <a:rPr lang="ko-KR" altLang="en-US" sz="3200" dirty="0" err="1"/>
              <a:t>precision</a:t>
            </a:r>
            <a:r>
              <a:rPr lang="ko-KR" altLang="en-US" sz="3200" dirty="0"/>
              <a:t> + </a:t>
            </a:r>
            <a:r>
              <a:rPr lang="ko-KR" altLang="en-US" sz="3200" dirty="0" err="1"/>
              <a:t>recall</a:t>
            </a:r>
            <a:r>
              <a:rPr lang="ko-KR" altLang="en-US" sz="3200" dirty="0"/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3200" b="1" dirty="0" err="1"/>
              <a:t>accuracy</a:t>
            </a:r>
            <a:r>
              <a:rPr lang="ko-KR" altLang="en-US" sz="3200" dirty="0"/>
              <a:t>  = (TP + TN) / 전체</a:t>
            </a:r>
          </a:p>
        </p:txBody>
      </p:sp>
    </p:spTree>
    <p:extLst>
      <p:ext uri="{BB962C8B-B14F-4D97-AF65-F5344CB8AC3E}">
        <p14:creationId xmlns:p14="http://schemas.microsoft.com/office/powerpoint/2010/main" val="214535171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분류 모델 평가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AE24A-A010-3B4F-89F1-C5E21DBDF23F}"/>
              </a:ext>
            </a:extLst>
          </p:cNvPr>
          <p:cNvSpPr txBox="1"/>
          <p:nvPr/>
        </p:nvSpPr>
        <p:spPr>
          <a:xfrm>
            <a:off x="533399" y="1641911"/>
            <a:ext cx="1080052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sklearn.metrics</a:t>
            </a:r>
            <a:r>
              <a:rPr lang="ko-KR" altLang="en-US" dirty="0"/>
              <a:t> </a:t>
            </a:r>
            <a:r>
              <a:rPr lang="ko-KR" altLang="en-US" b="1" dirty="0" err="1">
                <a:solidFill>
                  <a:srgbClr val="7030A0"/>
                </a:solidFill>
              </a:rPr>
              <a:t>import</a:t>
            </a:r>
            <a:r>
              <a:rPr lang="ko-KR" altLang="en-US" dirty="0"/>
              <a:t> </a:t>
            </a:r>
            <a:r>
              <a:rPr lang="en-US" altLang="ko-KR" b="1" dirty="0" err="1"/>
              <a:t>classification_report</a:t>
            </a:r>
            <a:r>
              <a:rPr lang="en-US" altLang="ko-KR" b="1" dirty="0"/>
              <a:t> </a:t>
            </a:r>
            <a:endParaRPr lang="ko-KR" altLang="en-US" b="1" dirty="0"/>
          </a:p>
          <a:p>
            <a:endParaRPr lang="ko-KR" altLang="en-US" dirty="0"/>
          </a:p>
          <a:p>
            <a:r>
              <a:rPr lang="ko-KR" altLang="en-US" dirty="0" err="1"/>
              <a:t>y_true</a:t>
            </a:r>
            <a:r>
              <a:rPr lang="ko-KR" altLang="en-US" dirty="0"/>
              <a:t> = [3.0, -0.5, 2.0, 7.0]</a:t>
            </a:r>
          </a:p>
          <a:p>
            <a:r>
              <a:rPr lang="ko-KR" altLang="en-US" dirty="0" err="1"/>
              <a:t>y_pred</a:t>
            </a:r>
            <a:r>
              <a:rPr lang="ko-KR" altLang="en-US" dirty="0"/>
              <a:t> = [2.5, 0.0, 2.0, 8.0]</a:t>
            </a:r>
          </a:p>
          <a:p>
            <a:endParaRPr lang="en-US" altLang="ko-KR" dirty="0"/>
          </a:p>
          <a:p>
            <a:r>
              <a:rPr lang="en-US" altLang="ko-KR" dirty="0"/>
              <a:t>print(</a:t>
            </a:r>
            <a:r>
              <a:rPr lang="en-US" altLang="ko-KR" dirty="0" err="1"/>
              <a:t>classification_report</a:t>
            </a:r>
            <a:r>
              <a:rPr lang="en-US" altLang="ko-KR" dirty="0"/>
              <a:t>(</a:t>
            </a:r>
            <a:r>
              <a:rPr lang="en-US" altLang="ko-KR" dirty="0" err="1"/>
              <a:t>y_true</a:t>
            </a:r>
            <a:r>
              <a:rPr lang="en-US" altLang="ko-KR" dirty="0"/>
              <a:t>, </a:t>
            </a:r>
            <a:r>
              <a:rPr lang="en-US" altLang="ko-KR" dirty="0" err="1"/>
              <a:t>y_pred</a:t>
            </a:r>
            <a:r>
              <a:rPr lang="en-US" altLang="ko-KR" dirty="0"/>
              <a:t>))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F5CA2F-4047-A64E-9B5F-533C65DA7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285" y="3573372"/>
            <a:ext cx="6091430" cy="302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952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예측 알고리즘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535369" y="1483424"/>
            <a:ext cx="11351831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선형 회귀 </a:t>
            </a:r>
            <a:r>
              <a:rPr lang="en-US" altLang="ko-KR" b="1" dirty="0">
                <a:latin typeface="+mn-ea"/>
              </a:rPr>
              <a:t>(</a:t>
            </a:r>
            <a:r>
              <a:rPr lang="en-US" altLang="ko-KR" b="1" dirty="0" err="1">
                <a:latin typeface="+mn-ea"/>
              </a:rPr>
              <a:t>LinearRegression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선형 회귀는 독립 변수와 </a:t>
            </a:r>
            <a:r>
              <a:rPr lang="ko-KR" altLang="en-US" dirty="0" err="1">
                <a:latin typeface="+mn-ea"/>
              </a:rPr>
              <a:t>중속</a:t>
            </a:r>
            <a:r>
              <a:rPr lang="ko-KR" altLang="en-US" dirty="0">
                <a:latin typeface="+mn-ea"/>
              </a:rPr>
              <a:t> 변수 사이의 선형 관계를 모델링합니다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랜덤 </a:t>
            </a:r>
            <a:r>
              <a:rPr lang="ko-KR" altLang="en-US" b="1" dirty="0" err="1">
                <a:latin typeface="+mn-ea"/>
              </a:rPr>
              <a:t>포레스트</a:t>
            </a:r>
            <a:r>
              <a:rPr lang="en-US" altLang="ko-KR" b="1" dirty="0">
                <a:latin typeface="+mn-ea"/>
              </a:rPr>
              <a:t>(</a:t>
            </a:r>
            <a:r>
              <a:rPr lang="en-US" altLang="ko-KR" b="1" dirty="0" err="1">
                <a:latin typeface="+mn-ea"/>
              </a:rPr>
              <a:t>RandomForestRegressor</a:t>
            </a:r>
            <a:r>
              <a:rPr lang="en-US" altLang="ko-KR" b="1" dirty="0">
                <a:latin typeface="+mn-ea"/>
              </a:rPr>
              <a:t>): </a:t>
            </a:r>
            <a:r>
              <a:rPr lang="ko-KR" altLang="en-US" dirty="0">
                <a:latin typeface="+mn-ea"/>
              </a:rPr>
              <a:t>여러 개의 결정 트리를 조합하여 더 강력하고 안정적인 예측 모델을 만드는 기법입니다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EACD9-64FA-6E46-AD1C-73957E7CC27F}"/>
              </a:ext>
            </a:extLst>
          </p:cNvPr>
          <p:cNvSpPr txBox="1"/>
          <p:nvPr/>
        </p:nvSpPr>
        <p:spPr>
          <a:xfrm>
            <a:off x="3111091" y="60048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200" b="1" dirty="0"/>
              <a:t>Icon by </a:t>
            </a:r>
            <a:r>
              <a:rPr lang="en" altLang="ko-KR" sz="1200" b="1" dirty="0" err="1"/>
              <a:t>Freepik</a:t>
            </a:r>
            <a:r>
              <a:rPr lang="en" altLang="ko-KR" sz="1200" b="1" dirty="0"/>
              <a:t> from </a:t>
            </a:r>
            <a:r>
              <a:rPr lang="en" altLang="ko-KR" sz="1200" b="1" dirty="0" err="1"/>
              <a:t>Flaticon</a:t>
            </a:r>
            <a:br>
              <a:rPr lang="en" altLang="ko-KR" sz="1200" dirty="0"/>
            </a:br>
            <a:r>
              <a:rPr lang="en" altLang="ko-KR" sz="1200" dirty="0">
                <a:hlinkClick r:id="rId2"/>
              </a:rPr>
              <a:t>https://www.flaticon.com/free-icon/regression_7440405</a:t>
            </a:r>
            <a:endParaRPr lang="en" altLang="ko-KR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548EF8-C577-7C47-9475-D9C882D15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835" y="3861978"/>
            <a:ext cx="1984512" cy="19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5867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예측 알고리즘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C9E8D-9248-934A-A3CE-AB468C4D1D83}"/>
              </a:ext>
            </a:extLst>
          </p:cNvPr>
          <p:cNvSpPr txBox="1"/>
          <p:nvPr/>
        </p:nvSpPr>
        <p:spPr>
          <a:xfrm>
            <a:off x="738136" y="2019298"/>
            <a:ext cx="10715727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from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sklearn.linear_model</a:t>
            </a:r>
            <a:r>
              <a:rPr lang="en-US" altLang="ko-KR" dirty="0">
                <a:latin typeface="+mn-ea"/>
              </a:rPr>
              <a:t>  </a:t>
            </a: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import</a:t>
            </a:r>
            <a:r>
              <a:rPr lang="en-US" altLang="ko-KR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LinearRegression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+mn-ea"/>
              </a:rPr>
              <a:t>model = </a:t>
            </a:r>
            <a:r>
              <a:rPr lang="en-US" altLang="ko-KR" dirty="0" err="1">
                <a:latin typeface="+mn-ea"/>
              </a:rPr>
              <a:t>LinearRegression</a:t>
            </a:r>
            <a:r>
              <a:rPr lang="en-US" altLang="ko-KR" dirty="0">
                <a:latin typeface="+mn-ea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56D88-5CE8-4D45-81C9-A425168A098D}"/>
              </a:ext>
            </a:extLst>
          </p:cNvPr>
          <p:cNvSpPr txBox="1"/>
          <p:nvPr/>
        </p:nvSpPr>
        <p:spPr>
          <a:xfrm>
            <a:off x="533399" y="3929813"/>
            <a:ext cx="11656631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dirty="0">
                <a:latin typeface="+mn-ea"/>
              </a:rPr>
              <a:t>선형 회귀는 단순하지만 여전히 많이 사용되는 알고리즘입니다</a:t>
            </a:r>
            <a:r>
              <a:rPr lang="en-US" altLang="ko-KR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095830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예측 알고리즘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D0429-0247-0149-8548-71B0B1FA2960}"/>
              </a:ext>
            </a:extLst>
          </p:cNvPr>
          <p:cNvSpPr txBox="1"/>
          <p:nvPr/>
        </p:nvSpPr>
        <p:spPr>
          <a:xfrm>
            <a:off x="738136" y="2019298"/>
            <a:ext cx="10715727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from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sklearn.ensemble</a:t>
            </a:r>
            <a:r>
              <a:rPr lang="en-US" altLang="ko-KR" dirty="0">
                <a:latin typeface="+mn-ea"/>
              </a:rPr>
              <a:t>  </a:t>
            </a:r>
            <a:r>
              <a:rPr lang="en-US" altLang="ko-KR" b="1" dirty="0">
                <a:solidFill>
                  <a:srgbClr val="7030A0"/>
                </a:solidFill>
                <a:latin typeface="+mn-ea"/>
              </a:rPr>
              <a:t>import</a:t>
            </a:r>
            <a:r>
              <a:rPr lang="en-US" altLang="ko-KR" dirty="0">
                <a:solidFill>
                  <a:srgbClr val="7030A0"/>
                </a:solidFill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RandomForestRegressor</a:t>
            </a:r>
            <a:r>
              <a:rPr lang="en-US" altLang="ko-KR" dirty="0">
                <a:latin typeface="+mn-ea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+mn-ea"/>
              </a:rPr>
              <a:t>model = </a:t>
            </a:r>
            <a:r>
              <a:rPr lang="en-US" altLang="ko-KR" dirty="0" err="1">
                <a:latin typeface="+mn-ea"/>
              </a:rPr>
              <a:t>RandomForestRegressor</a:t>
            </a:r>
            <a:r>
              <a:rPr lang="en-US" altLang="ko-KR" dirty="0">
                <a:latin typeface="+mn-ea"/>
              </a:rPr>
              <a:t> (</a:t>
            </a:r>
            <a:r>
              <a:rPr lang="en-US" altLang="ko-KR" dirty="0" err="1">
                <a:latin typeface="+mn-ea"/>
              </a:rPr>
              <a:t>n_estimators</a:t>
            </a:r>
            <a:r>
              <a:rPr lang="en-US" altLang="ko-KR" dirty="0">
                <a:latin typeface="+mn-ea"/>
              </a:rPr>
              <a:t> = 100, </a:t>
            </a:r>
            <a:r>
              <a:rPr lang="en-US" altLang="ko-KR" dirty="0" err="1">
                <a:latin typeface="+mn-ea"/>
              </a:rPr>
              <a:t>max_depth</a:t>
            </a:r>
            <a:r>
              <a:rPr lang="en-US" altLang="ko-KR" dirty="0">
                <a:latin typeface="+mn-ea"/>
              </a:rPr>
              <a:t> = None, </a:t>
            </a:r>
            <a:r>
              <a:rPr lang="en-US" altLang="ko-KR" dirty="0" err="1">
                <a:latin typeface="+mn-ea"/>
              </a:rPr>
              <a:t>min_samples_split</a:t>
            </a:r>
            <a:r>
              <a:rPr lang="en-US" altLang="ko-KR" dirty="0">
                <a:latin typeface="+mn-ea"/>
              </a:rPr>
              <a:t> = 2)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1D24E-094F-CD45-879A-63BE52661D37}"/>
              </a:ext>
            </a:extLst>
          </p:cNvPr>
          <p:cNvSpPr txBox="1"/>
          <p:nvPr/>
        </p:nvSpPr>
        <p:spPr>
          <a:xfrm>
            <a:off x="533399" y="3929813"/>
            <a:ext cx="11656631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n_estimators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생성할 트리의 수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max_depth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트리의 최대 깊이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min_samples_split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내부 노드를 분할하는데 필요한 </a:t>
            </a:r>
            <a:r>
              <a:rPr lang="ko-KR" altLang="en-US" dirty="0" err="1">
                <a:latin typeface="+mn-ea"/>
              </a:rPr>
              <a:t>최수</a:t>
            </a:r>
            <a:r>
              <a:rPr lang="ko-KR" altLang="en-US" dirty="0">
                <a:latin typeface="+mn-ea"/>
              </a:rPr>
              <a:t> 샘플 수  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671180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예측 모델 평가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1D24E-094F-CD45-879A-63BE52661D37}"/>
              </a:ext>
            </a:extLst>
          </p:cNvPr>
          <p:cNvSpPr txBox="1"/>
          <p:nvPr/>
        </p:nvSpPr>
        <p:spPr>
          <a:xfrm>
            <a:off x="533399" y="4383008"/>
            <a:ext cx="11656631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b="1" dirty="0" err="1">
                <a:latin typeface="+mn-ea"/>
              </a:rPr>
              <a:t>Mean_squared_error</a:t>
            </a:r>
            <a:r>
              <a:rPr lang="en-US" altLang="ko-KR" b="1" dirty="0">
                <a:latin typeface="+mn-ea"/>
              </a:rPr>
              <a:t> (MSE)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오차 제곱의 평균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오차가 클수록 더 큰 </a:t>
            </a:r>
            <a:r>
              <a:rPr lang="ko-KR" altLang="en-US" dirty="0" err="1">
                <a:latin typeface="+mn-ea"/>
              </a:rPr>
              <a:t>패널티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b="1" dirty="0" err="1">
                <a:latin typeface="+mn-ea"/>
              </a:rPr>
              <a:t>Mean_absolute_error</a:t>
            </a:r>
            <a:r>
              <a:rPr lang="en-US" altLang="ko-KR" b="1" dirty="0">
                <a:latin typeface="+mn-ea"/>
              </a:rPr>
              <a:t> (MAE)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오차의 절댓값 평균</a:t>
            </a:r>
            <a:r>
              <a:rPr lang="en-US" altLang="ko-KR" dirty="0">
                <a:latin typeface="+mn-ea"/>
              </a:rPr>
              <a:t>. </a:t>
            </a: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b="1" dirty="0">
                <a:latin typeface="+mn-ea"/>
              </a:rPr>
              <a:t>R2_score (</a:t>
            </a:r>
            <a:r>
              <a:rPr lang="ko-KR" altLang="en-US" b="1" dirty="0" err="1">
                <a:latin typeface="+mn-ea"/>
              </a:rPr>
              <a:t>결정계수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모델의 설명력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에 가까울수록 좋음 </a:t>
            </a:r>
            <a:endParaRPr lang="en-US" altLang="ko-KR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AE24A-A010-3B4F-89F1-C5E21DBDF23F}"/>
              </a:ext>
            </a:extLst>
          </p:cNvPr>
          <p:cNvSpPr txBox="1"/>
          <p:nvPr/>
        </p:nvSpPr>
        <p:spPr>
          <a:xfrm>
            <a:off x="533399" y="1641911"/>
            <a:ext cx="108005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sklearn.metrics</a:t>
            </a:r>
            <a:r>
              <a:rPr lang="ko-KR" altLang="en-US" dirty="0"/>
              <a:t> </a:t>
            </a:r>
            <a:r>
              <a:rPr lang="ko-KR" altLang="en-US" b="1" dirty="0" err="1">
                <a:solidFill>
                  <a:srgbClr val="7030A0"/>
                </a:solidFill>
              </a:rPr>
              <a:t>import</a:t>
            </a:r>
            <a:r>
              <a:rPr lang="ko-KR" altLang="en-US" dirty="0"/>
              <a:t> </a:t>
            </a:r>
            <a:r>
              <a:rPr lang="ko-KR" altLang="en-US" b="1" dirty="0" err="1"/>
              <a:t>mean_squared_error</a:t>
            </a:r>
            <a:r>
              <a:rPr lang="ko-KR" altLang="en-US" dirty="0"/>
              <a:t>, </a:t>
            </a:r>
            <a:r>
              <a:rPr lang="ko-KR" altLang="en-US" b="1" dirty="0" err="1"/>
              <a:t>mean_absolute_error</a:t>
            </a:r>
            <a:r>
              <a:rPr lang="ko-KR" altLang="en-US" b="1" dirty="0"/>
              <a:t>, r2_score</a:t>
            </a:r>
          </a:p>
          <a:p>
            <a:endParaRPr lang="ko-KR" altLang="en-US" dirty="0"/>
          </a:p>
          <a:p>
            <a:r>
              <a:rPr lang="ko-KR" altLang="en-US" dirty="0" err="1"/>
              <a:t>y_true</a:t>
            </a:r>
            <a:r>
              <a:rPr lang="ko-KR" altLang="en-US" dirty="0"/>
              <a:t> = [3.0, -0.5, 2.0, 7.0]</a:t>
            </a:r>
          </a:p>
          <a:p>
            <a:r>
              <a:rPr lang="ko-KR" altLang="en-US" dirty="0" err="1"/>
              <a:t>y_pred</a:t>
            </a:r>
            <a:r>
              <a:rPr lang="ko-KR" altLang="en-US" dirty="0"/>
              <a:t> = [2.5, 0.0, 2.0, 8.0]</a:t>
            </a:r>
          </a:p>
          <a:p>
            <a:endParaRPr lang="ko-KR" altLang="en-US" dirty="0"/>
          </a:p>
          <a:p>
            <a:r>
              <a:rPr lang="ko-KR" altLang="en-US" dirty="0" err="1"/>
              <a:t>print</a:t>
            </a:r>
            <a:r>
              <a:rPr lang="ko-KR" altLang="en-US" dirty="0"/>
              <a:t>("MSE:", </a:t>
            </a:r>
            <a:r>
              <a:rPr lang="ko-KR" altLang="en-US" dirty="0" err="1"/>
              <a:t>mean_squared_error</a:t>
            </a:r>
            <a:r>
              <a:rPr lang="ko-KR" altLang="en-US" dirty="0"/>
              <a:t>(</a:t>
            </a:r>
            <a:r>
              <a:rPr lang="ko-KR" altLang="en-US" dirty="0" err="1"/>
              <a:t>y_true</a:t>
            </a:r>
            <a:r>
              <a:rPr lang="ko-KR" altLang="en-US" dirty="0"/>
              <a:t>, </a:t>
            </a:r>
            <a:r>
              <a:rPr lang="ko-KR" altLang="en-US" dirty="0" err="1"/>
              <a:t>y_pred</a:t>
            </a:r>
            <a:r>
              <a:rPr lang="ko-KR" altLang="en-US" dirty="0"/>
              <a:t>))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("MAE:", </a:t>
            </a:r>
            <a:r>
              <a:rPr lang="ko-KR" altLang="en-US" dirty="0" err="1"/>
              <a:t>mean_absolute_error</a:t>
            </a:r>
            <a:r>
              <a:rPr lang="ko-KR" altLang="en-US" dirty="0"/>
              <a:t>(</a:t>
            </a:r>
            <a:r>
              <a:rPr lang="ko-KR" altLang="en-US" dirty="0" err="1"/>
              <a:t>y_true</a:t>
            </a:r>
            <a:r>
              <a:rPr lang="ko-KR" altLang="en-US" dirty="0"/>
              <a:t>, </a:t>
            </a:r>
            <a:r>
              <a:rPr lang="ko-KR" altLang="en-US" dirty="0" err="1"/>
              <a:t>y_pred</a:t>
            </a:r>
            <a:r>
              <a:rPr lang="ko-KR" altLang="en-US" dirty="0"/>
              <a:t>))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("R2 </a:t>
            </a:r>
            <a:r>
              <a:rPr lang="ko-KR" altLang="en-US" dirty="0" err="1"/>
              <a:t>Score</a:t>
            </a:r>
            <a:r>
              <a:rPr lang="ko-KR" altLang="en-US" dirty="0"/>
              <a:t>:", r2_score(</a:t>
            </a:r>
            <a:r>
              <a:rPr lang="ko-KR" altLang="en-US" dirty="0" err="1"/>
              <a:t>y_true</a:t>
            </a:r>
            <a:r>
              <a:rPr lang="ko-KR" altLang="en-US" dirty="0"/>
              <a:t>, </a:t>
            </a:r>
            <a:r>
              <a:rPr lang="ko-KR" altLang="en-US" dirty="0" err="1"/>
              <a:t>y_pred</a:t>
            </a:r>
            <a:r>
              <a:rPr lang="ko-KR" alt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23722280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2D68E25-E4D9-5742-9DFD-0EF879A5B440}"/>
              </a:ext>
            </a:extLst>
          </p:cNvPr>
          <p:cNvSpPr txBox="1">
            <a:spLocks/>
          </p:cNvSpPr>
          <p:nvPr/>
        </p:nvSpPr>
        <p:spPr>
          <a:xfrm>
            <a:off x="341376" y="2438399"/>
            <a:ext cx="11326368" cy="1093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교차검정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및 튜닝 </a:t>
            </a:r>
            <a:endParaRPr kumimoji="1" lang="en-US" altLang="ko-KR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277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943E14-9DE1-624C-833B-67B3966676A2}"/>
              </a:ext>
            </a:extLst>
          </p:cNvPr>
          <p:cNvSpPr/>
          <p:nvPr/>
        </p:nvSpPr>
        <p:spPr>
          <a:xfrm>
            <a:off x="834887" y="3140765"/>
            <a:ext cx="5261113" cy="71561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104450-1CC4-154F-AB56-54BAFE67A137}"/>
              </a:ext>
            </a:extLst>
          </p:cNvPr>
          <p:cNvSpPr/>
          <p:nvPr/>
        </p:nvSpPr>
        <p:spPr>
          <a:xfrm>
            <a:off x="6096000" y="3140765"/>
            <a:ext cx="2637183" cy="7156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DCFB43-81DC-DC4D-BF57-EF849D56C5E8}"/>
              </a:ext>
            </a:extLst>
          </p:cNvPr>
          <p:cNvSpPr/>
          <p:nvPr/>
        </p:nvSpPr>
        <p:spPr>
          <a:xfrm>
            <a:off x="8719930" y="3140765"/>
            <a:ext cx="2637183" cy="7156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B09C5-6ADC-7D41-8C5F-AF3724253447}"/>
              </a:ext>
            </a:extLst>
          </p:cNvPr>
          <p:cNvSpPr txBox="1"/>
          <p:nvPr/>
        </p:nvSpPr>
        <p:spPr>
          <a:xfrm>
            <a:off x="2345635" y="245165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 err="1"/>
              <a:t>훈련세트</a:t>
            </a:r>
            <a:endParaRPr kumimoji="1" lang="ko-KR" altLang="en-US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CF749-FD69-614B-962D-34341C37E04D}"/>
              </a:ext>
            </a:extLst>
          </p:cNvPr>
          <p:cNvSpPr txBox="1"/>
          <p:nvPr/>
        </p:nvSpPr>
        <p:spPr>
          <a:xfrm>
            <a:off x="6604453" y="245165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 err="1"/>
              <a:t>검정세트</a:t>
            </a:r>
            <a:endParaRPr kumimoji="1" lang="ko-KR" altLang="en-US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96F89-45FE-1D48-9511-3E47EA7B1296}"/>
              </a:ext>
            </a:extLst>
          </p:cNvPr>
          <p:cNvSpPr txBox="1"/>
          <p:nvPr/>
        </p:nvSpPr>
        <p:spPr>
          <a:xfrm>
            <a:off x="9242314" y="2451653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800" b="1" dirty="0" err="1"/>
              <a:t>테스트세트</a:t>
            </a:r>
            <a:endParaRPr kumimoji="1" lang="ko-KR" altLang="en-US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9AA117-1B85-D148-9778-C118C7695D2B}"/>
              </a:ext>
            </a:extLst>
          </p:cNvPr>
          <p:cNvSpPr txBox="1"/>
          <p:nvPr/>
        </p:nvSpPr>
        <p:spPr>
          <a:xfrm>
            <a:off x="2511287" y="3236964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>
                <a:solidFill>
                  <a:schemeClr val="bg1"/>
                </a:solidFill>
              </a:rPr>
              <a:t>60%</a:t>
            </a:r>
            <a:endParaRPr kumimoji="1"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B2D81-C2F7-234F-939C-D85585485460}"/>
              </a:ext>
            </a:extLst>
          </p:cNvPr>
          <p:cNvSpPr txBox="1"/>
          <p:nvPr/>
        </p:nvSpPr>
        <p:spPr>
          <a:xfrm>
            <a:off x="6895304" y="3236964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>
                <a:solidFill>
                  <a:schemeClr val="bg1"/>
                </a:solidFill>
              </a:rPr>
              <a:t>20%</a:t>
            </a:r>
            <a:endParaRPr kumimoji="1"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709627-D699-2043-AD5D-2E85B4F043D2}"/>
              </a:ext>
            </a:extLst>
          </p:cNvPr>
          <p:cNvSpPr txBox="1"/>
          <p:nvPr/>
        </p:nvSpPr>
        <p:spPr>
          <a:xfrm>
            <a:off x="9532487" y="3244170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b="1" dirty="0">
                <a:solidFill>
                  <a:schemeClr val="bg1"/>
                </a:solidFill>
              </a:rPr>
              <a:t>20%</a:t>
            </a:r>
            <a:endParaRPr kumimoji="1" lang="ko-KR" alt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51247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330140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교차검증</a:t>
            </a:r>
            <a:r>
              <a:rPr kumimoji="1" lang="ko-KR" altLang="en-US" sz="5400" b="1" dirty="0">
                <a:latin typeface="+mj-ea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533399" y="2212293"/>
            <a:ext cx="4551786" cy="1666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>
                <a:latin typeface="+mn-ea"/>
              </a:rPr>
              <a:t>이 방법은 데이터를 여러 번 나누어 여러 모델을 학습함으로써 모델의 일반화 성능을 측정하는데 유용합니다</a:t>
            </a:r>
            <a:r>
              <a:rPr lang="en-US" altLang="ko-KR" dirty="0">
                <a:latin typeface="+mn-ea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F77F5F4-949E-E341-92A4-11F966113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820" y="1326260"/>
            <a:ext cx="5596522" cy="37732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C5175E-9CF4-864C-86B9-4C778CA71845}"/>
              </a:ext>
            </a:extLst>
          </p:cNvPr>
          <p:cNvSpPr txBox="1"/>
          <p:nvPr/>
        </p:nvSpPr>
        <p:spPr>
          <a:xfrm>
            <a:off x="5643835" y="5288340"/>
            <a:ext cx="6165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en" altLang="ko-KR" sz="1200" dirty="0" err="1"/>
              <a:t>Jaylnne</a:t>
            </a:r>
            <a:r>
              <a:rPr lang="en" altLang="ko-KR" sz="1200" dirty="0"/>
              <a:t>, </a:t>
            </a:r>
            <a:r>
              <a:rPr lang="ko-KR" altLang="en" sz="1200" dirty="0"/>
              <a:t>「</a:t>
            </a:r>
            <a:r>
              <a:rPr lang="en" altLang="ko-KR" sz="1200" dirty="0"/>
              <a:t>[</a:t>
            </a:r>
            <a:r>
              <a:rPr lang="ko-KR" altLang="en-US" sz="1200" dirty="0" err="1"/>
              <a:t>머신러닝</a:t>
            </a:r>
            <a:r>
              <a:rPr lang="ko-KR" altLang="en-US" sz="1200" dirty="0"/>
              <a:t> 기초</a:t>
            </a:r>
            <a:r>
              <a:rPr lang="en-US" altLang="ko-KR" sz="1200" dirty="0"/>
              <a:t>] </a:t>
            </a:r>
            <a:r>
              <a:rPr lang="en" altLang="ko-KR" sz="1200" dirty="0"/>
              <a:t>K</a:t>
            </a:r>
            <a:r>
              <a:rPr lang="ko-KR" altLang="en-US" sz="1200" dirty="0"/>
              <a:t>겹 교차 검증 </a:t>
            </a:r>
            <a:r>
              <a:rPr lang="en-US" altLang="ko-KR" sz="1200" dirty="0"/>
              <a:t>(</a:t>
            </a:r>
            <a:r>
              <a:rPr lang="en" altLang="ko-KR" sz="1200" dirty="0"/>
              <a:t>K‑fold cross validation) </a:t>
            </a:r>
            <a:r>
              <a:rPr lang="ko-KR" altLang="en-US" sz="1200" dirty="0"/>
              <a:t>이란</a:t>
            </a:r>
            <a:r>
              <a:rPr lang="en-US" altLang="ko-KR" sz="1200" dirty="0"/>
              <a:t>? </a:t>
            </a:r>
            <a:r>
              <a:rPr lang="ko-KR" altLang="en-US" sz="1200" dirty="0"/>
              <a:t>초보자를 위한 쉽고 간단한 정리</a:t>
            </a:r>
            <a:r>
              <a:rPr lang="en-US" altLang="ko-KR" sz="1200" dirty="0"/>
              <a:t>!</a:t>
            </a:r>
            <a:r>
              <a:rPr lang="ko-KR" altLang="en-US" sz="1200" dirty="0"/>
              <a:t>」</a:t>
            </a:r>
            <a:r>
              <a:rPr lang="en-US" altLang="ko-KR" sz="1200" dirty="0"/>
              <a:t>, </a:t>
            </a:r>
            <a:r>
              <a:rPr lang="en" altLang="ko-KR" sz="1200" dirty="0" err="1"/>
              <a:t>Velog</a:t>
            </a:r>
            <a:r>
              <a:rPr lang="en" altLang="ko-KR" sz="1200" dirty="0"/>
              <a:t> (2022. 5. 5)</a:t>
            </a:r>
          </a:p>
          <a:p>
            <a:br>
              <a:rPr lang="en" altLang="ko-KR" sz="1200" dirty="0"/>
            </a:br>
            <a:r>
              <a:rPr lang="en" altLang="ko-KR" sz="1200" dirty="0"/>
              <a:t>https://</a:t>
            </a:r>
            <a:r>
              <a:rPr lang="en" altLang="ko-KR" sz="1200" dirty="0" err="1"/>
              <a:t>velog.io</a:t>
            </a:r>
            <a:r>
              <a:rPr lang="en" altLang="ko-KR" sz="1200" dirty="0"/>
              <a:t>/@</a:t>
            </a:r>
            <a:r>
              <a:rPr lang="en" altLang="ko-KR" sz="1200" dirty="0" err="1"/>
              <a:t>jaylnne</a:t>
            </a:r>
            <a:r>
              <a:rPr lang="en" altLang="ko-KR" sz="1200" dirty="0"/>
              <a:t>/</a:t>
            </a:r>
            <a:r>
              <a:rPr lang="ko-KR" altLang="en-US" sz="1200" dirty="0" err="1"/>
              <a:t>머신러닝</a:t>
            </a:r>
            <a:r>
              <a:rPr lang="en-US" altLang="ko-KR" sz="1200" dirty="0"/>
              <a:t>-</a:t>
            </a:r>
            <a:r>
              <a:rPr lang="ko-KR" altLang="en-US" sz="1200" dirty="0"/>
              <a:t>기초</a:t>
            </a:r>
            <a:r>
              <a:rPr lang="en-US" altLang="ko-KR" sz="1200" dirty="0"/>
              <a:t>‑</a:t>
            </a:r>
            <a:r>
              <a:rPr lang="en" altLang="ko-KR" sz="1200" dirty="0"/>
              <a:t>K</a:t>
            </a:r>
            <a:r>
              <a:rPr lang="ko-KR" altLang="en-US" sz="1200" dirty="0"/>
              <a:t>겹</a:t>
            </a:r>
            <a:r>
              <a:rPr lang="en-US" altLang="ko-KR" sz="1200" dirty="0"/>
              <a:t>‑</a:t>
            </a:r>
            <a:r>
              <a:rPr lang="ko-KR" altLang="en-US" sz="1200" dirty="0"/>
              <a:t>교차</a:t>
            </a:r>
            <a:r>
              <a:rPr lang="en-US" altLang="ko-KR" sz="1200" dirty="0"/>
              <a:t>‑</a:t>
            </a:r>
            <a:r>
              <a:rPr lang="ko-KR" altLang="en-US" sz="1200" dirty="0"/>
              <a:t>검증</a:t>
            </a:r>
            <a:r>
              <a:rPr lang="en-US" altLang="ko-KR" sz="1200" dirty="0"/>
              <a:t>‑</a:t>
            </a:r>
            <a:r>
              <a:rPr lang="en" altLang="ko-KR" sz="1200" dirty="0"/>
              <a:t>K‑fold‑cross‑validation‑</a:t>
            </a:r>
            <a:r>
              <a:rPr lang="ko-KR" altLang="en-US" sz="1200" dirty="0"/>
              <a:t>이란</a:t>
            </a:r>
            <a:r>
              <a:rPr lang="en-US" altLang="ko-KR" sz="1200" dirty="0"/>
              <a:t>‑</a:t>
            </a:r>
            <a:r>
              <a:rPr lang="ko-KR" altLang="en-US" sz="1200" dirty="0"/>
              <a:t>초보자를</a:t>
            </a:r>
            <a:r>
              <a:rPr lang="en-US" altLang="ko-KR" sz="1200" dirty="0"/>
              <a:t>‑</a:t>
            </a:r>
            <a:r>
              <a:rPr lang="ko-KR" altLang="en-US" sz="1200" dirty="0"/>
              <a:t>위한</a:t>
            </a:r>
            <a:r>
              <a:rPr lang="en-US" altLang="ko-KR" sz="1200" dirty="0"/>
              <a:t>‑</a:t>
            </a:r>
            <a:r>
              <a:rPr lang="ko-KR" altLang="en-US" sz="1200" dirty="0"/>
              <a:t>쉽고</a:t>
            </a:r>
            <a:r>
              <a:rPr lang="en-US" altLang="ko-KR" sz="1200" dirty="0"/>
              <a:t>‑</a:t>
            </a:r>
            <a:r>
              <a:rPr lang="ko-KR" altLang="en-US" sz="1200" dirty="0"/>
              <a:t>간단한</a:t>
            </a:r>
            <a:r>
              <a:rPr lang="en-US" altLang="ko-KR" sz="1200" dirty="0"/>
              <a:t>‑</a:t>
            </a:r>
            <a:r>
              <a:rPr lang="ko-KR" altLang="en-US" sz="1200" dirty="0"/>
              <a:t>정리</a:t>
            </a:r>
            <a:endParaRPr lang="en-US" altLang="ko-KR" sz="1200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7050339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K-Fold </a:t>
            </a:r>
            <a:r>
              <a:rPr kumimoji="1" lang="ko-KR" altLang="en-US" sz="5400" b="1" dirty="0">
                <a:latin typeface="+mj-ea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533399" y="2271381"/>
            <a:ext cx="4551786" cy="222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/>
              <a:t>데이터를 </a:t>
            </a:r>
            <a:r>
              <a:rPr lang="en" altLang="ko-KR" b="1" dirty="0"/>
              <a:t>K</a:t>
            </a:r>
            <a:r>
              <a:rPr lang="ko-KR" altLang="en-US" b="1" dirty="0"/>
              <a:t>개로 나눠서</a:t>
            </a:r>
            <a:r>
              <a:rPr lang="en-US" altLang="ko-KR" dirty="0"/>
              <a:t>, </a:t>
            </a:r>
            <a:r>
              <a:rPr lang="ko-KR" altLang="en-US" dirty="0"/>
              <a:t>그 중 하나는       </a:t>
            </a:r>
            <a:r>
              <a:rPr lang="ko-KR" altLang="en-US" b="1" dirty="0" err="1"/>
              <a:t>검증용</a:t>
            </a:r>
            <a:r>
              <a:rPr lang="en-US" altLang="ko-KR" b="1" dirty="0"/>
              <a:t>(</a:t>
            </a:r>
            <a:r>
              <a:rPr lang="en" altLang="ko-KR" b="1" dirty="0"/>
              <a:t>Validation)</a:t>
            </a:r>
            <a:r>
              <a:rPr lang="ko-KR" altLang="en-US" dirty="0" err="1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나머지 </a:t>
            </a:r>
            <a:r>
              <a:rPr lang="en" altLang="ko-KR" dirty="0"/>
              <a:t>K-1</a:t>
            </a:r>
            <a:r>
              <a:rPr lang="ko-KR" altLang="en-US" dirty="0"/>
              <a:t>개는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r>
              <a:rPr lang="ko-KR" altLang="en-US" b="1" dirty="0"/>
              <a:t>학습용</a:t>
            </a:r>
            <a:r>
              <a:rPr lang="en-US" altLang="ko-KR" b="1" dirty="0"/>
              <a:t>(</a:t>
            </a:r>
            <a:r>
              <a:rPr lang="en" altLang="ko-KR" b="1" dirty="0"/>
              <a:t>Training)</a:t>
            </a:r>
            <a:r>
              <a:rPr lang="ko-KR" altLang="en-US" dirty="0" err="1"/>
              <a:t>으로</a:t>
            </a:r>
            <a:r>
              <a:rPr lang="ko-KR" altLang="en-US" dirty="0"/>
              <a:t> 사용해 모델을 학습하고 평가하는 방법입니다</a:t>
            </a:r>
            <a:r>
              <a:rPr lang="en-US" altLang="ko-KR" dirty="0"/>
              <a:t>.</a:t>
            </a:r>
            <a:endParaRPr lang="en-US" altLang="ko-KR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149FB1-62ED-ED41-BF8B-843CEC01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805" y="989375"/>
            <a:ext cx="6390910" cy="46404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D1CEC0-81E3-CF43-AD77-E73F7F28A887}"/>
              </a:ext>
            </a:extLst>
          </p:cNvPr>
          <p:cNvSpPr txBox="1"/>
          <p:nvPr/>
        </p:nvSpPr>
        <p:spPr>
          <a:xfrm>
            <a:off x="4104859" y="5771429"/>
            <a:ext cx="8179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“</a:t>
            </a:r>
            <a:r>
              <a:rPr lang="en-US" altLang="ko-KR" sz="1200" b="1" dirty="0"/>
              <a:t>5.5 </a:t>
            </a:r>
            <a:r>
              <a:rPr lang="ko-KR" altLang="en-US" sz="1200" b="1" dirty="0"/>
              <a:t>교차 검증”</a:t>
            </a:r>
            <a:r>
              <a:rPr lang="en-US" altLang="ko-KR" sz="1200" dirty="0"/>
              <a:t>, </a:t>
            </a:r>
            <a:r>
              <a:rPr lang="en-US" altLang="ko-KR" sz="1200" i="1" dirty="0"/>
              <a:t>[</a:t>
            </a:r>
            <a:r>
              <a:rPr lang="en" altLang="ko-KR" sz="1200" i="1" dirty="0"/>
              <a:t>Must Have] </a:t>
            </a:r>
            <a:r>
              <a:rPr lang="ko-KR" altLang="en-US" sz="1200" i="1" dirty="0" err="1"/>
              <a:t>머신러닝</a:t>
            </a:r>
            <a:r>
              <a:rPr lang="en-US" altLang="ko-KR" sz="1200" i="1" dirty="0"/>
              <a:t>·</a:t>
            </a:r>
            <a:r>
              <a:rPr lang="ko-KR" altLang="en-US" sz="1200" i="1" dirty="0" err="1"/>
              <a:t>딥러닝</a:t>
            </a:r>
            <a:r>
              <a:rPr lang="ko-KR" altLang="en-US" sz="1200" i="1" dirty="0"/>
              <a:t> 문제해결 전략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en" altLang="ko-KR" sz="1200" dirty="0" err="1"/>
              <a:t>wikidocs.net</a:t>
            </a:r>
            <a:r>
              <a:rPr lang="en" altLang="ko-KR" sz="1200" dirty="0"/>
              <a:t>),</a:t>
            </a:r>
            <a:br>
              <a:rPr lang="en" altLang="ko-KR" sz="1200" dirty="0"/>
            </a:br>
            <a:r>
              <a:rPr lang="ko-KR" altLang="en-US" sz="1200" dirty="0"/>
              <a:t>최종 수정일</a:t>
            </a:r>
            <a:r>
              <a:rPr lang="en-US" altLang="ko-KR" sz="1200" dirty="0"/>
              <a:t>: 2023</a:t>
            </a:r>
            <a:r>
              <a:rPr lang="ko-KR" altLang="en-US" sz="1200" dirty="0"/>
              <a:t>년 </a:t>
            </a:r>
            <a:r>
              <a:rPr lang="en-US" altLang="ko-KR" sz="1200" dirty="0"/>
              <a:t>11</a:t>
            </a:r>
            <a:r>
              <a:rPr lang="ko-KR" altLang="en-US" sz="1200" dirty="0"/>
              <a:t>월 </a:t>
            </a:r>
            <a:r>
              <a:rPr lang="en-US" altLang="ko-KR" sz="1200" dirty="0"/>
              <a:t>30</a:t>
            </a:r>
            <a:r>
              <a:rPr lang="ko-KR" altLang="en-US" sz="1200" dirty="0"/>
              <a:t>일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en" altLang="ko-KR" sz="1200" dirty="0">
                <a:hlinkClick r:id="rId3"/>
              </a:rPr>
              <a:t>https://wikidocs.net/223699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8177243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K-Fold </a:t>
            </a:r>
            <a:r>
              <a:rPr kumimoji="1" lang="ko-KR" altLang="en-US" sz="5400" b="1" dirty="0">
                <a:latin typeface="+mj-ea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533400" y="1483424"/>
            <a:ext cx="11751364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#</a:t>
            </a:r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KFold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객체 생성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dirty="0" err="1">
                <a:latin typeface="+mn-ea"/>
              </a:rPr>
              <a:t>kf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KFold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n_splits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5,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shuffle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True,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random_state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50)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DAA194-F0AA-6E4A-9B80-1906EF41E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501" y="2948285"/>
            <a:ext cx="4903820" cy="35606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F3B223-2B3D-0948-8E47-B02304121C33}"/>
              </a:ext>
            </a:extLst>
          </p:cNvPr>
          <p:cNvSpPr txBox="1"/>
          <p:nvPr/>
        </p:nvSpPr>
        <p:spPr>
          <a:xfrm>
            <a:off x="5097636" y="4262413"/>
            <a:ext cx="8179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“</a:t>
            </a:r>
            <a:r>
              <a:rPr lang="en-US" altLang="ko-KR" sz="1200" b="1" dirty="0"/>
              <a:t>5.5 </a:t>
            </a:r>
            <a:r>
              <a:rPr lang="ko-KR" altLang="en-US" sz="1200" b="1" dirty="0"/>
              <a:t>교차 검증”</a:t>
            </a:r>
            <a:r>
              <a:rPr lang="en-US" altLang="ko-KR" sz="1200" dirty="0"/>
              <a:t>, </a:t>
            </a:r>
            <a:r>
              <a:rPr lang="en-US" altLang="ko-KR" sz="1200" i="1" dirty="0"/>
              <a:t>[</a:t>
            </a:r>
            <a:r>
              <a:rPr lang="en" altLang="ko-KR" sz="1200" i="1" dirty="0"/>
              <a:t>Must Have] </a:t>
            </a:r>
            <a:r>
              <a:rPr lang="ko-KR" altLang="en-US" sz="1200" i="1" dirty="0" err="1"/>
              <a:t>머신러닝</a:t>
            </a:r>
            <a:r>
              <a:rPr lang="en-US" altLang="ko-KR" sz="1200" i="1" dirty="0"/>
              <a:t>·</a:t>
            </a:r>
            <a:r>
              <a:rPr lang="ko-KR" altLang="en-US" sz="1200" i="1" dirty="0" err="1"/>
              <a:t>딥러닝</a:t>
            </a:r>
            <a:r>
              <a:rPr lang="ko-KR" altLang="en-US" sz="1200" i="1" dirty="0"/>
              <a:t> 문제해결 전략</a:t>
            </a:r>
            <a:r>
              <a:rPr lang="ko-KR" altLang="en-US" sz="1200" dirty="0"/>
              <a:t> </a:t>
            </a:r>
            <a:r>
              <a:rPr lang="en-US" altLang="ko-KR" sz="1200" dirty="0"/>
              <a:t>(</a:t>
            </a:r>
            <a:r>
              <a:rPr lang="en" altLang="ko-KR" sz="1200" dirty="0" err="1"/>
              <a:t>wikidocs.net</a:t>
            </a:r>
            <a:r>
              <a:rPr lang="en" altLang="ko-KR" sz="1200" dirty="0"/>
              <a:t>),</a:t>
            </a:r>
            <a:br>
              <a:rPr lang="en" altLang="ko-KR" sz="1200" dirty="0"/>
            </a:br>
            <a:r>
              <a:rPr lang="ko-KR" altLang="en-US" sz="1200" dirty="0"/>
              <a:t>최종 수정일</a:t>
            </a:r>
            <a:r>
              <a:rPr lang="en-US" altLang="ko-KR" sz="1200" dirty="0"/>
              <a:t>: 2023</a:t>
            </a:r>
            <a:r>
              <a:rPr lang="ko-KR" altLang="en-US" sz="1200" dirty="0"/>
              <a:t>년 </a:t>
            </a:r>
            <a:r>
              <a:rPr lang="en-US" altLang="ko-KR" sz="1200" dirty="0"/>
              <a:t>11</a:t>
            </a:r>
            <a:r>
              <a:rPr lang="ko-KR" altLang="en-US" sz="1200" dirty="0"/>
              <a:t>월 </a:t>
            </a:r>
            <a:r>
              <a:rPr lang="en-US" altLang="ko-KR" sz="1200" dirty="0"/>
              <a:t>30</a:t>
            </a:r>
            <a:r>
              <a:rPr lang="ko-KR" altLang="en-US" sz="1200" dirty="0"/>
              <a:t>일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en" altLang="ko-KR" sz="1200" dirty="0">
                <a:hlinkClick r:id="rId3"/>
              </a:rPr>
              <a:t>https://wikidocs.net/223699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9468863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Stratified </a:t>
            </a:r>
            <a:r>
              <a:rPr kumimoji="1" lang="en-US" altLang="ko-KR" sz="5400" b="1" dirty="0" err="1">
                <a:latin typeface="+mj-ea"/>
              </a:rPr>
              <a:t>KFold</a:t>
            </a:r>
            <a:r>
              <a:rPr kumimoji="1" lang="en-US" altLang="ko-KR" sz="5400" b="1" dirty="0">
                <a:latin typeface="+mj-ea"/>
              </a:rPr>
              <a:t> 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385419" y="2435500"/>
            <a:ext cx="9061363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>
                <a:latin typeface="+mn-ea"/>
              </a:rPr>
              <a:t>클래스 비율을 유지하면서 데이터를 나누는 방법으로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dirty="0">
                <a:latin typeface="+mn-ea"/>
              </a:rPr>
              <a:t>불균형 데이터셋에서 유용합니다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AA9302-E2FE-DB4B-86F1-D63C6F6B3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081" y="1109937"/>
            <a:ext cx="5397500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DF2F75-C784-1F4B-96E9-C0D44B2B3113}"/>
              </a:ext>
            </a:extLst>
          </p:cNvPr>
          <p:cNvSpPr txBox="1"/>
          <p:nvPr/>
        </p:nvSpPr>
        <p:spPr>
          <a:xfrm>
            <a:off x="7215262" y="5530482"/>
            <a:ext cx="4591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en" altLang="ko-KR" sz="1200" dirty="0"/>
              <a:t>ResearchGate, “Graphical representation of modified stratified k‑fold cross‑validation” (Fig. 7),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https://www.researchgate.net/figure/…351865104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8972244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Stratified </a:t>
            </a:r>
            <a:r>
              <a:rPr kumimoji="1" lang="en-US" altLang="ko-KR" sz="5400" b="1" dirty="0" err="1">
                <a:latin typeface="+mj-ea"/>
              </a:rPr>
              <a:t>KFold</a:t>
            </a:r>
            <a:r>
              <a:rPr kumimoji="1" lang="en-US" altLang="ko-KR" sz="5400" b="1" dirty="0">
                <a:latin typeface="+mj-ea"/>
              </a:rPr>
              <a:t> 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602AB-921E-294F-814C-3A1C7A7E577D}"/>
              </a:ext>
            </a:extLst>
          </p:cNvPr>
          <p:cNvSpPr txBox="1"/>
          <p:nvPr/>
        </p:nvSpPr>
        <p:spPr>
          <a:xfrm>
            <a:off x="636430" y="2024336"/>
            <a:ext cx="11751364" cy="558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 err="1">
                <a:latin typeface="+mn-ea"/>
              </a:rPr>
              <a:t>skf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StratifiedKFold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n_splits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5,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shuffle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True,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random_state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50)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BD15376-66DC-E449-BB91-F8187431D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048" y="2981747"/>
            <a:ext cx="4486446" cy="34202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10BA59-7662-1645-BD65-910E2FC38B56}"/>
              </a:ext>
            </a:extLst>
          </p:cNvPr>
          <p:cNvSpPr txBox="1"/>
          <p:nvPr/>
        </p:nvSpPr>
        <p:spPr>
          <a:xfrm>
            <a:off x="6409081" y="4275499"/>
            <a:ext cx="4591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출처</a:t>
            </a:r>
            <a:r>
              <a:rPr lang="en-US" altLang="ko-KR" sz="1200" dirty="0"/>
              <a:t>: </a:t>
            </a:r>
            <a:r>
              <a:rPr lang="en" altLang="ko-KR" sz="1200" dirty="0"/>
              <a:t>ResearchGate, “Graphical representation of modified stratified k‑fold cross‑validation” (Fig. 7),</a:t>
            </a:r>
            <a:br>
              <a:rPr lang="en" altLang="ko-KR" sz="1200" dirty="0"/>
            </a:br>
            <a:r>
              <a:rPr lang="en" altLang="ko-KR" sz="1200" dirty="0">
                <a:hlinkClick r:id="rId3"/>
              </a:rPr>
              <a:t>https://www.researchgate.net/figure/…351865104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4918221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 err="1">
                <a:latin typeface="+mj-ea"/>
              </a:rPr>
              <a:t>Cross_val_score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533398" y="2271381"/>
            <a:ext cx="11414762" cy="2774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estimator :</a:t>
            </a:r>
            <a:r>
              <a:rPr lang="ko-KR" altLang="en-US" dirty="0">
                <a:latin typeface="+mn-ea"/>
              </a:rPr>
              <a:t> 분류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회귀 모델 객체 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x: </a:t>
            </a:r>
            <a:r>
              <a:rPr lang="ko-KR" altLang="en-US" dirty="0">
                <a:latin typeface="+mn-ea"/>
              </a:rPr>
              <a:t>피처 </a:t>
            </a:r>
            <a:r>
              <a:rPr lang="ko-KR" altLang="en-US" dirty="0" err="1">
                <a:latin typeface="+mn-ea"/>
              </a:rPr>
              <a:t>데이터셋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y : </a:t>
            </a:r>
            <a:r>
              <a:rPr lang="ko-KR" altLang="en-US" dirty="0">
                <a:latin typeface="+mn-ea"/>
              </a:rPr>
              <a:t>레이블 </a:t>
            </a:r>
            <a:r>
              <a:rPr lang="ko-KR" altLang="en-US" dirty="0" err="1">
                <a:latin typeface="+mn-ea"/>
              </a:rPr>
              <a:t>데이터셋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scoring : </a:t>
            </a:r>
            <a:r>
              <a:rPr lang="ko-KR" altLang="en-US" dirty="0">
                <a:latin typeface="+mn-ea"/>
              </a:rPr>
              <a:t>평가기준 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cv: </a:t>
            </a:r>
            <a:r>
              <a:rPr lang="ko-KR" altLang="en-US" dirty="0">
                <a:latin typeface="+mn-ea"/>
              </a:rPr>
              <a:t>교차 검증 횟수 </a:t>
            </a:r>
            <a:endParaRPr lang="en-US" altLang="ko-KR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5B4EA-7443-3E42-A0BC-2F31A63EC85A}"/>
              </a:ext>
            </a:extLst>
          </p:cNvPr>
          <p:cNvSpPr txBox="1"/>
          <p:nvPr/>
        </p:nvSpPr>
        <p:spPr>
          <a:xfrm>
            <a:off x="5003800" y="1686624"/>
            <a:ext cx="6146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sklearn.datasets</a:t>
            </a:r>
            <a:r>
              <a:rPr lang="ko-KR" altLang="en-US" dirty="0"/>
              <a:t> </a:t>
            </a:r>
            <a:r>
              <a:rPr lang="ko-KR" altLang="en-US" b="1" dirty="0" err="1">
                <a:solidFill>
                  <a:srgbClr val="7030A0"/>
                </a:solidFill>
              </a:rPr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load_iris</a:t>
            </a:r>
            <a:endParaRPr lang="ko-KR" altLang="en-US" dirty="0"/>
          </a:p>
          <a:p>
            <a:r>
              <a:rPr lang="ko-KR" altLang="en-US" b="1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sklearn.model_selection</a:t>
            </a:r>
            <a:r>
              <a:rPr lang="ko-KR" altLang="en-US" dirty="0"/>
              <a:t> </a:t>
            </a:r>
            <a:r>
              <a:rPr lang="ko-KR" altLang="en-US" b="1" dirty="0" err="1">
                <a:solidFill>
                  <a:srgbClr val="7030A0"/>
                </a:solidFill>
              </a:rPr>
              <a:t>import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ko-KR" altLang="en-US" dirty="0" err="1"/>
              <a:t>cross_val_score</a:t>
            </a:r>
            <a:endParaRPr lang="ko-KR" altLang="en-US" dirty="0"/>
          </a:p>
          <a:p>
            <a:r>
              <a:rPr lang="ko-KR" altLang="en-US" b="1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sklearn.ensemble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ko-KR" altLang="en-US" b="1" dirty="0" err="1">
                <a:solidFill>
                  <a:srgbClr val="7030A0"/>
                </a:solidFill>
              </a:rPr>
              <a:t>import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ko-KR" altLang="en-US" dirty="0" err="1"/>
              <a:t>RandomForestClassifier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# 데이터 로드</a:t>
            </a:r>
          </a:p>
          <a:p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 = </a:t>
            </a:r>
            <a:r>
              <a:rPr lang="ko-KR" altLang="en-US" dirty="0" err="1"/>
              <a:t>load_iris</a:t>
            </a:r>
            <a:r>
              <a:rPr lang="ko-KR" altLang="en-US" dirty="0"/>
              <a:t>(</a:t>
            </a:r>
            <a:r>
              <a:rPr lang="ko-KR" altLang="en-US" dirty="0" err="1"/>
              <a:t>return_X_y</a:t>
            </a:r>
            <a:r>
              <a:rPr lang="ko-KR" altLang="en-US" dirty="0"/>
              <a:t>=</a:t>
            </a:r>
            <a:r>
              <a:rPr lang="ko-KR" altLang="en-US" dirty="0" err="1"/>
              <a:t>True</a:t>
            </a:r>
            <a:r>
              <a:rPr lang="ko-KR" altLang="en-US" dirty="0"/>
              <a:t>)</a:t>
            </a:r>
          </a:p>
          <a:p>
            <a:endParaRPr lang="ko-KR" altLang="en-US" dirty="0"/>
          </a:p>
          <a:p>
            <a:r>
              <a:rPr lang="ko-KR" altLang="en-US" dirty="0"/>
              <a:t># 모델 정의</a:t>
            </a:r>
          </a:p>
          <a:p>
            <a:r>
              <a:rPr lang="ko-KR" altLang="en-US" dirty="0" err="1"/>
              <a:t>model</a:t>
            </a:r>
            <a:r>
              <a:rPr lang="ko-KR" altLang="en-US" dirty="0"/>
              <a:t> = </a:t>
            </a:r>
            <a:r>
              <a:rPr lang="ko-KR" altLang="en-US" dirty="0" err="1"/>
              <a:t>RandomForestClassifier</a:t>
            </a:r>
            <a:r>
              <a:rPr lang="ko-KR" altLang="en-US" dirty="0"/>
              <a:t>()</a:t>
            </a:r>
          </a:p>
          <a:p>
            <a:endParaRPr lang="ko-KR" altLang="en-US" dirty="0"/>
          </a:p>
          <a:p>
            <a:r>
              <a:rPr lang="ko-KR" altLang="en-US" dirty="0"/>
              <a:t># </a:t>
            </a:r>
            <a:r>
              <a:rPr lang="ko-KR" altLang="en-US" dirty="0" err="1"/>
              <a:t>교차검증</a:t>
            </a:r>
            <a:r>
              <a:rPr lang="ko-KR" altLang="en-US" dirty="0"/>
              <a:t> (5폴드)</a:t>
            </a:r>
          </a:p>
          <a:p>
            <a:r>
              <a:rPr lang="ko-KR" altLang="en-US" dirty="0" err="1"/>
              <a:t>scores</a:t>
            </a:r>
            <a:r>
              <a:rPr lang="ko-KR" altLang="en-US" dirty="0"/>
              <a:t> = </a:t>
            </a:r>
            <a:r>
              <a:rPr lang="ko-KR" altLang="en-US" dirty="0" err="1"/>
              <a:t>cross_val_score</a:t>
            </a:r>
            <a:r>
              <a:rPr lang="ko-KR" altLang="en-US" dirty="0"/>
              <a:t>(</a:t>
            </a:r>
            <a:r>
              <a:rPr lang="ko-KR" altLang="en-US" dirty="0" err="1"/>
              <a:t>model</a:t>
            </a:r>
            <a:r>
              <a:rPr lang="ko-KR" altLang="en-US" dirty="0"/>
              <a:t>, </a:t>
            </a:r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, </a:t>
            </a:r>
            <a:r>
              <a:rPr lang="ko-KR" altLang="en-US" dirty="0" err="1"/>
              <a:t>cv</a:t>
            </a:r>
            <a:r>
              <a:rPr lang="ko-KR" altLang="en-US" dirty="0"/>
              <a:t>=5)</a:t>
            </a:r>
          </a:p>
          <a:p>
            <a:endParaRPr lang="ko-KR" altLang="en-US" dirty="0"/>
          </a:p>
          <a:p>
            <a:r>
              <a:rPr lang="ko-KR" altLang="en-US" dirty="0" err="1"/>
              <a:t>print</a:t>
            </a:r>
            <a:r>
              <a:rPr lang="ko-KR" altLang="en-US" dirty="0"/>
              <a:t>("각 </a:t>
            </a:r>
            <a:r>
              <a:rPr lang="ko-KR" altLang="en-US" dirty="0" err="1"/>
              <a:t>Fold의</a:t>
            </a:r>
            <a:r>
              <a:rPr lang="ko-KR" altLang="en-US" dirty="0"/>
              <a:t> 정확도:", </a:t>
            </a:r>
            <a:r>
              <a:rPr lang="ko-KR" altLang="en-US" dirty="0" err="1"/>
              <a:t>scores</a:t>
            </a:r>
            <a:r>
              <a:rPr lang="ko-KR" altLang="en-US" dirty="0"/>
              <a:t>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("평균 정확도:", </a:t>
            </a:r>
            <a:r>
              <a:rPr lang="ko-KR" altLang="en-US" dirty="0" err="1"/>
              <a:t>scores.mean</a:t>
            </a:r>
            <a:r>
              <a:rPr lang="ko-KR" altLang="en-US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83068292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Grid Search 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533399" y="1595520"/>
            <a:ext cx="11414762" cy="222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지정된 </a:t>
            </a:r>
            <a:r>
              <a:rPr lang="ko-KR" altLang="en-US" dirty="0" err="1">
                <a:latin typeface="+mn-ea"/>
              </a:rPr>
              <a:t>하이퍼파라미터</a:t>
            </a:r>
            <a:r>
              <a:rPr lang="ko-KR" altLang="en-US" dirty="0">
                <a:latin typeface="+mn-ea"/>
              </a:rPr>
              <a:t> 범위 내에서 모든 가능한 조합을 </a:t>
            </a:r>
            <a:r>
              <a:rPr lang="ko-KR" altLang="en-US" dirty="0" err="1">
                <a:latin typeface="+mn-ea"/>
              </a:rPr>
              <a:t>쳬계적으로</a:t>
            </a:r>
            <a:r>
              <a:rPr lang="ko-KR" altLang="en-US" dirty="0">
                <a:latin typeface="+mn-ea"/>
              </a:rPr>
              <a:t> 탐색합니다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dirty="0">
                <a:latin typeface="+mn-ea"/>
              </a:rPr>
              <a:t>모든 조합을 탐색하므로 철저함 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dirty="0">
                <a:latin typeface="+mn-ea"/>
              </a:rPr>
              <a:t>계산 비용이 높음 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dirty="0">
                <a:latin typeface="+mn-ea"/>
              </a:rPr>
              <a:t>최적의 해를 찾지 못할 수 있음 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73353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3F23B0-A1ED-E14E-A7FA-AB79D2B6DDDC}"/>
              </a:ext>
            </a:extLst>
          </p:cNvPr>
          <p:cNvSpPr txBox="1"/>
          <p:nvPr/>
        </p:nvSpPr>
        <p:spPr>
          <a:xfrm>
            <a:off x="861391" y="582067"/>
            <a:ext cx="1168841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solidFill>
                  <a:srgbClr val="7030A0"/>
                </a:solidFill>
              </a:rPr>
              <a:t>from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sklearn.model_selection</a:t>
            </a:r>
            <a:r>
              <a:rPr lang="ko-KR" altLang="en-US" sz="1400" b="1" dirty="0">
                <a:solidFill>
                  <a:srgbClr val="7030A0"/>
                </a:solidFill>
              </a:rPr>
              <a:t> </a:t>
            </a:r>
            <a:r>
              <a:rPr lang="ko-KR" altLang="en-US" sz="1400" b="1" dirty="0" err="1">
                <a:solidFill>
                  <a:srgbClr val="7030A0"/>
                </a:solidFill>
              </a:rPr>
              <a:t>import</a:t>
            </a:r>
            <a:r>
              <a:rPr lang="ko-KR" altLang="en-US" sz="1400" b="1" dirty="0">
                <a:solidFill>
                  <a:srgbClr val="7030A0"/>
                </a:solidFill>
              </a:rPr>
              <a:t> </a:t>
            </a:r>
            <a:r>
              <a:rPr lang="ko-KR" altLang="en-US" sz="1400" dirty="0" err="1"/>
              <a:t>GridSearchCV</a:t>
            </a:r>
            <a:endParaRPr lang="ko-KR" altLang="en-US" sz="1400" dirty="0"/>
          </a:p>
          <a:p>
            <a:r>
              <a:rPr lang="ko-KR" altLang="en-US" sz="1400" b="1" dirty="0" err="1">
                <a:solidFill>
                  <a:srgbClr val="7030A0"/>
                </a:solidFill>
              </a:rPr>
              <a:t>from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sklearn.ensemble</a:t>
            </a:r>
            <a:r>
              <a:rPr lang="ko-KR" altLang="en-US" sz="1400" dirty="0"/>
              <a:t> </a:t>
            </a:r>
            <a:r>
              <a:rPr lang="ko-KR" altLang="en-US" sz="1400" b="1" dirty="0" err="1">
                <a:solidFill>
                  <a:srgbClr val="7030A0"/>
                </a:solidFill>
              </a:rPr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RandomForestClassifier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>
                <a:solidFill>
                  <a:srgbClr val="7030A0"/>
                </a:solidFill>
              </a:rPr>
              <a:t># 모델</a:t>
            </a:r>
          </a:p>
          <a:p>
            <a:r>
              <a:rPr lang="ko-KR" altLang="en-US" sz="1400" dirty="0" err="1"/>
              <a:t>model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RandomForestClassifier</a:t>
            </a:r>
            <a:r>
              <a:rPr lang="ko-KR" altLang="en-US" sz="1400" dirty="0"/>
              <a:t>()</a:t>
            </a:r>
          </a:p>
          <a:p>
            <a:endParaRPr lang="ko-KR" altLang="en-US" sz="1400" dirty="0"/>
          </a:p>
          <a:p>
            <a:r>
              <a:rPr lang="ko-KR" altLang="en-US" sz="1400" dirty="0">
                <a:solidFill>
                  <a:srgbClr val="7030A0"/>
                </a:solidFill>
              </a:rPr>
              <a:t># </a:t>
            </a:r>
            <a:r>
              <a:rPr lang="ko-KR" altLang="en-US" sz="1400" dirty="0" err="1">
                <a:solidFill>
                  <a:srgbClr val="7030A0"/>
                </a:solidFill>
              </a:rPr>
              <a:t>하이퍼파라미터</a:t>
            </a:r>
            <a:r>
              <a:rPr lang="ko-KR" altLang="en-US" sz="1400" dirty="0">
                <a:solidFill>
                  <a:srgbClr val="7030A0"/>
                </a:solidFill>
              </a:rPr>
              <a:t> 그리드 설정</a:t>
            </a:r>
          </a:p>
          <a:p>
            <a:r>
              <a:rPr lang="ko-KR" altLang="en-US" sz="1400" dirty="0" err="1"/>
              <a:t>param_grid</a:t>
            </a:r>
            <a:r>
              <a:rPr lang="ko-KR" altLang="en-US" sz="1400" dirty="0"/>
              <a:t> = {</a:t>
            </a:r>
          </a:p>
          <a:p>
            <a:r>
              <a:rPr lang="ko-KR" altLang="en-US" sz="1400" dirty="0"/>
              <a:t>    '</a:t>
            </a:r>
            <a:r>
              <a:rPr lang="ko-KR" altLang="en-US" sz="1400" dirty="0" err="1"/>
              <a:t>n_estimators</a:t>
            </a:r>
            <a:r>
              <a:rPr lang="ko-KR" altLang="en-US" sz="1400" dirty="0"/>
              <a:t>': [50, 100, 150],</a:t>
            </a:r>
          </a:p>
          <a:p>
            <a:r>
              <a:rPr lang="ko-KR" altLang="en-US" sz="1400" dirty="0"/>
              <a:t>    '</a:t>
            </a:r>
            <a:r>
              <a:rPr lang="ko-KR" altLang="en-US" sz="1400" dirty="0" err="1"/>
              <a:t>max_depth</a:t>
            </a:r>
            <a:r>
              <a:rPr lang="ko-KR" altLang="en-US" sz="1400" dirty="0"/>
              <a:t>': [3, 5, 10]</a:t>
            </a:r>
          </a:p>
          <a:p>
            <a:r>
              <a:rPr lang="ko-KR" altLang="en-US" sz="1400" dirty="0"/>
              <a:t>}</a:t>
            </a:r>
          </a:p>
          <a:p>
            <a:endParaRPr lang="ko-KR" altLang="en-US" sz="1400" dirty="0"/>
          </a:p>
          <a:p>
            <a:r>
              <a:rPr lang="ko-KR" altLang="en-US" sz="1400" dirty="0">
                <a:solidFill>
                  <a:srgbClr val="7030A0"/>
                </a:solidFill>
              </a:rPr>
              <a:t># </a:t>
            </a:r>
            <a:r>
              <a:rPr lang="ko-KR" altLang="en-US" sz="1400" dirty="0" err="1">
                <a:solidFill>
                  <a:srgbClr val="7030A0"/>
                </a:solidFill>
              </a:rPr>
              <a:t>GridSearchCV</a:t>
            </a:r>
            <a:r>
              <a:rPr lang="ko-KR" altLang="en-US" sz="1400" dirty="0">
                <a:solidFill>
                  <a:srgbClr val="7030A0"/>
                </a:solidFill>
              </a:rPr>
              <a:t> 객체 생성</a:t>
            </a:r>
          </a:p>
          <a:p>
            <a:r>
              <a:rPr lang="ko-KR" altLang="en-US" sz="1400" dirty="0" err="1"/>
              <a:t>grid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GridSearchCV</a:t>
            </a:r>
            <a:r>
              <a:rPr lang="ko-KR" altLang="en-US" sz="1400" dirty="0"/>
              <a:t>(</a:t>
            </a:r>
            <a:r>
              <a:rPr lang="ko-KR" altLang="en-US" sz="1400" dirty="0" err="1"/>
              <a:t>estimator</a:t>
            </a:r>
            <a:r>
              <a:rPr lang="ko-KR" altLang="en-US" sz="1400" dirty="0"/>
              <a:t>=</a:t>
            </a:r>
            <a:r>
              <a:rPr lang="ko-KR" altLang="en-US" sz="1400" dirty="0" err="1"/>
              <a:t>model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param_grid</a:t>
            </a:r>
            <a:r>
              <a:rPr lang="ko-KR" altLang="en-US" sz="1400" dirty="0"/>
              <a:t>=</a:t>
            </a:r>
            <a:r>
              <a:rPr lang="ko-KR" altLang="en-US" sz="1400" dirty="0" err="1"/>
              <a:t>param_grid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cv</a:t>
            </a:r>
            <a:r>
              <a:rPr lang="ko-KR" altLang="en-US" sz="1400" dirty="0"/>
              <a:t>=5, </a:t>
            </a:r>
            <a:r>
              <a:rPr lang="ko-KR" altLang="en-US" sz="1400" dirty="0" err="1"/>
              <a:t>scoring</a:t>
            </a:r>
            <a:r>
              <a:rPr lang="ko-KR" altLang="en-US" sz="1400" dirty="0"/>
              <a:t>='</a:t>
            </a:r>
            <a:r>
              <a:rPr lang="ko-KR" altLang="en-US" sz="1400" dirty="0" err="1"/>
              <a:t>accuracy</a:t>
            </a:r>
            <a:r>
              <a:rPr lang="ko-KR" altLang="en-US" sz="1400" dirty="0"/>
              <a:t>')</a:t>
            </a:r>
          </a:p>
          <a:p>
            <a:endParaRPr lang="ko-KR" altLang="en-US" sz="1400" dirty="0"/>
          </a:p>
          <a:p>
            <a:r>
              <a:rPr lang="ko-KR" altLang="en-US" sz="1400" dirty="0">
                <a:solidFill>
                  <a:srgbClr val="7030A0"/>
                </a:solidFill>
              </a:rPr>
              <a:t># 학습 (자동으로 모든 조합 + </a:t>
            </a:r>
            <a:r>
              <a:rPr lang="ko-KR" altLang="en-US" sz="1400" dirty="0" err="1">
                <a:solidFill>
                  <a:srgbClr val="7030A0"/>
                </a:solidFill>
              </a:rPr>
              <a:t>교차검증</a:t>
            </a:r>
            <a:r>
              <a:rPr lang="ko-KR" altLang="en-US" sz="1400" dirty="0">
                <a:solidFill>
                  <a:srgbClr val="7030A0"/>
                </a:solidFill>
              </a:rPr>
              <a:t> 수행)</a:t>
            </a:r>
          </a:p>
          <a:p>
            <a:r>
              <a:rPr lang="ko-KR" altLang="en-US" sz="1400" dirty="0" err="1"/>
              <a:t>grid.fit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X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)</a:t>
            </a:r>
          </a:p>
          <a:p>
            <a:endParaRPr lang="ko-KR" altLang="en-US" sz="1400" dirty="0"/>
          </a:p>
          <a:p>
            <a:r>
              <a:rPr lang="ko-KR" altLang="en-US" sz="1400" dirty="0">
                <a:solidFill>
                  <a:srgbClr val="7030A0"/>
                </a:solidFill>
              </a:rPr>
              <a:t># 최적의 </a:t>
            </a:r>
            <a:r>
              <a:rPr lang="ko-KR" altLang="en-US" sz="1400" dirty="0" err="1">
                <a:solidFill>
                  <a:srgbClr val="7030A0"/>
                </a:solidFill>
              </a:rPr>
              <a:t>파라미터</a:t>
            </a:r>
            <a:r>
              <a:rPr lang="ko-KR" altLang="en-US" sz="1400" dirty="0">
                <a:solidFill>
                  <a:srgbClr val="7030A0"/>
                </a:solidFill>
              </a:rPr>
              <a:t> 조합</a:t>
            </a:r>
          </a:p>
          <a:p>
            <a:r>
              <a:rPr lang="ko-KR" altLang="en-US" sz="1400" dirty="0" err="1"/>
              <a:t>print</a:t>
            </a:r>
            <a:r>
              <a:rPr lang="ko-KR" altLang="en-US" sz="1400" dirty="0"/>
              <a:t>("최적의 </a:t>
            </a:r>
            <a:r>
              <a:rPr lang="ko-KR" altLang="en-US" sz="1400" dirty="0" err="1"/>
              <a:t>파라미터</a:t>
            </a:r>
            <a:r>
              <a:rPr lang="ko-KR" altLang="en-US" sz="1400" dirty="0"/>
              <a:t>:", </a:t>
            </a:r>
            <a:r>
              <a:rPr lang="ko-KR" altLang="en-US" sz="1400" dirty="0" err="1"/>
              <a:t>grid.best_params</a:t>
            </a:r>
            <a:r>
              <a:rPr lang="ko-KR" altLang="en-US" sz="1400" dirty="0"/>
              <a:t>_)</a:t>
            </a:r>
          </a:p>
          <a:p>
            <a:endParaRPr lang="ko-KR" altLang="en-US" sz="1400" dirty="0"/>
          </a:p>
          <a:p>
            <a:r>
              <a:rPr lang="ko-KR" altLang="en-US" sz="1400" dirty="0">
                <a:solidFill>
                  <a:srgbClr val="7030A0"/>
                </a:solidFill>
              </a:rPr>
              <a:t># 최고 점수</a:t>
            </a:r>
          </a:p>
          <a:p>
            <a:r>
              <a:rPr lang="ko-KR" altLang="en-US" sz="1400" dirty="0" err="1"/>
              <a:t>print</a:t>
            </a:r>
            <a:r>
              <a:rPr lang="ko-KR" altLang="en-US" sz="1400" dirty="0"/>
              <a:t>("최고 정확도:", </a:t>
            </a:r>
            <a:r>
              <a:rPr lang="ko-KR" altLang="en-US" sz="1400" dirty="0" err="1"/>
              <a:t>grid.best_score</a:t>
            </a:r>
            <a:r>
              <a:rPr lang="ko-KR" altLang="en-US" sz="1400" dirty="0"/>
              <a:t>_)</a:t>
            </a:r>
          </a:p>
          <a:p>
            <a:endParaRPr lang="ko-KR" altLang="en-US" sz="1400" dirty="0"/>
          </a:p>
          <a:p>
            <a:r>
              <a:rPr lang="ko-KR" altLang="en-US" sz="1400" dirty="0">
                <a:solidFill>
                  <a:srgbClr val="7030A0"/>
                </a:solidFill>
              </a:rPr>
              <a:t># 최적 모델</a:t>
            </a:r>
          </a:p>
          <a:p>
            <a:r>
              <a:rPr lang="en-US" altLang="ko-KR" sz="1400" dirty="0"/>
              <a:t>Print(“</a:t>
            </a:r>
            <a:r>
              <a:rPr lang="ko-KR" altLang="en-US" sz="1400" dirty="0"/>
              <a:t>최적 모델</a:t>
            </a:r>
            <a:r>
              <a:rPr lang="en-US" altLang="ko-KR" sz="1400" dirty="0"/>
              <a:t>:”,</a:t>
            </a:r>
            <a:r>
              <a:rPr lang="ko-KR" altLang="en-US" sz="1400" dirty="0" err="1"/>
              <a:t>grid.best_estimator</a:t>
            </a:r>
            <a:r>
              <a:rPr lang="ko-KR" altLang="en-US" sz="1400" dirty="0"/>
              <a:t>_</a:t>
            </a:r>
            <a:r>
              <a:rPr lang="en-US" altLang="ko-KR" sz="1400" dirty="0"/>
              <a:t>_)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872503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628E5E-F254-624C-82C9-D9549AC16437}"/>
              </a:ext>
            </a:extLst>
          </p:cNvPr>
          <p:cNvSpPr txBox="1"/>
          <p:nvPr/>
        </p:nvSpPr>
        <p:spPr>
          <a:xfrm>
            <a:off x="556591" y="2274838"/>
            <a:ext cx="11224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sklearn.model_selection</a:t>
            </a:r>
            <a:r>
              <a:rPr lang="ko-KR" altLang="en-US" dirty="0"/>
              <a:t> </a:t>
            </a:r>
            <a:r>
              <a:rPr lang="ko-KR" altLang="en-US" b="1" dirty="0" err="1">
                <a:solidFill>
                  <a:srgbClr val="7030A0"/>
                </a:solidFill>
              </a:rPr>
              <a:t>import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ko-KR" altLang="en-US" dirty="0" err="1"/>
              <a:t>StratifiedKFold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 err="1"/>
              <a:t>skf</a:t>
            </a:r>
            <a:r>
              <a:rPr lang="ko-KR" altLang="en-US" dirty="0"/>
              <a:t> = </a:t>
            </a:r>
            <a:r>
              <a:rPr lang="ko-KR" altLang="en-US" dirty="0" err="1"/>
              <a:t>StratifiedKFold</a:t>
            </a:r>
            <a:r>
              <a:rPr lang="ko-KR" altLang="en-US" dirty="0"/>
              <a:t>(</a:t>
            </a:r>
            <a:r>
              <a:rPr lang="ko-KR" altLang="en-US" dirty="0" err="1"/>
              <a:t>n_splits</a:t>
            </a:r>
            <a:r>
              <a:rPr lang="ko-KR" altLang="en-US" dirty="0"/>
              <a:t>=5, </a:t>
            </a:r>
            <a:r>
              <a:rPr lang="ko-KR" altLang="en-US" dirty="0" err="1"/>
              <a:t>shuffle</a:t>
            </a:r>
            <a:r>
              <a:rPr lang="ko-KR" altLang="en-US" dirty="0"/>
              <a:t>=</a:t>
            </a:r>
            <a:r>
              <a:rPr lang="ko-KR" altLang="en-US" dirty="0" err="1"/>
              <a:t>True</a:t>
            </a:r>
            <a:r>
              <a:rPr lang="ko-KR" altLang="en-US" dirty="0"/>
              <a:t>, </a:t>
            </a:r>
            <a:r>
              <a:rPr lang="ko-KR" altLang="en-US" dirty="0" err="1"/>
              <a:t>random_state</a:t>
            </a:r>
            <a:r>
              <a:rPr lang="ko-KR" altLang="en-US" dirty="0"/>
              <a:t>=42)</a:t>
            </a:r>
          </a:p>
          <a:p>
            <a:endParaRPr lang="ko-KR" altLang="en-US" dirty="0"/>
          </a:p>
          <a:p>
            <a:r>
              <a:rPr lang="ko-KR" altLang="en-US" dirty="0" err="1"/>
              <a:t>grid</a:t>
            </a:r>
            <a:r>
              <a:rPr lang="ko-KR" altLang="en-US" dirty="0"/>
              <a:t> = </a:t>
            </a:r>
            <a:r>
              <a:rPr lang="ko-KR" altLang="en-US" dirty="0" err="1"/>
              <a:t>GridSearchCV</a:t>
            </a:r>
            <a:r>
              <a:rPr lang="ko-KR" altLang="en-US" dirty="0"/>
              <a:t>(</a:t>
            </a:r>
            <a:r>
              <a:rPr lang="ko-KR" altLang="en-US" dirty="0" err="1"/>
              <a:t>estimator</a:t>
            </a:r>
            <a:r>
              <a:rPr lang="ko-KR" altLang="en-US" dirty="0"/>
              <a:t>=</a:t>
            </a:r>
            <a:r>
              <a:rPr lang="ko-KR" altLang="en-US" dirty="0" err="1"/>
              <a:t>model</a:t>
            </a:r>
            <a:r>
              <a:rPr lang="ko-KR" altLang="en-US" dirty="0"/>
              <a:t>, </a:t>
            </a:r>
            <a:r>
              <a:rPr lang="ko-KR" altLang="en-US" dirty="0" err="1"/>
              <a:t>param_grid</a:t>
            </a:r>
            <a:r>
              <a:rPr lang="ko-KR" altLang="en-US" dirty="0"/>
              <a:t>=</a:t>
            </a:r>
            <a:r>
              <a:rPr lang="ko-KR" altLang="en-US" dirty="0" err="1"/>
              <a:t>param_grid</a:t>
            </a:r>
            <a:r>
              <a:rPr lang="ko-KR" altLang="en-US" dirty="0"/>
              <a:t>, </a:t>
            </a:r>
            <a:r>
              <a:rPr lang="ko-KR" altLang="en-US" dirty="0" err="1"/>
              <a:t>cv</a:t>
            </a:r>
            <a:r>
              <a:rPr lang="ko-KR" altLang="en-US" dirty="0"/>
              <a:t>=</a:t>
            </a:r>
            <a:r>
              <a:rPr lang="ko-KR" altLang="en-US" dirty="0" err="1"/>
              <a:t>skf</a:t>
            </a:r>
            <a:r>
              <a:rPr lang="ko-KR" altLang="en-US" dirty="0"/>
              <a:t>, </a:t>
            </a:r>
            <a:r>
              <a:rPr lang="ko-KR" altLang="en-US" dirty="0" err="1"/>
              <a:t>scoring</a:t>
            </a:r>
            <a:r>
              <a:rPr lang="ko-KR" altLang="en-US" dirty="0"/>
              <a:t>='</a:t>
            </a:r>
            <a:r>
              <a:rPr lang="ko-KR" altLang="en-US" dirty="0" err="1"/>
              <a:t>accuracy</a:t>
            </a:r>
            <a:r>
              <a:rPr lang="ko-KR" altLang="en-US" dirty="0"/>
              <a:t>')</a:t>
            </a:r>
          </a:p>
          <a:p>
            <a:r>
              <a:rPr lang="ko-KR" altLang="en-US" dirty="0" err="1"/>
              <a:t>grid.fit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222805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Pipeline</a:t>
            </a:r>
            <a:endParaRPr kumimoji="1" lang="ko-KR" altLang="en-US" sz="5400" b="1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19DFA-F67D-9740-9DD8-45E2EA9F4AC0}"/>
              </a:ext>
            </a:extLst>
          </p:cNvPr>
          <p:cNvSpPr txBox="1"/>
          <p:nvPr/>
        </p:nvSpPr>
        <p:spPr>
          <a:xfrm>
            <a:off x="533399" y="1595520"/>
            <a:ext cx="11414762" cy="332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데이터 처리부터 모델 배포까지 전체 워크플로우를 자동화하고 표준화하는 도구입니다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dirty="0">
                <a:latin typeface="+mn-ea"/>
              </a:rPr>
              <a:t>데이터 전처리 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dirty="0">
                <a:latin typeface="+mn-ea"/>
              </a:rPr>
              <a:t>특성 엔지니어링 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dirty="0">
                <a:latin typeface="+mn-ea"/>
              </a:rPr>
              <a:t>모델 선택 및 학습 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dirty="0">
                <a:latin typeface="+mn-ea"/>
              </a:rPr>
              <a:t>모델 평가 </a:t>
            </a:r>
            <a:endParaRPr lang="en-US" altLang="ko-KR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ko-KR" altLang="en-US" dirty="0">
                <a:latin typeface="+mn-ea"/>
              </a:rPr>
              <a:t>모델 배포  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691491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AEC3D2-D842-6D49-9523-CB8EF0655A9D}"/>
              </a:ext>
            </a:extLst>
          </p:cNvPr>
          <p:cNvSpPr txBox="1"/>
          <p:nvPr/>
        </p:nvSpPr>
        <p:spPr>
          <a:xfrm>
            <a:off x="1391478" y="1400123"/>
            <a:ext cx="976685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sklearn.pipeline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rgbClr val="7030A0"/>
                </a:solidFill>
              </a:rPr>
              <a:t>import</a:t>
            </a:r>
            <a:r>
              <a:rPr lang="ko-KR" altLang="en-US" dirty="0"/>
              <a:t> Pipeline</a:t>
            </a:r>
          </a:p>
          <a:p>
            <a:r>
              <a:rPr lang="ko-KR" altLang="en-US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sklearn.preprocessing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 err="1">
                <a:solidFill>
                  <a:srgbClr val="7030A0"/>
                </a:solidFill>
              </a:rPr>
              <a:t>import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 err="1"/>
              <a:t>StandardScaler</a:t>
            </a:r>
            <a:endParaRPr lang="ko-KR" altLang="en-US" dirty="0"/>
          </a:p>
          <a:p>
            <a:r>
              <a:rPr lang="ko-KR" altLang="en-US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sklearn.ensemble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 err="1">
                <a:solidFill>
                  <a:srgbClr val="7030A0"/>
                </a:solidFill>
              </a:rPr>
              <a:t>import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 err="1"/>
              <a:t>RandomForestClassifier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>
                <a:solidFill>
                  <a:srgbClr val="7030A0"/>
                </a:solidFill>
              </a:rPr>
              <a:t># 파이프라인 정의</a:t>
            </a:r>
          </a:p>
          <a:p>
            <a:r>
              <a:rPr lang="ko-KR" altLang="en-US" dirty="0" err="1"/>
              <a:t>pipe</a:t>
            </a:r>
            <a:r>
              <a:rPr lang="ko-KR" altLang="en-US" dirty="0"/>
              <a:t> = Pipeline([</a:t>
            </a:r>
          </a:p>
          <a:p>
            <a:r>
              <a:rPr lang="ko-KR" altLang="en-US" dirty="0"/>
              <a:t>    ('</a:t>
            </a:r>
            <a:r>
              <a:rPr lang="ko-KR" altLang="en-US" dirty="0" err="1"/>
              <a:t>scaler</a:t>
            </a:r>
            <a:r>
              <a:rPr lang="ko-KR" altLang="en-US" dirty="0"/>
              <a:t>', </a:t>
            </a:r>
            <a:r>
              <a:rPr lang="ko-KR" altLang="en-US" dirty="0" err="1"/>
              <a:t>StandardScaler</a:t>
            </a:r>
            <a:r>
              <a:rPr lang="ko-KR" altLang="en-US" dirty="0"/>
              <a:t>()),</a:t>
            </a:r>
          </a:p>
          <a:p>
            <a:r>
              <a:rPr lang="ko-KR" altLang="en-US" dirty="0"/>
              <a:t>    ('</a:t>
            </a:r>
            <a:r>
              <a:rPr lang="ko-KR" altLang="en-US" dirty="0" err="1"/>
              <a:t>clf</a:t>
            </a:r>
            <a:r>
              <a:rPr lang="ko-KR" altLang="en-US" dirty="0"/>
              <a:t>', </a:t>
            </a:r>
            <a:r>
              <a:rPr lang="ko-KR" altLang="en-US" dirty="0" err="1"/>
              <a:t>RandomForestClassifier</a:t>
            </a:r>
            <a:r>
              <a:rPr lang="ko-KR" altLang="en-US" dirty="0"/>
              <a:t>())</a:t>
            </a:r>
          </a:p>
          <a:p>
            <a:r>
              <a:rPr lang="ko-KR" altLang="en-US" dirty="0"/>
              <a:t>])</a:t>
            </a:r>
          </a:p>
          <a:p>
            <a:endParaRPr lang="ko-KR" altLang="en-US" dirty="0"/>
          </a:p>
          <a:p>
            <a:r>
              <a:rPr lang="ko-KR" altLang="en-US" dirty="0">
                <a:solidFill>
                  <a:srgbClr val="7030A0"/>
                </a:solidFill>
              </a:rPr>
              <a:t># </a:t>
            </a:r>
            <a:r>
              <a:rPr lang="ko-KR" altLang="en-US" dirty="0" err="1">
                <a:solidFill>
                  <a:srgbClr val="7030A0"/>
                </a:solidFill>
              </a:rPr>
              <a:t>fit</a:t>
            </a:r>
            <a:r>
              <a:rPr lang="ko-KR" altLang="en-US" dirty="0">
                <a:solidFill>
                  <a:srgbClr val="7030A0"/>
                </a:solidFill>
              </a:rPr>
              <a:t> + </a:t>
            </a:r>
            <a:r>
              <a:rPr lang="ko-KR" altLang="en-US" dirty="0" err="1">
                <a:solidFill>
                  <a:srgbClr val="7030A0"/>
                </a:solidFill>
              </a:rPr>
              <a:t>predict</a:t>
            </a:r>
            <a:endParaRPr lang="ko-KR" altLang="en-US" dirty="0">
              <a:solidFill>
                <a:srgbClr val="7030A0"/>
              </a:solidFill>
            </a:endParaRPr>
          </a:p>
          <a:p>
            <a:r>
              <a:rPr lang="ko-KR" altLang="en-US" dirty="0" err="1"/>
              <a:t>pipe.fit</a:t>
            </a:r>
            <a:r>
              <a:rPr lang="ko-KR" altLang="en-US" dirty="0"/>
              <a:t>(</a:t>
            </a:r>
            <a:r>
              <a:rPr lang="ko-KR" altLang="en-US" dirty="0" err="1"/>
              <a:t>X_train</a:t>
            </a:r>
            <a:r>
              <a:rPr lang="ko-KR" altLang="en-US" dirty="0"/>
              <a:t>, </a:t>
            </a:r>
            <a:r>
              <a:rPr lang="ko-KR" altLang="en-US" dirty="0" err="1"/>
              <a:t>y_train</a:t>
            </a:r>
            <a:r>
              <a:rPr lang="ko-KR" altLang="en-US" dirty="0"/>
              <a:t>)</a:t>
            </a:r>
          </a:p>
          <a:p>
            <a:r>
              <a:rPr lang="ko-KR" altLang="en-US" dirty="0" err="1"/>
              <a:t>y_pred</a:t>
            </a:r>
            <a:r>
              <a:rPr lang="ko-KR" altLang="en-US" dirty="0"/>
              <a:t> = </a:t>
            </a:r>
            <a:r>
              <a:rPr lang="ko-KR" altLang="en-US" dirty="0" err="1"/>
              <a:t>pipe.predict</a:t>
            </a:r>
            <a:r>
              <a:rPr lang="ko-KR" altLang="en-US" dirty="0"/>
              <a:t>(</a:t>
            </a:r>
            <a:r>
              <a:rPr lang="ko-KR" altLang="en-US" dirty="0" err="1"/>
              <a:t>X_test</a:t>
            </a:r>
            <a:r>
              <a:rPr lang="ko-KR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831551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F31B38-3CD6-7E40-896E-E078F3DE01D1}"/>
              </a:ext>
            </a:extLst>
          </p:cNvPr>
          <p:cNvSpPr txBox="1"/>
          <p:nvPr/>
        </p:nvSpPr>
        <p:spPr>
          <a:xfrm>
            <a:off x="1563757" y="616158"/>
            <a:ext cx="914399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sklearn.model_selection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rgbClr val="7030A0"/>
                </a:solidFill>
              </a:rPr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GridSearchCV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>
                <a:solidFill>
                  <a:srgbClr val="7030A0"/>
                </a:solidFill>
              </a:rPr>
              <a:t># 파이프라인 정의</a:t>
            </a:r>
          </a:p>
          <a:p>
            <a:r>
              <a:rPr lang="ko-KR" altLang="en-US" dirty="0" err="1"/>
              <a:t>pipe</a:t>
            </a:r>
            <a:r>
              <a:rPr lang="ko-KR" altLang="en-US" dirty="0"/>
              <a:t> = Pipeline([</a:t>
            </a:r>
          </a:p>
          <a:p>
            <a:r>
              <a:rPr lang="ko-KR" altLang="en-US" dirty="0"/>
              <a:t>    ('</a:t>
            </a:r>
            <a:r>
              <a:rPr lang="ko-KR" altLang="en-US" dirty="0" err="1"/>
              <a:t>scaler</a:t>
            </a:r>
            <a:r>
              <a:rPr lang="ko-KR" altLang="en-US" dirty="0"/>
              <a:t>', </a:t>
            </a:r>
            <a:r>
              <a:rPr lang="ko-KR" altLang="en-US" dirty="0" err="1"/>
              <a:t>StandardScaler</a:t>
            </a:r>
            <a:r>
              <a:rPr lang="ko-KR" altLang="en-US" dirty="0"/>
              <a:t>()),</a:t>
            </a:r>
          </a:p>
          <a:p>
            <a:r>
              <a:rPr lang="ko-KR" altLang="en-US" dirty="0"/>
              <a:t>    ('</a:t>
            </a:r>
            <a:r>
              <a:rPr lang="ko-KR" altLang="en-US" dirty="0" err="1"/>
              <a:t>clf</a:t>
            </a:r>
            <a:r>
              <a:rPr lang="ko-KR" altLang="en-US" dirty="0"/>
              <a:t>', </a:t>
            </a:r>
            <a:r>
              <a:rPr lang="ko-KR" altLang="en-US" dirty="0" err="1"/>
              <a:t>RandomForestClassifier</a:t>
            </a:r>
            <a:r>
              <a:rPr lang="ko-KR" altLang="en-US" dirty="0"/>
              <a:t>())</a:t>
            </a:r>
          </a:p>
          <a:p>
            <a:r>
              <a:rPr lang="ko-KR" altLang="en-US" dirty="0"/>
              <a:t>])</a:t>
            </a:r>
          </a:p>
          <a:p>
            <a:endParaRPr lang="ko-KR" altLang="en-US" dirty="0">
              <a:solidFill>
                <a:srgbClr val="7030A0"/>
              </a:solidFill>
            </a:endParaRPr>
          </a:p>
          <a:p>
            <a:r>
              <a:rPr lang="ko-KR" altLang="en-US" dirty="0">
                <a:solidFill>
                  <a:srgbClr val="7030A0"/>
                </a:solidFill>
              </a:rPr>
              <a:t># </a:t>
            </a:r>
            <a:r>
              <a:rPr lang="ko-KR" altLang="en-US" dirty="0" err="1">
                <a:solidFill>
                  <a:srgbClr val="7030A0"/>
                </a:solidFill>
              </a:rPr>
              <a:t>하이퍼파라미터</a:t>
            </a:r>
            <a:r>
              <a:rPr lang="ko-KR" altLang="en-US" dirty="0">
                <a:solidFill>
                  <a:srgbClr val="7030A0"/>
                </a:solidFill>
              </a:rPr>
              <a:t> 그리드 (</a:t>
            </a:r>
            <a:r>
              <a:rPr lang="ko-KR" altLang="en-US" dirty="0" err="1">
                <a:solidFill>
                  <a:srgbClr val="7030A0"/>
                </a:solidFill>
              </a:rPr>
              <a:t>단계명</a:t>
            </a:r>
            <a:r>
              <a:rPr lang="ko-KR" altLang="en-US" dirty="0">
                <a:solidFill>
                  <a:srgbClr val="7030A0"/>
                </a:solidFill>
              </a:rPr>
              <a:t>__</a:t>
            </a:r>
            <a:r>
              <a:rPr lang="ko-KR" altLang="en-US" dirty="0" err="1">
                <a:solidFill>
                  <a:srgbClr val="7030A0"/>
                </a:solidFill>
              </a:rPr>
              <a:t>파라미터명</a:t>
            </a:r>
            <a:r>
              <a:rPr lang="ko-KR" altLang="en-US" dirty="0">
                <a:solidFill>
                  <a:srgbClr val="7030A0"/>
                </a:solidFill>
              </a:rPr>
              <a:t>)</a:t>
            </a:r>
          </a:p>
          <a:p>
            <a:r>
              <a:rPr lang="ko-KR" altLang="en-US" dirty="0" err="1"/>
              <a:t>param_grid</a:t>
            </a:r>
            <a:r>
              <a:rPr lang="ko-KR" altLang="en-US" dirty="0"/>
              <a:t> = {</a:t>
            </a:r>
          </a:p>
          <a:p>
            <a:r>
              <a:rPr lang="ko-KR" altLang="en-US" dirty="0"/>
              <a:t>    '</a:t>
            </a:r>
            <a:r>
              <a:rPr lang="ko-KR" altLang="en-US" dirty="0" err="1"/>
              <a:t>clf</a:t>
            </a:r>
            <a:r>
              <a:rPr lang="ko-KR" altLang="en-US" dirty="0"/>
              <a:t>__</a:t>
            </a:r>
            <a:r>
              <a:rPr lang="ko-KR" altLang="en-US" dirty="0" err="1"/>
              <a:t>n_estimators</a:t>
            </a:r>
            <a:r>
              <a:rPr lang="ko-KR" altLang="en-US" dirty="0"/>
              <a:t>': [50, 100],</a:t>
            </a:r>
          </a:p>
          <a:p>
            <a:r>
              <a:rPr lang="ko-KR" altLang="en-US" dirty="0"/>
              <a:t>    '</a:t>
            </a:r>
            <a:r>
              <a:rPr lang="ko-KR" altLang="en-US" dirty="0" err="1"/>
              <a:t>clf</a:t>
            </a:r>
            <a:r>
              <a:rPr lang="ko-KR" altLang="en-US" dirty="0"/>
              <a:t>__</a:t>
            </a:r>
            <a:r>
              <a:rPr lang="ko-KR" altLang="en-US" dirty="0" err="1"/>
              <a:t>max_depth</a:t>
            </a:r>
            <a:r>
              <a:rPr lang="ko-KR" altLang="en-US" dirty="0"/>
              <a:t>': [3, 5, 10]</a:t>
            </a:r>
          </a:p>
          <a:p>
            <a:r>
              <a:rPr lang="ko-KR" altLang="en-US" dirty="0"/>
              <a:t>}</a:t>
            </a:r>
          </a:p>
          <a:p>
            <a:endParaRPr lang="ko-KR" altLang="en-US" dirty="0"/>
          </a:p>
          <a:p>
            <a:r>
              <a:rPr lang="ko-KR" altLang="en-US" dirty="0">
                <a:solidFill>
                  <a:srgbClr val="7030A0"/>
                </a:solidFill>
              </a:rPr>
              <a:t># </a:t>
            </a:r>
            <a:r>
              <a:rPr lang="ko-KR" altLang="en-US" dirty="0" err="1">
                <a:solidFill>
                  <a:srgbClr val="7030A0"/>
                </a:solidFill>
              </a:rPr>
              <a:t>GridSearchCV</a:t>
            </a:r>
            <a:endParaRPr lang="ko-KR" altLang="en-US" dirty="0">
              <a:solidFill>
                <a:srgbClr val="7030A0"/>
              </a:solidFill>
            </a:endParaRPr>
          </a:p>
          <a:p>
            <a:r>
              <a:rPr lang="ko-KR" altLang="en-US" dirty="0" err="1"/>
              <a:t>grid</a:t>
            </a:r>
            <a:r>
              <a:rPr lang="ko-KR" altLang="en-US" dirty="0"/>
              <a:t> = </a:t>
            </a:r>
            <a:r>
              <a:rPr lang="ko-KR" altLang="en-US" dirty="0" err="1"/>
              <a:t>GridSearchCV</a:t>
            </a:r>
            <a:r>
              <a:rPr lang="ko-KR" altLang="en-US" dirty="0"/>
              <a:t>(</a:t>
            </a:r>
            <a:r>
              <a:rPr lang="ko-KR" altLang="en-US" dirty="0" err="1"/>
              <a:t>pipe</a:t>
            </a:r>
            <a:r>
              <a:rPr lang="ko-KR" altLang="en-US" dirty="0"/>
              <a:t>, </a:t>
            </a:r>
            <a:r>
              <a:rPr lang="ko-KR" altLang="en-US" dirty="0" err="1"/>
              <a:t>param_grid</a:t>
            </a:r>
            <a:r>
              <a:rPr lang="ko-KR" altLang="en-US" dirty="0"/>
              <a:t>=</a:t>
            </a:r>
            <a:r>
              <a:rPr lang="ko-KR" altLang="en-US" dirty="0" err="1"/>
              <a:t>param_grid</a:t>
            </a:r>
            <a:r>
              <a:rPr lang="ko-KR" altLang="en-US" dirty="0"/>
              <a:t>, </a:t>
            </a:r>
            <a:r>
              <a:rPr lang="ko-KR" altLang="en-US" dirty="0" err="1"/>
              <a:t>cv</a:t>
            </a:r>
            <a:r>
              <a:rPr lang="ko-KR" altLang="en-US" dirty="0"/>
              <a:t>=5, </a:t>
            </a:r>
            <a:r>
              <a:rPr lang="ko-KR" altLang="en-US" dirty="0" err="1"/>
              <a:t>scoring</a:t>
            </a:r>
            <a:r>
              <a:rPr lang="ko-KR" altLang="en-US" dirty="0"/>
              <a:t>='</a:t>
            </a:r>
            <a:r>
              <a:rPr lang="ko-KR" altLang="en-US" dirty="0" err="1"/>
              <a:t>accuracy</a:t>
            </a:r>
            <a:r>
              <a:rPr lang="ko-KR" altLang="en-US" dirty="0"/>
              <a:t>')</a:t>
            </a:r>
          </a:p>
          <a:p>
            <a:r>
              <a:rPr lang="ko-KR" altLang="en-US" dirty="0" err="1"/>
              <a:t>grid.fit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)</a:t>
            </a:r>
          </a:p>
          <a:p>
            <a:endParaRPr lang="ko-KR" altLang="en-US" dirty="0"/>
          </a:p>
          <a:p>
            <a:r>
              <a:rPr lang="ko-KR" altLang="en-US" dirty="0" err="1"/>
              <a:t>print</a:t>
            </a:r>
            <a:r>
              <a:rPr lang="ko-KR" altLang="en-US" dirty="0"/>
              <a:t>("최적 </a:t>
            </a:r>
            <a:r>
              <a:rPr lang="ko-KR" altLang="en-US" dirty="0" err="1"/>
              <a:t>파라미터</a:t>
            </a:r>
            <a:r>
              <a:rPr lang="ko-KR" altLang="en-US" dirty="0"/>
              <a:t>:", </a:t>
            </a:r>
            <a:r>
              <a:rPr lang="ko-KR" altLang="en-US" dirty="0" err="1"/>
              <a:t>grid.best_params</a:t>
            </a:r>
            <a:r>
              <a:rPr lang="ko-KR" altLang="en-US" dirty="0"/>
              <a:t>_)</a:t>
            </a:r>
          </a:p>
        </p:txBody>
      </p:sp>
    </p:spTree>
    <p:extLst>
      <p:ext uri="{BB962C8B-B14F-4D97-AF65-F5344CB8AC3E}">
        <p14:creationId xmlns:p14="http://schemas.microsoft.com/office/powerpoint/2010/main" val="174841072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9EA94-6648-2548-BA5C-9CDD7B77CE18}"/>
              </a:ext>
            </a:extLst>
          </p:cNvPr>
          <p:cNvSpPr txBox="1"/>
          <p:nvPr/>
        </p:nvSpPr>
        <p:spPr>
          <a:xfrm>
            <a:off x="1444487" y="793116"/>
            <a:ext cx="89982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sklearn.svm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 err="1">
                <a:solidFill>
                  <a:srgbClr val="7030A0"/>
                </a:solidFill>
              </a:rPr>
              <a:t>import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/>
              <a:t>SVC</a:t>
            </a:r>
          </a:p>
          <a:p>
            <a:r>
              <a:rPr lang="ko-KR" altLang="en-US" dirty="0" err="1">
                <a:solidFill>
                  <a:srgbClr val="7030A0"/>
                </a:solidFill>
              </a:rPr>
              <a:t>from</a:t>
            </a:r>
            <a:r>
              <a:rPr lang="ko-KR" altLang="en-US" dirty="0"/>
              <a:t> </a:t>
            </a:r>
            <a:r>
              <a:rPr lang="ko-KR" altLang="en-US" dirty="0" err="1"/>
              <a:t>sklearn.preprocessing</a:t>
            </a:r>
            <a:r>
              <a:rPr lang="ko-KR" altLang="en-US" dirty="0"/>
              <a:t> </a:t>
            </a:r>
            <a:r>
              <a:rPr lang="ko-KR" altLang="en-US" dirty="0" err="1">
                <a:solidFill>
                  <a:srgbClr val="7030A0"/>
                </a:solidFill>
              </a:rPr>
              <a:t>import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 err="1"/>
              <a:t>MinMaxScaler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 err="1"/>
              <a:t>pipe</a:t>
            </a:r>
            <a:r>
              <a:rPr lang="ko-KR" altLang="en-US" dirty="0"/>
              <a:t> = Pipeline([</a:t>
            </a:r>
          </a:p>
          <a:p>
            <a:r>
              <a:rPr lang="ko-KR" altLang="en-US" dirty="0"/>
              <a:t>    ('</a:t>
            </a:r>
            <a:r>
              <a:rPr lang="ko-KR" altLang="en-US" dirty="0" err="1"/>
              <a:t>scaler</a:t>
            </a:r>
            <a:r>
              <a:rPr lang="ko-KR" altLang="en-US" dirty="0"/>
              <a:t>', </a:t>
            </a:r>
            <a:r>
              <a:rPr lang="ko-KR" altLang="en-US" dirty="0" err="1"/>
              <a:t>MinMaxScaler</a:t>
            </a:r>
            <a:r>
              <a:rPr lang="ko-KR" altLang="en-US" dirty="0"/>
              <a:t>()),</a:t>
            </a:r>
          </a:p>
          <a:p>
            <a:r>
              <a:rPr lang="ko-KR" altLang="en-US" dirty="0"/>
              <a:t>    ('</a:t>
            </a:r>
            <a:r>
              <a:rPr lang="ko-KR" altLang="en-US" dirty="0" err="1"/>
              <a:t>svc</a:t>
            </a:r>
            <a:r>
              <a:rPr lang="ko-KR" altLang="en-US" dirty="0"/>
              <a:t>', SVC())</a:t>
            </a:r>
          </a:p>
          <a:p>
            <a:r>
              <a:rPr lang="ko-KR" altLang="en-US" dirty="0"/>
              <a:t>])</a:t>
            </a:r>
          </a:p>
          <a:p>
            <a:endParaRPr lang="ko-KR" altLang="en-US" dirty="0"/>
          </a:p>
          <a:p>
            <a:r>
              <a:rPr lang="ko-KR" altLang="en-US" dirty="0" err="1"/>
              <a:t>param_grid</a:t>
            </a:r>
            <a:r>
              <a:rPr lang="ko-KR" altLang="en-US" dirty="0"/>
              <a:t> = {</a:t>
            </a:r>
          </a:p>
          <a:p>
            <a:r>
              <a:rPr lang="ko-KR" altLang="en-US" dirty="0"/>
              <a:t>    '</a:t>
            </a:r>
            <a:r>
              <a:rPr lang="ko-KR" altLang="en-US" dirty="0" err="1"/>
              <a:t>svc</a:t>
            </a:r>
            <a:r>
              <a:rPr lang="ko-KR" altLang="en-US" dirty="0"/>
              <a:t>__C': [0.1, 1, 10],</a:t>
            </a:r>
          </a:p>
          <a:p>
            <a:r>
              <a:rPr lang="ko-KR" altLang="en-US" dirty="0"/>
              <a:t>    '</a:t>
            </a:r>
            <a:r>
              <a:rPr lang="ko-KR" altLang="en-US" dirty="0" err="1"/>
              <a:t>svc</a:t>
            </a:r>
            <a:r>
              <a:rPr lang="ko-KR" altLang="en-US" dirty="0"/>
              <a:t>__</a:t>
            </a:r>
            <a:r>
              <a:rPr lang="ko-KR" altLang="en-US" dirty="0" err="1"/>
              <a:t>kernel</a:t>
            </a:r>
            <a:r>
              <a:rPr lang="ko-KR" altLang="en-US" dirty="0"/>
              <a:t>': ['</a:t>
            </a:r>
            <a:r>
              <a:rPr lang="ko-KR" altLang="en-US" dirty="0" err="1"/>
              <a:t>linear</a:t>
            </a:r>
            <a:r>
              <a:rPr lang="ko-KR" altLang="en-US" dirty="0"/>
              <a:t>', '</a:t>
            </a:r>
            <a:r>
              <a:rPr lang="ko-KR" altLang="en-US" dirty="0" err="1"/>
              <a:t>rbf</a:t>
            </a:r>
            <a:r>
              <a:rPr lang="ko-KR" altLang="en-US" dirty="0"/>
              <a:t>']</a:t>
            </a:r>
          </a:p>
          <a:p>
            <a:r>
              <a:rPr lang="ko-KR" altLang="en-US" dirty="0"/>
              <a:t>}</a:t>
            </a:r>
          </a:p>
          <a:p>
            <a:endParaRPr lang="ko-KR" altLang="en-US" dirty="0"/>
          </a:p>
          <a:p>
            <a:r>
              <a:rPr lang="ko-KR" altLang="en-US" dirty="0" err="1"/>
              <a:t>grid</a:t>
            </a:r>
            <a:r>
              <a:rPr lang="ko-KR" altLang="en-US" dirty="0"/>
              <a:t> = </a:t>
            </a:r>
            <a:r>
              <a:rPr lang="ko-KR" altLang="en-US" dirty="0" err="1"/>
              <a:t>GridSearchCV</a:t>
            </a:r>
            <a:r>
              <a:rPr lang="ko-KR" altLang="en-US" dirty="0"/>
              <a:t>(</a:t>
            </a:r>
            <a:r>
              <a:rPr lang="ko-KR" altLang="en-US" dirty="0" err="1"/>
              <a:t>pipe</a:t>
            </a:r>
            <a:r>
              <a:rPr lang="ko-KR" altLang="en-US" dirty="0"/>
              <a:t>, </a:t>
            </a:r>
            <a:r>
              <a:rPr lang="ko-KR" altLang="en-US" dirty="0" err="1"/>
              <a:t>param_grid</a:t>
            </a:r>
            <a:r>
              <a:rPr lang="ko-KR" altLang="en-US" dirty="0"/>
              <a:t>, </a:t>
            </a:r>
            <a:r>
              <a:rPr lang="ko-KR" altLang="en-US" dirty="0" err="1"/>
              <a:t>cv</a:t>
            </a:r>
            <a:r>
              <a:rPr lang="ko-KR" altLang="en-US" dirty="0"/>
              <a:t>=5)</a:t>
            </a:r>
          </a:p>
          <a:p>
            <a:r>
              <a:rPr lang="ko-KR" altLang="en-US" dirty="0" err="1"/>
              <a:t>grid.fit</a:t>
            </a:r>
            <a:r>
              <a:rPr lang="ko-KR" altLang="en-US" dirty="0"/>
              <a:t>(</a:t>
            </a:r>
            <a:r>
              <a:rPr lang="ko-KR" altLang="en-US" dirty="0" err="1"/>
              <a:t>X</a:t>
            </a:r>
            <a:r>
              <a:rPr lang="ko-KR" altLang="en-US" dirty="0"/>
              <a:t>, </a:t>
            </a:r>
            <a:r>
              <a:rPr lang="ko-KR" altLang="en-US" dirty="0" err="1"/>
              <a:t>y</a:t>
            </a:r>
            <a:r>
              <a:rPr lang="ko-KR" altLang="en-US" dirty="0"/>
              <a:t>)</a:t>
            </a:r>
          </a:p>
          <a:p>
            <a:endParaRPr lang="ko-KR" altLang="en-US" dirty="0"/>
          </a:p>
          <a:p>
            <a:r>
              <a:rPr lang="ko-KR" altLang="en-US" dirty="0" err="1"/>
              <a:t>print</a:t>
            </a:r>
            <a:r>
              <a:rPr lang="ko-KR" altLang="en-US" dirty="0"/>
              <a:t>("최적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:", </a:t>
            </a:r>
            <a:r>
              <a:rPr lang="ko-KR" altLang="en-US" dirty="0" err="1"/>
              <a:t>grid.best_params</a:t>
            </a:r>
            <a:r>
              <a:rPr lang="ko-KR" altLang="en-US" dirty="0"/>
              <a:t>_)</a:t>
            </a:r>
          </a:p>
        </p:txBody>
      </p:sp>
    </p:spTree>
    <p:extLst>
      <p:ext uri="{BB962C8B-B14F-4D97-AF65-F5344CB8AC3E}">
        <p14:creationId xmlns:p14="http://schemas.microsoft.com/office/powerpoint/2010/main" val="47702948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0329" y="139771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4A715EC-41B4-CE48-BB0B-1BD7B46F5D17}"/>
              </a:ext>
            </a:extLst>
          </p:cNvPr>
          <p:cNvSpPr txBox="1">
            <a:spLocks/>
          </p:cNvSpPr>
          <p:nvPr/>
        </p:nvSpPr>
        <p:spPr>
          <a:xfrm>
            <a:off x="2787850" y="2444822"/>
            <a:ext cx="6205726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분석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프로젝트 만들기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(AI 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활용 포함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289147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399" y="157861"/>
            <a:ext cx="117513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sz="5400" b="1" dirty="0">
                <a:latin typeface="+mj-ea"/>
              </a:rPr>
              <a:t>Telco </a:t>
            </a:r>
            <a:r>
              <a:rPr kumimoji="1" lang="ko-KR" altLang="en-US" sz="5400" b="1" dirty="0">
                <a:latin typeface="+mj-ea"/>
              </a:rPr>
              <a:t>고객 이탈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438D1-29EC-9648-A18A-642872E7C8C1}"/>
              </a:ext>
            </a:extLst>
          </p:cNvPr>
          <p:cNvSpPr txBox="1"/>
          <p:nvPr/>
        </p:nvSpPr>
        <p:spPr>
          <a:xfrm>
            <a:off x="535369" y="1483424"/>
            <a:ext cx="10715727" cy="222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목적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고객 유지를 위한 행동을 예측하세요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[IBM </a:t>
            </a:r>
            <a:r>
              <a:rPr lang="ko-KR" altLang="en-US" b="1" dirty="0">
                <a:latin typeface="+mn-ea"/>
              </a:rPr>
              <a:t>샘플 데이터 세트</a:t>
            </a:r>
            <a:r>
              <a:rPr lang="en-US" altLang="ko-KR" b="1" dirty="0">
                <a:latin typeface="+mn-ea"/>
              </a:rPr>
              <a:t>]</a:t>
            </a: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출처 </a:t>
            </a:r>
            <a:r>
              <a:rPr lang="en-US" altLang="ko-KR" b="1" dirty="0">
                <a:latin typeface="+mn-ea"/>
              </a:rPr>
              <a:t>:</a:t>
            </a:r>
            <a:r>
              <a:rPr lang="ko-KR" altLang="en-US" b="1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캐글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(Kaggle)</a:t>
            </a:r>
            <a:r>
              <a:rPr lang="ko-KR" altLang="en-US" b="1" dirty="0">
                <a:latin typeface="+mn-ea"/>
              </a:rPr>
              <a:t> </a:t>
            </a:r>
            <a:endParaRPr lang="en-US" altLang="ko-KR" b="1" dirty="0">
              <a:latin typeface="+mn-ea"/>
            </a:endParaRPr>
          </a:p>
          <a:p>
            <a:pPr marL="742950" lvl="1" indent="-285750">
              <a:lnSpc>
                <a:spcPct val="200000"/>
              </a:lnSpc>
              <a:buFont typeface="시스템 서체 일반체"/>
              <a:buChar char="🤖"/>
            </a:pPr>
            <a:r>
              <a:rPr lang="en-US" altLang="ko-KR" b="1" dirty="0">
                <a:latin typeface="+mn-ea"/>
                <a:hlinkClick r:id="rId2"/>
              </a:rPr>
              <a:t>https://www.kaggle.com/datasets/blastchar/telco-customer-churn</a:t>
            </a:r>
            <a:endParaRPr lang="en-US" altLang="ko-KR" b="1" dirty="0">
              <a:latin typeface="+mn-ea"/>
            </a:endParaRP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b="1" dirty="0">
                <a:latin typeface="+mn-ea"/>
              </a:rPr>
              <a:t>활용할 도구 </a:t>
            </a:r>
            <a:r>
              <a:rPr lang="en-US" altLang="ko-KR" b="1" dirty="0">
                <a:latin typeface="+mn-ea"/>
              </a:rPr>
              <a:t>: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Pandas , Matplotlib, Seaborn,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Scikit-learn </a:t>
            </a:r>
          </a:p>
        </p:txBody>
      </p:sp>
    </p:spTree>
    <p:extLst>
      <p:ext uri="{BB962C8B-B14F-4D97-AF65-F5344CB8AC3E}">
        <p14:creationId xmlns:p14="http://schemas.microsoft.com/office/powerpoint/2010/main" val="163892884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A304E0-200C-AD40-B738-6ADC79B8A57C}"/>
              </a:ext>
            </a:extLst>
          </p:cNvPr>
          <p:cNvSpPr txBox="1"/>
          <p:nvPr/>
        </p:nvSpPr>
        <p:spPr>
          <a:xfrm>
            <a:off x="565320" y="776057"/>
            <a:ext cx="10877035" cy="5024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시스템 서체 일반체"/>
              <a:buChar char="👉"/>
            </a:pPr>
            <a:r>
              <a:rPr lang="en" altLang="ko-KR" b="1" dirty="0"/>
              <a:t>Customers who left within the last month – the column is called Churn</a:t>
            </a:r>
            <a:endParaRPr lang="en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지난달에 이탈한 고객 </a:t>
            </a:r>
            <a:r>
              <a:rPr lang="en-US" altLang="ko-KR" dirty="0"/>
              <a:t>– '</a:t>
            </a:r>
            <a:r>
              <a:rPr lang="ko-KR" altLang="en-US" dirty="0"/>
              <a:t>이탈</a:t>
            </a:r>
            <a:r>
              <a:rPr lang="en-US" altLang="ko-KR" dirty="0"/>
              <a:t>'</a:t>
            </a:r>
            <a:r>
              <a:rPr lang="ko-KR" altLang="en-US" dirty="0"/>
              <a:t>이라는 이름의 컬럼</a:t>
            </a:r>
          </a:p>
          <a:p>
            <a:pPr marL="285750" indent="-285750">
              <a:lnSpc>
                <a:spcPct val="150000"/>
              </a:lnSpc>
              <a:buFont typeface="시스템 서체 일반체"/>
              <a:buChar char="👉"/>
            </a:pPr>
            <a:r>
              <a:rPr lang="en" altLang="ko-KR" b="1" dirty="0"/>
              <a:t>Services that each customer has signed up for – phone, multiple lines, internet, online security, online backup, device protection, tech support, and streaming TV and movies</a:t>
            </a:r>
            <a:endParaRPr lang="en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각 고객이 가입한 서비스 </a:t>
            </a:r>
            <a:r>
              <a:rPr lang="en-US" altLang="ko-KR" dirty="0"/>
              <a:t>– </a:t>
            </a:r>
            <a:r>
              <a:rPr lang="ko-KR" altLang="en-US" dirty="0"/>
              <a:t>전화</a:t>
            </a:r>
            <a:r>
              <a:rPr lang="en-US" altLang="ko-KR" dirty="0"/>
              <a:t>, </a:t>
            </a:r>
            <a:r>
              <a:rPr lang="ko-KR" altLang="en-US" dirty="0"/>
              <a:t>다중 회선</a:t>
            </a:r>
            <a:r>
              <a:rPr lang="en-US" altLang="ko-KR" dirty="0"/>
              <a:t>, </a:t>
            </a:r>
            <a:r>
              <a:rPr lang="ko-KR" altLang="en-US" dirty="0"/>
              <a:t>인터넷</a:t>
            </a:r>
            <a:r>
              <a:rPr lang="en-US" altLang="ko-KR" dirty="0"/>
              <a:t>, </a:t>
            </a:r>
            <a:r>
              <a:rPr lang="ko-KR" altLang="en-US" dirty="0"/>
              <a:t>온라인 보안</a:t>
            </a:r>
            <a:r>
              <a:rPr lang="en-US" altLang="ko-KR" dirty="0"/>
              <a:t>, </a:t>
            </a:r>
            <a:r>
              <a:rPr lang="ko-KR" altLang="en-US" dirty="0"/>
              <a:t>온라인 백업</a:t>
            </a:r>
            <a:r>
              <a:rPr lang="en-US" altLang="ko-KR" dirty="0"/>
              <a:t>, </a:t>
            </a:r>
            <a:r>
              <a:rPr lang="ko-KR" altLang="en-US" dirty="0"/>
              <a:t>장치 보호</a:t>
            </a:r>
            <a:r>
              <a:rPr lang="en-US" altLang="ko-KR" dirty="0"/>
              <a:t>, </a:t>
            </a:r>
            <a:r>
              <a:rPr lang="ko-KR" altLang="en-US" dirty="0"/>
              <a:t>기술 지원</a:t>
            </a:r>
            <a:r>
              <a:rPr lang="en-US" altLang="ko-KR" dirty="0"/>
              <a:t>, </a:t>
            </a:r>
            <a:r>
              <a:rPr lang="ko-KR" altLang="en-US" dirty="0"/>
              <a:t>스트리밍 </a:t>
            </a:r>
            <a:r>
              <a:rPr lang="en" altLang="ko-KR" dirty="0"/>
              <a:t>TV </a:t>
            </a:r>
            <a:r>
              <a:rPr lang="ko-KR" altLang="en-US" dirty="0"/>
              <a:t>및 영화</a:t>
            </a:r>
          </a:p>
          <a:p>
            <a:pPr marL="285750" indent="-285750">
              <a:lnSpc>
                <a:spcPct val="150000"/>
              </a:lnSpc>
              <a:buFont typeface="시스템 서체 일반체"/>
              <a:buChar char="👉"/>
            </a:pPr>
            <a:r>
              <a:rPr lang="en" altLang="ko-KR" b="1" dirty="0"/>
              <a:t>Customer account information – how long they’ve been a customer, contract, payment method, paperless billing, monthly charges, and total charges</a:t>
            </a:r>
            <a:endParaRPr lang="en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고객 계정 정보 </a:t>
            </a:r>
            <a:r>
              <a:rPr lang="en-US" altLang="ko-KR" dirty="0"/>
              <a:t>– </a:t>
            </a:r>
            <a:r>
              <a:rPr lang="ko-KR" altLang="en-US" dirty="0"/>
              <a:t>고객 유지 기간</a:t>
            </a:r>
            <a:r>
              <a:rPr lang="en-US" altLang="ko-KR" dirty="0"/>
              <a:t>, </a:t>
            </a:r>
            <a:r>
              <a:rPr lang="ko-KR" altLang="en-US" dirty="0"/>
              <a:t>계약 유형</a:t>
            </a:r>
            <a:r>
              <a:rPr lang="en-US" altLang="ko-KR" dirty="0"/>
              <a:t>, </a:t>
            </a:r>
            <a:r>
              <a:rPr lang="ko-KR" altLang="en-US" dirty="0"/>
              <a:t>결제 방법</a:t>
            </a:r>
            <a:r>
              <a:rPr lang="en-US" altLang="ko-KR" dirty="0"/>
              <a:t>, </a:t>
            </a:r>
            <a:r>
              <a:rPr lang="ko-KR" altLang="en-US" dirty="0"/>
              <a:t>전자 청구서 사용 여부</a:t>
            </a:r>
            <a:r>
              <a:rPr lang="en-US" altLang="ko-KR" dirty="0"/>
              <a:t>, </a:t>
            </a:r>
            <a:r>
              <a:rPr lang="ko-KR" altLang="en-US" dirty="0"/>
              <a:t>월별 요금</a:t>
            </a:r>
            <a:r>
              <a:rPr lang="en-US" altLang="ko-KR" dirty="0"/>
              <a:t>, </a:t>
            </a:r>
            <a:r>
              <a:rPr lang="ko-KR" altLang="en-US" dirty="0"/>
              <a:t>총 요금</a:t>
            </a:r>
          </a:p>
          <a:p>
            <a:pPr marL="285750" indent="-285750">
              <a:lnSpc>
                <a:spcPct val="150000"/>
              </a:lnSpc>
              <a:buFont typeface="시스템 서체 일반체"/>
              <a:buChar char="👉"/>
            </a:pPr>
            <a:r>
              <a:rPr lang="en" altLang="ko-KR" b="1" dirty="0"/>
              <a:t>Demographic info about customers – gender, age range, and if they have partners and dependents</a:t>
            </a:r>
            <a:endParaRPr lang="en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고객 인구 통계 정보 </a:t>
            </a:r>
            <a:r>
              <a:rPr lang="en-US" altLang="ko-KR" dirty="0"/>
              <a:t>–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연령대</a:t>
            </a:r>
            <a:r>
              <a:rPr lang="en-US" altLang="ko-KR" dirty="0"/>
              <a:t>, </a:t>
            </a:r>
            <a:r>
              <a:rPr lang="ko-KR" altLang="en-US" dirty="0"/>
              <a:t>그리고 파트너 및 부양가족 유무</a:t>
            </a:r>
          </a:p>
        </p:txBody>
      </p:sp>
    </p:spTree>
    <p:extLst>
      <p:ext uri="{BB962C8B-B14F-4D97-AF65-F5344CB8AC3E}">
        <p14:creationId xmlns:p14="http://schemas.microsoft.com/office/powerpoint/2010/main" val="206105425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9BDE8-9795-1A42-BD8F-EC33AD133A13}"/>
              </a:ext>
            </a:extLst>
          </p:cNvPr>
          <p:cNvSpPr txBox="1"/>
          <p:nvPr/>
        </p:nvSpPr>
        <p:spPr>
          <a:xfrm>
            <a:off x="521041" y="541435"/>
            <a:ext cx="11414762" cy="4990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customerID</a:t>
            </a:r>
            <a:r>
              <a:rPr lang="en-US" altLang="ko-KR" dirty="0">
                <a:latin typeface="+mn-ea"/>
              </a:rPr>
              <a:t> :</a:t>
            </a:r>
            <a:r>
              <a:rPr lang="ko-KR" altLang="en-US" dirty="0">
                <a:latin typeface="+mn-ea"/>
              </a:rPr>
              <a:t>고객 </a:t>
            </a:r>
            <a:r>
              <a:rPr lang="en-US" altLang="ko-KR" dirty="0">
                <a:latin typeface="+mn-ea"/>
              </a:rPr>
              <a:t>ID 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gender : </a:t>
            </a:r>
            <a:r>
              <a:rPr lang="ko-KR" altLang="en-US" dirty="0">
                <a:latin typeface="+mn-ea"/>
              </a:rPr>
              <a:t>성별 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SeniorCitizen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고객이 노인지 여부 </a:t>
            </a:r>
            <a:r>
              <a:rPr lang="en-US" altLang="ko-KR" dirty="0">
                <a:latin typeface="+mn-ea"/>
              </a:rPr>
              <a:t>(1,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0)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Partner : </a:t>
            </a:r>
            <a:r>
              <a:rPr lang="ko-KR" altLang="en-US" dirty="0">
                <a:latin typeface="+mn-ea"/>
              </a:rPr>
              <a:t>고객이 파트너가 아닌지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Yes, No) 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Dependents : </a:t>
            </a:r>
            <a:r>
              <a:rPr lang="ko-KR" altLang="en-US" dirty="0">
                <a:latin typeface="+mn-ea"/>
              </a:rPr>
              <a:t>고객에게 부양가족이 있는지 여부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Yes, No)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Tenture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/>
              <a:t>고객이 회사와 함께한 개월 수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dirty="0"/>
              <a:t> </a:t>
            </a:r>
            <a:r>
              <a:rPr lang="en-US" altLang="ko-KR" dirty="0" err="1"/>
              <a:t>PhoneService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고객이 전화 서비스를 이용하는지 여부 </a:t>
            </a:r>
            <a:r>
              <a:rPr lang="en-US" altLang="ko-KR" dirty="0"/>
              <a:t>(Yes, No) 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/>
              <a:t> </a:t>
            </a:r>
            <a:r>
              <a:rPr lang="en-US" altLang="ko-KR" dirty="0" err="1"/>
              <a:t>MultipleLines</a:t>
            </a:r>
            <a:r>
              <a:rPr lang="en-US" altLang="ko-KR" dirty="0"/>
              <a:t> : </a:t>
            </a:r>
            <a:r>
              <a:rPr lang="ko-KR" altLang="en-US" dirty="0"/>
              <a:t>고객이 다중 회선을 사용하는지 여부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,</a:t>
            </a:r>
            <a:r>
              <a:rPr lang="ko-KR" altLang="en-US" dirty="0"/>
              <a:t> 아니오</a:t>
            </a:r>
            <a:r>
              <a:rPr lang="en-US" altLang="ko-KR" dirty="0"/>
              <a:t>,</a:t>
            </a:r>
            <a:r>
              <a:rPr lang="ko-KR" altLang="en-US" dirty="0"/>
              <a:t> 전화 서비스 없음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784371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9BDE8-9795-1A42-BD8F-EC33AD133A13}"/>
              </a:ext>
            </a:extLst>
          </p:cNvPr>
          <p:cNvSpPr txBox="1"/>
          <p:nvPr/>
        </p:nvSpPr>
        <p:spPr>
          <a:xfrm>
            <a:off x="521041" y="541435"/>
            <a:ext cx="11414762" cy="444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InternetService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>
                <a:latin typeface="+mn-ea"/>
              </a:rPr>
              <a:t>고객의 인터넷 서비스 제공업체 </a:t>
            </a:r>
            <a:r>
              <a:rPr lang="en" altLang="ko-KR" b="0" i="0" dirty="0">
                <a:effectLst/>
                <a:latin typeface="Inter"/>
              </a:rPr>
              <a:t>(DSL, Fiber optic, No)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Inter"/>
              </a:rPr>
              <a:t> </a:t>
            </a:r>
            <a:r>
              <a:rPr lang="en-US" altLang="ko-KR" dirty="0" err="1">
                <a:latin typeface="Inter"/>
              </a:rPr>
              <a:t>OnlineSecurity</a:t>
            </a:r>
            <a:r>
              <a:rPr lang="en-US" altLang="ko-KR" dirty="0">
                <a:latin typeface="Inter"/>
              </a:rPr>
              <a:t> : 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고객이 온라인 보안 서비스를 이용하는지 여부</a:t>
            </a:r>
            <a:r>
              <a:rPr lang="en-US" altLang="ko-KR" dirty="0"/>
              <a:t> </a:t>
            </a:r>
            <a:r>
              <a:rPr lang="en" altLang="ko-KR" b="0" i="0" dirty="0">
                <a:effectLst/>
                <a:latin typeface="Inter"/>
              </a:rPr>
              <a:t>(Yes, No, No internet service)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dirty="0" err="1">
                <a:latin typeface="Inter"/>
              </a:rPr>
              <a:t>OnlineBackup</a:t>
            </a:r>
            <a:r>
              <a:rPr lang="en" altLang="ko-KR" dirty="0">
                <a:latin typeface="Inter"/>
              </a:rPr>
              <a:t> : </a:t>
            </a:r>
            <a:r>
              <a:rPr lang="en-US" altLang="ko-KR" dirty="0"/>
              <a:t> </a:t>
            </a:r>
            <a:r>
              <a:rPr lang="ko-KR" altLang="en-US" dirty="0"/>
              <a:t>고객이 온라인 백업 서비스를 이용하는지 여부</a:t>
            </a:r>
            <a:r>
              <a:rPr lang="en-US" altLang="ko-KR" dirty="0"/>
              <a:t> </a:t>
            </a:r>
            <a:r>
              <a:rPr lang="en" altLang="ko-KR" b="0" i="0" dirty="0">
                <a:effectLst/>
                <a:latin typeface="Inter"/>
              </a:rPr>
              <a:t>(Yes, No, No internet service)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+mn-ea"/>
              </a:rPr>
              <a:t>DeviceProtection</a:t>
            </a:r>
            <a:r>
              <a:rPr lang="en-US" altLang="ko-KR" dirty="0">
                <a:latin typeface="+mn-ea"/>
              </a:rPr>
              <a:t> : </a:t>
            </a:r>
            <a:r>
              <a:rPr lang="ko-KR" altLang="en-US" dirty="0"/>
              <a:t>고객이 장치 보호 서비스를 이용하는지 여부</a:t>
            </a:r>
            <a:r>
              <a:rPr lang="en-US" altLang="ko-KR" dirty="0">
                <a:latin typeface="+mn-ea"/>
              </a:rPr>
              <a:t> </a:t>
            </a:r>
            <a:r>
              <a:rPr lang="en" altLang="ko-KR" b="0" i="0" dirty="0">
                <a:effectLst/>
                <a:latin typeface="Inter"/>
              </a:rPr>
              <a:t> (Yes, No, No internet service)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b="0" i="0" dirty="0" err="1">
                <a:effectLst/>
                <a:latin typeface="Inter"/>
              </a:rPr>
              <a:t>TechSupport</a:t>
            </a:r>
            <a:r>
              <a:rPr lang="en" altLang="ko-KR" b="0" i="0" dirty="0">
                <a:effectLst/>
                <a:latin typeface="Inter"/>
              </a:rPr>
              <a:t> : </a:t>
            </a:r>
            <a:r>
              <a:rPr lang="ko-KR" altLang="en-US" dirty="0"/>
              <a:t>고객이 기술 지원 서비스를 이용하는지 여부</a:t>
            </a:r>
            <a:r>
              <a:rPr lang="en-US" altLang="ko-KR" dirty="0"/>
              <a:t> </a:t>
            </a:r>
            <a:r>
              <a:rPr lang="en" altLang="ko-KR" b="0" i="0" dirty="0">
                <a:effectLst/>
                <a:latin typeface="Inter"/>
              </a:rPr>
              <a:t>(Yes, No, No internet service)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b="0" i="0" dirty="0">
                <a:effectLst/>
                <a:latin typeface="Inter"/>
              </a:rPr>
              <a:t>S</a:t>
            </a:r>
            <a:r>
              <a:rPr lang="en-US" altLang="ko-KR" dirty="0" err="1">
                <a:latin typeface="Inter"/>
              </a:rPr>
              <a:t>treamingTV</a:t>
            </a:r>
            <a:r>
              <a:rPr lang="ko-KR" altLang="en-US" dirty="0">
                <a:latin typeface="Inter"/>
              </a:rPr>
              <a:t> </a:t>
            </a:r>
            <a:r>
              <a:rPr lang="en-US" altLang="ko-KR" dirty="0">
                <a:latin typeface="Inter"/>
              </a:rPr>
              <a:t>:</a:t>
            </a:r>
            <a:r>
              <a:rPr lang="ko-KR" altLang="en-US" dirty="0">
                <a:latin typeface="Inter"/>
              </a:rPr>
              <a:t> </a:t>
            </a:r>
            <a:r>
              <a:rPr lang="ko-KR" altLang="en-US" dirty="0"/>
              <a:t>고객이 스트리밍 </a:t>
            </a:r>
            <a:r>
              <a:rPr lang="en" altLang="ko-KR" dirty="0"/>
              <a:t>TV </a:t>
            </a:r>
            <a:r>
              <a:rPr lang="ko-KR" altLang="en-US" dirty="0"/>
              <a:t>서비스를 이용하는지 여부 </a:t>
            </a:r>
            <a:r>
              <a:rPr lang="en" altLang="ko-KR" b="0" i="0" dirty="0">
                <a:effectLst/>
                <a:latin typeface="Inter"/>
              </a:rPr>
              <a:t>(Yes, No, No internet service)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 err="1">
                <a:latin typeface="Inter"/>
              </a:rPr>
              <a:t>StreamingMovie</a:t>
            </a:r>
            <a:r>
              <a:rPr lang="en-US" altLang="ko-KR" dirty="0">
                <a:latin typeface="Inter"/>
              </a:rPr>
              <a:t> : </a:t>
            </a:r>
            <a:r>
              <a:rPr lang="ko-KR" altLang="en-US" dirty="0"/>
              <a:t>고객이 스트리밍 영화</a:t>
            </a:r>
            <a:r>
              <a:rPr lang="en" altLang="ko-KR" dirty="0"/>
              <a:t> </a:t>
            </a:r>
            <a:r>
              <a:rPr lang="ko-KR" altLang="en-US" dirty="0"/>
              <a:t>서비스를 이용하는지 여부 </a:t>
            </a:r>
            <a:r>
              <a:rPr lang="en" altLang="ko-KR" b="0" i="0" dirty="0">
                <a:effectLst/>
                <a:latin typeface="Inter"/>
              </a:rPr>
              <a:t>(Yes, No, No internet service)</a:t>
            </a:r>
          </a:p>
          <a:p>
            <a:pPr>
              <a:lnSpc>
                <a:spcPct val="200000"/>
              </a:lnSpc>
            </a:pPr>
            <a:endParaRPr lang="en" altLang="ko-KR" b="0" i="0" dirty="0">
              <a:solidFill>
                <a:srgbClr val="5F6368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54899304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9BDE8-9795-1A42-BD8F-EC33AD133A13}"/>
              </a:ext>
            </a:extLst>
          </p:cNvPr>
          <p:cNvSpPr txBox="1"/>
          <p:nvPr/>
        </p:nvSpPr>
        <p:spPr>
          <a:xfrm>
            <a:off x="521041" y="541435"/>
            <a:ext cx="11414762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+mn-ea"/>
              </a:rPr>
              <a:t> Contract : </a:t>
            </a:r>
            <a:r>
              <a:rPr lang="ko-KR" altLang="en-US" dirty="0"/>
              <a:t>고객의 계약 기간</a:t>
            </a:r>
            <a:r>
              <a:rPr lang="en-US" altLang="ko-KR" dirty="0"/>
              <a:t> </a:t>
            </a:r>
            <a:r>
              <a:rPr lang="en" altLang="ko-KR" b="0" i="0" dirty="0">
                <a:effectLst/>
                <a:latin typeface="Inter"/>
              </a:rPr>
              <a:t>(Month-to-month, One year, Two year)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dirty="0">
                <a:latin typeface="Inter"/>
              </a:rPr>
              <a:t> </a:t>
            </a:r>
            <a:r>
              <a:rPr lang="en" altLang="ko-KR" dirty="0" err="1">
                <a:latin typeface="Inter"/>
              </a:rPr>
              <a:t>PaperlessBilling</a:t>
            </a:r>
            <a:r>
              <a:rPr lang="en" altLang="ko-KR" dirty="0">
                <a:latin typeface="Inter"/>
              </a:rPr>
              <a:t> : 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고객이 종이 없는 청구서</a:t>
            </a:r>
            <a:r>
              <a:rPr lang="en-US" altLang="ko-KR" dirty="0"/>
              <a:t>(</a:t>
            </a:r>
            <a:r>
              <a:rPr lang="ko-KR" altLang="en-US" dirty="0"/>
              <a:t>페이퍼리스 </a:t>
            </a:r>
            <a:r>
              <a:rPr lang="ko-KR" altLang="en-US" dirty="0" err="1"/>
              <a:t>빌링</a:t>
            </a:r>
            <a:r>
              <a:rPr lang="en-US" altLang="ko-KR" dirty="0"/>
              <a:t>)</a:t>
            </a:r>
            <a:r>
              <a:rPr lang="ko-KR" altLang="en-US" dirty="0" err="1"/>
              <a:t>를</a:t>
            </a:r>
            <a:r>
              <a:rPr lang="ko-KR" altLang="en-US" dirty="0"/>
              <a:t> 사용하는지 여부</a:t>
            </a:r>
            <a:r>
              <a:rPr lang="en-US" altLang="ko-KR" dirty="0"/>
              <a:t> </a:t>
            </a:r>
            <a:r>
              <a:rPr lang="en" altLang="ko-KR" b="0" i="0" dirty="0">
                <a:effectLst/>
                <a:latin typeface="Inter"/>
              </a:rPr>
              <a:t>(Yes, No)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dirty="0" err="1">
                <a:latin typeface="Inter"/>
              </a:rPr>
              <a:t>PaymentMethod</a:t>
            </a:r>
            <a:r>
              <a:rPr lang="en" altLang="ko-KR" dirty="0">
                <a:latin typeface="Inter"/>
              </a:rPr>
              <a:t> : </a:t>
            </a:r>
            <a:r>
              <a:rPr lang="en-US" altLang="ko-KR" dirty="0"/>
              <a:t> </a:t>
            </a:r>
            <a:r>
              <a:rPr lang="ko-KR" altLang="en-US" dirty="0"/>
              <a:t>고객의 결제 방법</a:t>
            </a:r>
            <a:r>
              <a:rPr lang="en-US" altLang="ko-KR" dirty="0"/>
              <a:t> </a:t>
            </a:r>
            <a:r>
              <a:rPr lang="en" altLang="ko-KR" b="0" i="0" dirty="0">
                <a:effectLst/>
                <a:latin typeface="Inter"/>
              </a:rPr>
              <a:t>(Electronic check, Mailed check, Bank transfer (automatic), Credit card)</a:t>
            </a:r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dirty="0" err="1">
                <a:latin typeface="Inter"/>
              </a:rPr>
              <a:t>MonthlyCharges</a:t>
            </a:r>
            <a:r>
              <a:rPr lang="en" altLang="ko-KR" dirty="0">
                <a:latin typeface="Inter"/>
              </a:rPr>
              <a:t> : </a:t>
            </a:r>
            <a:r>
              <a:rPr lang="ko-KR" altLang="en-US" dirty="0"/>
              <a:t>고객에게 매월 청구되는 금액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b="0" i="0" dirty="0" err="1">
                <a:effectLst/>
                <a:latin typeface="Inter"/>
              </a:rPr>
              <a:t>Total</a:t>
            </a:r>
            <a:r>
              <a:rPr lang="en-US" altLang="ko-KR" dirty="0" err="1">
                <a:latin typeface="Inter"/>
              </a:rPr>
              <a:t>Charges</a:t>
            </a:r>
            <a:r>
              <a:rPr lang="en-US" altLang="ko-KR" dirty="0">
                <a:latin typeface="Inter"/>
              </a:rPr>
              <a:t> : </a:t>
            </a:r>
            <a:r>
              <a:rPr lang="ko-KR" altLang="en-US" dirty="0"/>
              <a:t>고객에게 청구된 총 금액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dirty="0">
                <a:latin typeface="Inter"/>
              </a:rPr>
              <a:t>Churn : </a:t>
            </a:r>
            <a:r>
              <a:rPr lang="ko-KR" altLang="en-US" dirty="0"/>
              <a:t>고객이 이탈했는지 여부</a:t>
            </a:r>
            <a:r>
              <a:rPr lang="en-US" altLang="ko-KR" dirty="0"/>
              <a:t> </a:t>
            </a:r>
            <a:r>
              <a:rPr lang="en" altLang="ko-KR" b="0" i="0" dirty="0">
                <a:effectLst/>
                <a:latin typeface="Inter"/>
              </a:rPr>
              <a:t>(Yes or No)</a:t>
            </a:r>
          </a:p>
        </p:txBody>
      </p:sp>
    </p:spTree>
    <p:extLst>
      <p:ext uri="{BB962C8B-B14F-4D97-AF65-F5344CB8AC3E}">
        <p14:creationId xmlns:p14="http://schemas.microsoft.com/office/powerpoint/2010/main" val="101418770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679A5F-E384-E344-8BAD-0D534D26249D}"/>
              </a:ext>
            </a:extLst>
          </p:cNvPr>
          <p:cNvSpPr/>
          <p:nvPr/>
        </p:nvSpPr>
        <p:spPr>
          <a:xfrm>
            <a:off x="3068594" y="345990"/>
            <a:ext cx="5288692" cy="17423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3600" b="1" dirty="0"/>
              <a:t>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D6B777F-5B4B-094A-BA7F-2121D66BF440}"/>
              </a:ext>
            </a:extLst>
          </p:cNvPr>
          <p:cNvSpPr/>
          <p:nvPr/>
        </p:nvSpPr>
        <p:spPr>
          <a:xfrm>
            <a:off x="3068594" y="2248929"/>
            <a:ext cx="5288692" cy="3966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3600" b="1" dirty="0"/>
              <a:t>결과물</a:t>
            </a:r>
          </a:p>
        </p:txBody>
      </p:sp>
    </p:spTree>
    <p:extLst>
      <p:ext uri="{BB962C8B-B14F-4D97-AF65-F5344CB8AC3E}">
        <p14:creationId xmlns:p14="http://schemas.microsoft.com/office/powerpoint/2010/main" val="311063877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E806E-4509-3843-BCCA-9C9E9CE95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5616" y="-97873"/>
            <a:ext cx="4620768" cy="2387600"/>
          </a:xfrm>
        </p:spPr>
        <p:txBody>
          <a:bodyPr>
            <a:normAutofit/>
          </a:bodyPr>
          <a:lstStyle/>
          <a:p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Chapter</a:t>
            </a:r>
            <a:r>
              <a:rPr kumimoji="1" lang="ko-KR" altLang="en-US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en-US" altLang="ko-KR" sz="4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kumimoji="1" lang="ko-KR" altLang="en-US" sz="4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5EAB3AAD-A6D3-3E4E-9E95-9AC1E3351E89}"/>
              </a:ext>
            </a:extLst>
          </p:cNvPr>
          <p:cNvSpPr txBox="1">
            <a:spLocks/>
          </p:cNvSpPr>
          <p:nvPr/>
        </p:nvSpPr>
        <p:spPr>
          <a:xfrm>
            <a:off x="2993137" y="1770571"/>
            <a:ext cx="6205726" cy="33168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ko-KR" altLang="en-US" sz="48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코커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강의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endParaRPr kumimoji="1" lang="en-US" altLang="ko-KR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여기까지 와줘서 고마워요</a:t>
            </a: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!</a:t>
            </a:r>
          </a:p>
          <a:p>
            <a:pPr>
              <a:lnSpc>
                <a:spcPct val="150000"/>
              </a:lnSpc>
            </a:pPr>
            <a:r>
              <a:rPr kumimoji="1" lang="en-US" altLang="ko-KR" sz="4800" dirty="0">
                <a:latin typeface="NanumGothic" panose="020D0604000000000000" pitchFamily="34" charset="-127"/>
                <a:ea typeface="NanumGothic" panose="020D0604000000000000" pitchFamily="34" charset="-127"/>
              </a:rPr>
              <a:t>(Ending)</a:t>
            </a:r>
            <a:endParaRPr kumimoji="1" lang="ko-KR" altLang="en-US" sz="4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715473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819912" y="1483424"/>
            <a:ext cx="10838688" cy="369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 err="1">
                <a:latin typeface="fkGroteskNeue"/>
              </a:rPr>
              <a:t>Numpy</a:t>
            </a:r>
            <a:r>
              <a:rPr lang="en-US" altLang="ko-KR" sz="2000" dirty="0">
                <a:latin typeface="fkGroteskNeue"/>
              </a:rPr>
              <a:t>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 Pandas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 Matplotlib, Seaborn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 </a:t>
            </a:r>
            <a:r>
              <a:rPr lang="ko-KR" altLang="en-US" sz="2000" dirty="0">
                <a:latin typeface="fkGroteskNeue"/>
              </a:rPr>
              <a:t>데이터 수집 및 생성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  </a:t>
            </a:r>
            <a:r>
              <a:rPr lang="ko-KR" altLang="en-US" sz="2000" dirty="0" err="1">
                <a:latin typeface="fkGroteskNeue"/>
              </a:rPr>
              <a:t>머신러닝</a:t>
            </a:r>
            <a:r>
              <a:rPr lang="ko-KR" altLang="en-US" sz="2000" dirty="0">
                <a:latin typeface="fkGroteskNeue"/>
              </a:rPr>
              <a:t>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  데이터 분석 프로젝트 </a:t>
            </a:r>
            <a:endParaRPr lang="en-US" altLang="ko-KR" sz="2000" dirty="0">
              <a:latin typeface="fkGroteskNeue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복습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DBE79-A13A-A747-8044-370C9BAEAD63}"/>
              </a:ext>
            </a:extLst>
          </p:cNvPr>
          <p:cNvSpPr txBox="1"/>
          <p:nvPr/>
        </p:nvSpPr>
        <p:spPr>
          <a:xfrm>
            <a:off x="4101288" y="4563035"/>
            <a:ext cx="95200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 err="1"/>
              <a:t>Data_analysis</a:t>
            </a:r>
            <a:r>
              <a:rPr lang="en" altLang="ko-KR" sz="1100" dirty="0"/>
              <a:t> </a:t>
            </a:r>
            <a:r>
              <a:rPr lang="ko-KR" altLang="en-US" sz="1100" dirty="0"/>
              <a:t>로고 출처</a:t>
            </a:r>
            <a:r>
              <a:rPr lang="en-US" altLang="ko-KR" sz="1100" dirty="0"/>
              <a:t>: </a:t>
            </a:r>
            <a:r>
              <a:rPr lang="en-US" altLang="ko-KR" sz="1100" dirty="0">
                <a:hlinkClick r:id="rId2"/>
              </a:rPr>
              <a:t>https://www.flaticon.com/free-icons/data-engineer</a:t>
            </a:r>
            <a:endParaRPr lang="en" altLang="ko-KR" sz="1100" dirty="0"/>
          </a:p>
          <a:p>
            <a:pPr algn="ctr"/>
            <a:r>
              <a:rPr lang="en" altLang="ko-KR" sz="1100" dirty="0"/>
              <a:t>(</a:t>
            </a:r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en-US" altLang="ko-KR" sz="1100" dirty="0" err="1"/>
              <a:t>flaticon.com</a:t>
            </a:r>
            <a:r>
              <a:rPr lang="en-US" altLang="ko-KR" sz="1100" dirty="0"/>
              <a:t> </a:t>
            </a:r>
            <a:r>
              <a:rPr lang="en" altLang="ko-KR" sz="1100" dirty="0"/>
              <a:t>)</a:t>
            </a:r>
            <a:endParaRPr lang="ko-KR" altLang="en-US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A85500-A8D6-744E-B672-2DC0D756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785" y="1752677"/>
            <a:ext cx="2541104" cy="254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8299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819912" y="1483424"/>
            <a:ext cx="10838688" cy="369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SQL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  </a:t>
            </a:r>
            <a:r>
              <a:rPr lang="en-US" altLang="ko-KR" sz="2000" dirty="0">
                <a:latin typeface="fkGroteskNeue"/>
              </a:rPr>
              <a:t>Tableau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 </a:t>
            </a:r>
            <a:r>
              <a:rPr lang="ko-KR" altLang="en-US" sz="2000" dirty="0">
                <a:latin typeface="fkGroteskNeue"/>
              </a:rPr>
              <a:t>통계 </a:t>
            </a:r>
            <a:r>
              <a:rPr lang="en-US" altLang="ko-KR" sz="2000" dirty="0">
                <a:latin typeface="fkGroteskNeue"/>
              </a:rPr>
              <a:t>(</a:t>
            </a:r>
            <a:r>
              <a:rPr lang="en-US" altLang="ko-KR" sz="2000" dirty="0" err="1">
                <a:latin typeface="fkGroteskNeue"/>
              </a:rPr>
              <a:t>scipy</a:t>
            </a:r>
            <a:r>
              <a:rPr lang="en-US" altLang="ko-KR" sz="2000" dirty="0">
                <a:latin typeface="fkGroteskNeue"/>
              </a:rPr>
              <a:t>, </a:t>
            </a:r>
            <a:r>
              <a:rPr lang="en-US" altLang="ko-KR" sz="2000" dirty="0" err="1">
                <a:latin typeface="fkGroteskNeue"/>
              </a:rPr>
              <a:t>statsmodel</a:t>
            </a:r>
            <a:r>
              <a:rPr lang="en-US" altLang="ko-KR" sz="2000" dirty="0">
                <a:latin typeface="fkGroteskNeue"/>
              </a:rPr>
              <a:t>)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 </a:t>
            </a:r>
            <a:r>
              <a:rPr lang="ko-KR" altLang="en-US" sz="2000" dirty="0" err="1">
                <a:latin typeface="fkGroteskNeue"/>
              </a:rPr>
              <a:t>딥러닝</a:t>
            </a:r>
            <a:r>
              <a:rPr lang="ko-KR" altLang="en-US" sz="2000" dirty="0">
                <a:latin typeface="fkGroteskNeue"/>
              </a:rPr>
              <a:t> </a:t>
            </a:r>
            <a:endParaRPr lang="en-US" altLang="ko-KR" sz="2000" dirty="0">
              <a:latin typeface="fkGroteskNeue"/>
            </a:endParaRP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  </a:t>
            </a:r>
            <a:r>
              <a:rPr lang="en-US" altLang="ko-KR" sz="2000" dirty="0">
                <a:latin typeface="fkGroteskNeue"/>
              </a:rPr>
              <a:t>LLM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  </a:t>
            </a:r>
            <a:r>
              <a:rPr lang="ko-KR" altLang="en-US" sz="2000" dirty="0" err="1">
                <a:latin typeface="fkGroteskNeue"/>
              </a:rPr>
              <a:t>클라우드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그 외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2DBE79-A13A-A747-8044-370C9BAEAD63}"/>
              </a:ext>
            </a:extLst>
          </p:cNvPr>
          <p:cNvSpPr txBox="1"/>
          <p:nvPr/>
        </p:nvSpPr>
        <p:spPr>
          <a:xfrm>
            <a:off x="4101288" y="4563035"/>
            <a:ext cx="95200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 err="1"/>
              <a:t>Data_analysis</a:t>
            </a:r>
            <a:r>
              <a:rPr lang="en" altLang="ko-KR" sz="1100" dirty="0"/>
              <a:t> </a:t>
            </a:r>
            <a:r>
              <a:rPr lang="ko-KR" altLang="en-US" sz="1100" dirty="0"/>
              <a:t>로고 출처</a:t>
            </a:r>
            <a:r>
              <a:rPr lang="en-US" altLang="ko-KR" sz="1100" dirty="0"/>
              <a:t>: </a:t>
            </a:r>
            <a:r>
              <a:rPr lang="en-US" altLang="ko-KR" sz="1100" dirty="0">
                <a:hlinkClick r:id="rId2"/>
              </a:rPr>
              <a:t>https://www.flaticon.com/free-icons/data-engineer</a:t>
            </a:r>
            <a:endParaRPr lang="en" altLang="ko-KR" sz="1100" dirty="0"/>
          </a:p>
          <a:p>
            <a:pPr algn="ctr"/>
            <a:r>
              <a:rPr lang="en" altLang="ko-KR" sz="1100" dirty="0"/>
              <a:t>(</a:t>
            </a:r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en-US" altLang="ko-KR" sz="1100" dirty="0" err="1"/>
              <a:t>flaticon.com</a:t>
            </a:r>
            <a:r>
              <a:rPr lang="en-US" altLang="ko-KR" sz="1100" dirty="0"/>
              <a:t> </a:t>
            </a:r>
            <a:r>
              <a:rPr lang="en" altLang="ko-KR" sz="1100" dirty="0"/>
              <a:t>)</a:t>
            </a:r>
            <a:endParaRPr lang="ko-KR" altLang="en-US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A85500-A8D6-744E-B672-2DC0D756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785" y="1752677"/>
            <a:ext cx="2541104" cy="254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7886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912915"/>
            <a:ext cx="10838688" cy="246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ko-KR" altLang="en-US" sz="2000" dirty="0" err="1">
                <a:latin typeface="fkGroteskNeue"/>
              </a:rPr>
              <a:t>위키독스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(</a:t>
            </a:r>
            <a:r>
              <a:rPr lang="ko-KR" altLang="en-US" sz="2000" dirty="0">
                <a:latin typeface="fkGroteskNeue"/>
              </a:rPr>
              <a:t> 초보자를 위한 </a:t>
            </a:r>
            <a:r>
              <a:rPr lang="ko-KR" altLang="en-US" sz="2000" dirty="0" err="1">
                <a:latin typeface="fkGroteskNeue"/>
              </a:rPr>
              <a:t>파이썬</a:t>
            </a: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300</a:t>
            </a:r>
            <a:r>
              <a:rPr lang="ko-KR" altLang="en-US" sz="2000" dirty="0">
                <a:latin typeface="fkGroteskNeue"/>
              </a:rPr>
              <a:t>제 </a:t>
            </a:r>
            <a:r>
              <a:rPr lang="en-US" altLang="ko-KR" sz="2000" dirty="0">
                <a:latin typeface="fkGroteskNeue"/>
              </a:rPr>
              <a:t>)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>
                <a:latin typeface="fkGroteskNeue"/>
              </a:rPr>
              <a:t> </a:t>
            </a:r>
            <a:r>
              <a:rPr lang="en-US" altLang="ko-KR" sz="2000" dirty="0">
                <a:latin typeface="fkGroteskNeue"/>
              </a:rPr>
              <a:t> W3 Schools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</a:t>
            </a:r>
            <a:r>
              <a:rPr lang="en-US" altLang="ko-KR" sz="2000" dirty="0" err="1">
                <a:latin typeface="fkGroteskNeue"/>
              </a:rPr>
              <a:t>DataCamp</a:t>
            </a:r>
            <a:r>
              <a:rPr lang="en-US" altLang="ko-KR" sz="2000" dirty="0">
                <a:latin typeface="fkGroteskNeue"/>
              </a:rPr>
              <a:t> 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r>
              <a:rPr lang="en-US" altLang="ko-KR" sz="2000" dirty="0">
                <a:latin typeface="fkGroteskNeue"/>
              </a:rPr>
              <a:t> </a:t>
            </a:r>
            <a:r>
              <a:rPr lang="ko-KR" altLang="en-US" sz="2000" dirty="0" err="1">
                <a:latin typeface="fkGroteskNeue"/>
              </a:rPr>
              <a:t>프로그래머스</a:t>
            </a:r>
            <a:r>
              <a:rPr lang="ko-KR" altLang="en-US" sz="2000" dirty="0">
                <a:latin typeface="fkGroteskNeue"/>
              </a:rPr>
              <a:t>  </a:t>
            </a:r>
            <a:endParaRPr lang="en-US" altLang="ko-KR" sz="2000" dirty="0">
              <a:latin typeface="fkGroteskNeue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 err="1">
                <a:latin typeface="+mj-ea"/>
              </a:rPr>
              <a:t>파이썬</a:t>
            </a:r>
            <a:r>
              <a:rPr kumimoji="1" lang="ko-KR" altLang="en-US" sz="5400" b="1" dirty="0">
                <a:latin typeface="+mj-ea"/>
              </a:rPr>
              <a:t> 연습 사이트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B4220C-E107-EB4E-AC96-63825F65E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959" y="1669255"/>
            <a:ext cx="2977343" cy="29773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EF2B23-7DA0-BF46-85E0-7C2A8BCFC5E3}"/>
              </a:ext>
            </a:extLst>
          </p:cNvPr>
          <p:cNvSpPr txBox="1"/>
          <p:nvPr/>
        </p:nvSpPr>
        <p:spPr>
          <a:xfrm>
            <a:off x="4476565" y="4943688"/>
            <a:ext cx="95200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100" dirty="0"/>
              <a:t>Icon by </a:t>
            </a:r>
            <a:r>
              <a:rPr lang="en" altLang="ko-KR" sz="1100" dirty="0" err="1"/>
              <a:t>Freepik</a:t>
            </a:r>
            <a:r>
              <a:rPr lang="en" altLang="ko-KR" sz="1100" dirty="0"/>
              <a:t> - </a:t>
            </a:r>
            <a:r>
              <a:rPr lang="en" altLang="ko-KR" sz="1100" dirty="0" err="1"/>
              <a:t>Flaticon</a:t>
            </a:r>
            <a:endParaRPr lang="en" altLang="ko-KR" sz="1100" dirty="0"/>
          </a:p>
          <a:p>
            <a:pPr algn="ctr"/>
            <a:r>
              <a:rPr lang="en" altLang="ko-KR" sz="1100" dirty="0">
                <a:hlinkClick r:id="rId3"/>
              </a:rPr>
              <a:t>https://www.flaticon.com/free-icon/data-scientist_3749629</a:t>
            </a:r>
            <a:endParaRPr lang="en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96450756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5F65B0-8A2B-9C43-8EC3-1936D3C02E7F}"/>
              </a:ext>
            </a:extLst>
          </p:cNvPr>
          <p:cNvSpPr txBox="1"/>
          <p:nvPr/>
        </p:nvSpPr>
        <p:spPr>
          <a:xfrm>
            <a:off x="676656" y="1912915"/>
            <a:ext cx="10838688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가상 데이터를 만들어 직접 분석해 보기</a:t>
            </a: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en" altLang="ko-KR" sz="2000" dirty="0" err="1"/>
              <a:t>DataCamp</a:t>
            </a:r>
            <a:r>
              <a:rPr lang="ko-KR" altLang="en-US" sz="2000" dirty="0"/>
              <a:t>에서 퀴즈나 프로젝트를 통해 실습하기</a:t>
            </a: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실무에 계신 분들과 </a:t>
            </a:r>
            <a:r>
              <a:rPr lang="ko-KR" altLang="en-US" sz="2000" dirty="0" err="1"/>
              <a:t>커피챗하며</a:t>
            </a:r>
            <a:r>
              <a:rPr lang="ko-KR" altLang="en-US" sz="2000" dirty="0"/>
              <a:t> 현업 이야기 듣고 조언 얻기</a:t>
            </a:r>
          </a:p>
          <a:p>
            <a:pPr marL="342900" indent="-342900">
              <a:lnSpc>
                <a:spcPct val="200000"/>
              </a:lnSpc>
              <a:buFont typeface="시스템 서체 일반체"/>
              <a:buChar char="👉"/>
            </a:pPr>
            <a:r>
              <a:rPr lang="ko-KR" altLang="en-US" sz="2000" dirty="0"/>
              <a:t>데이터 관련 동아리를 만들어 콘텐츠에 참여하고 실제 프로젝트 진행하기</a:t>
            </a:r>
          </a:p>
          <a:p>
            <a:pPr marL="285750" indent="-285750" algn="l">
              <a:lnSpc>
                <a:spcPct val="200000"/>
              </a:lnSpc>
              <a:buFont typeface="시스템 서체 일반체"/>
              <a:buChar char="👉"/>
            </a:pPr>
            <a:endParaRPr lang="en-US" altLang="ko-KR" sz="2000" dirty="0">
              <a:latin typeface="fkGroteskNeue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D2A9714-39A5-1046-9FE7-224872FF290C}"/>
              </a:ext>
            </a:extLst>
          </p:cNvPr>
          <p:cNvSpPr txBox="1">
            <a:spLocks/>
          </p:cNvSpPr>
          <p:nvPr/>
        </p:nvSpPr>
        <p:spPr>
          <a:xfrm>
            <a:off x="533400" y="157861"/>
            <a:ext cx="99517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ko-KR" altLang="en-US" sz="5400" b="1" dirty="0">
                <a:latin typeface="+mj-ea"/>
              </a:rPr>
              <a:t>데이터 분석 실력을 키우는 방법 </a:t>
            </a:r>
          </a:p>
        </p:txBody>
      </p:sp>
    </p:spTree>
    <p:extLst>
      <p:ext uri="{BB962C8B-B14F-4D97-AF65-F5344CB8AC3E}">
        <p14:creationId xmlns:p14="http://schemas.microsoft.com/office/powerpoint/2010/main" val="200947704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6FF8B7-8A11-BD40-B200-3725610AE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05" y="225287"/>
            <a:ext cx="10833833" cy="66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1253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2AA4B-38C0-AF47-8B52-A396F68B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446502"/>
            <a:ext cx="11430000" cy="2852737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4800" dirty="0"/>
              <a:t>지금까지 수업을 들어주셔서 감사합니다</a:t>
            </a:r>
            <a:br>
              <a:rPr kumimoji="1" lang="en-US" altLang="ko-KR" sz="4800" dirty="0"/>
            </a:br>
            <a:r>
              <a:rPr kumimoji="1" lang="en-US" altLang="ko-KR" sz="4800" dirty="0"/>
              <a:t>Thank you for</a:t>
            </a:r>
            <a:r>
              <a:rPr kumimoji="1" lang="ko-KR" altLang="en-US" sz="4800" dirty="0"/>
              <a:t> </a:t>
            </a:r>
            <a:r>
              <a:rPr kumimoji="1" lang="en-US" altLang="ko-KR" sz="4800" dirty="0"/>
              <a:t>taking the class  </a:t>
            </a:r>
            <a:endParaRPr kumimoji="1"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00862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6500</Words>
  <Application>Microsoft Macintosh PowerPoint</Application>
  <PresentationFormat>와이드스크린</PresentationFormat>
  <Paragraphs>783</Paragraphs>
  <Slides>175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175</vt:i4>
      </vt:variant>
    </vt:vector>
  </HeadingPairs>
  <TitlesOfParts>
    <vt:vector size="183" baseType="lpstr">
      <vt:lpstr>NanumGothic</vt:lpstr>
      <vt:lpstr>맑은 고딕</vt:lpstr>
      <vt:lpstr>시스템 서체 일반체</vt:lpstr>
      <vt:lpstr>fkGroteskNeue</vt:lpstr>
      <vt:lpstr>Inter</vt:lpstr>
      <vt:lpstr>Arial</vt:lpstr>
      <vt:lpstr>Helvetica Neue</vt:lpstr>
      <vt:lpstr>Office 테마</vt:lpstr>
      <vt:lpstr>PowerPoint 프레젠테이션</vt:lpstr>
      <vt:lpstr>Chapter 0</vt:lpstr>
      <vt:lpstr>서영진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Pandas도 데이터 시각화 가능한가요?</vt:lpstr>
      <vt:lpstr>네 가능합니다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4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5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6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7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8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지금까지 수업을 들어주셔서 감사합니다 Thank you for taking the class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skyeseo94@gmail.com</dc:creator>
  <cp:lastModifiedBy>skyeseo94@gmail.com</cp:lastModifiedBy>
  <cp:revision>72</cp:revision>
  <dcterms:created xsi:type="dcterms:W3CDTF">2025-05-24T03:29:11Z</dcterms:created>
  <dcterms:modified xsi:type="dcterms:W3CDTF">2025-07-07T09:50:30Z</dcterms:modified>
</cp:coreProperties>
</file>